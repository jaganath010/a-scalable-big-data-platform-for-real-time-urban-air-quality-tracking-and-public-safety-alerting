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5"/>
    <p:sldId id="271"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spPr>
            <a:solidFill>
              <a:srgbClr val="0B5F8A"/>
            </a:solidFill>
          </c:spPr>
          <c:dPt>
            <c:idx val="0"/>
            <c:spPr>
              <a:solidFill>
                <a:srgbClr val="6B7785"/>
              </a:solidFill>
            </c:spPr>
          </c:dPt>
          <c:dPt>
            <c:idx val="1"/>
            <c:spPr>
              <a:solidFill>
                <a:srgbClr val="0B5F8A"/>
              </a:solidFill>
            </c:spPr>
          </c:dPt>
          <c:cat>
            <c:strRef>
              <c:f>Sheet1!$A$2:$A$3</c:f>
              <c:strCache>
                <c:ptCount val="2"/>
                <c:pt idx="0">
                  <c:v>Persistence
baseline</c:v>
                </c:pt>
                <c:pt idx="1">
                  <c:v>GBT
forecaster</c:v>
                </c:pt>
              </c:strCache>
            </c:strRef>
          </c:cat>
          <c:val>
            <c:numRef>
              <c:f>Sheet1!$B$2:$B$3</c:f>
              <c:numCache>
                <c:formatCode>General</c:formatCode>
                <c:ptCount val="2"/>
                <c:pt idx="0">
                  <c:v>24.831</c:v>
                </c:pt>
                <c:pt idx="1">
                  <c:v>21.806</c:v>
                </c:pt>
              </c:numCache>
            </c:numRef>
          </c:val>
        </c:ser>
        <c:dLbls>
          <c:numFmt formatCode="0.00" sourceLinked="0"/>
          <c:txPr>
            <a:bodyPr/>
            <a:lstStyle/>
            <a:p>
              <a:pPr>
                <a:defRPr sz="1100">
                  <a:solidFill>
                    <a:srgbClr val="1A1A1A"/>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8CFD8"/>
            </a:solidFill>
          </a:ln>
        </c:spPr>
        <c:crossAx val="-2113994440"/>
        <c:crosses val="autoZero"/>
        <c:auto val="1"/>
        <c:lblAlgn val="ctr"/>
        <c:lblOffset val="100"/>
        <c:noMultiLvlLbl val="0"/>
      </c:catAx>
      <c:valAx>
        <c:axId val="-2113994440"/>
        <c:scaling>
          <c:max val="30.0"/>
          <c:min val="0.0"/>
        </c:scaling>
        <c:delete val="0"/>
        <c:axPos val="l"/>
        <c:majorGridlines>
          <c:spPr>
            <a:ln>
              <a:solidFill>
                <a:srgbClr val="E6EAF0"/>
              </a:solidFill>
            </a:ln>
          </c:spPr>
        </c:majorGridlines>
        <c:majorTickMark val="out"/>
        <c:minorTickMark val="none"/>
        <c:tickLblPos val="nextTo"/>
        <c:spPr>
          <a:ln>
            <a:noFill/>
          </a:ln>
        </c:spPr>
        <c:crossAx val="-2068027336"/>
        <c:crosses val="autoZero"/>
      </c:valAx>
    </c:plotArea>
    <c:dispBlanksAs val="gap"/>
  </c:chart>
  <c:txPr>
    <a:bodyPr/>
    <a:lstStyle/>
    <a:p>
      <a:pPr>
        <a:defRPr sz="1100">
          <a:solidFill>
            <a:srgbClr val="5A6673"/>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spPr>
            <a:solidFill>
              <a:srgbClr val="0B5F8A"/>
            </a:solidFill>
          </c:spPr>
          <c:dPt>
            <c:idx val="0"/>
            <c:spPr>
              <a:solidFill>
                <a:srgbClr val="0B5F8A"/>
              </a:solidFill>
            </c:spPr>
          </c:dPt>
          <c:dPt>
            <c:idx val="1"/>
            <c:spPr>
              <a:solidFill>
                <a:srgbClr val="0B5F8A"/>
              </a:solidFill>
            </c:spPr>
          </c:dPt>
          <c:dPt>
            <c:idx val="2"/>
            <c:spPr>
              <a:solidFill>
                <a:srgbClr val="D9A400"/>
              </a:solidFill>
            </c:spPr>
          </c:dPt>
          <c:dPt>
            <c:idx val="3"/>
            <c:spPr>
              <a:solidFill>
                <a:srgbClr val="D9A400"/>
              </a:solidFill>
            </c:spPr>
          </c:dPt>
          <c:dPt>
            <c:idx val="4"/>
            <c:spPr>
              <a:solidFill>
                <a:srgbClr val="C9342B"/>
              </a:solidFill>
            </c:spPr>
          </c:dPt>
          <c:cat>
            <c:strRef>
              <c:f>Sheet1!$A$2:$A$6</c:f>
              <c:strCache>
                <c:ptCount val="5"/>
                <c:pt idx="0">
                  <c:v>PM₂.₅</c:v>
                </c:pt>
                <c:pt idx="1">
                  <c:v>PM₁₀</c:v>
                </c:pt>
                <c:pt idx="2">
                  <c:v>O₃</c:v>
                </c:pt>
                <c:pt idx="3">
                  <c:v>NO₂</c:v>
                </c:pt>
                <c:pt idx="4">
                  <c:v>SO₂</c:v>
                </c:pt>
              </c:strCache>
            </c:strRef>
          </c:cat>
          <c:val>
            <c:numRef>
              <c:f>Sheet1!$B$2:$B$6</c:f>
              <c:numCache>
                <c:formatCode>General</c:formatCode>
                <c:ptCount val="5"/>
                <c:pt idx="0">
                  <c:v>0.565</c:v>
                </c:pt>
                <c:pt idx="1">
                  <c:v>0.558</c:v>
                </c:pt>
                <c:pt idx="2">
                  <c:v>0.361</c:v>
                </c:pt>
                <c:pt idx="3">
                  <c:v>0.219</c:v>
                </c:pt>
                <c:pt idx="4">
                  <c:v>0.083</c:v>
                </c:pt>
              </c:numCache>
            </c:numRef>
          </c:val>
        </c:ser>
        <c:dLbls>
          <c:numFmt formatCode="0.000" sourceLinked="0"/>
          <c:txPr>
            <a:bodyPr/>
            <a:lstStyle/>
            <a:p>
              <a:pPr>
                <a:defRPr sz="1100">
                  <a:solidFill>
                    <a:srgbClr val="1A1A1A"/>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8CFD8"/>
            </a:solidFill>
          </a:ln>
        </c:spPr>
        <c:crossAx val="-2113994440"/>
        <c:crosses val="autoZero"/>
        <c:auto val="1"/>
        <c:lblAlgn val="ctr"/>
        <c:lblOffset val="100"/>
        <c:noMultiLvlLbl val="0"/>
      </c:catAx>
      <c:valAx>
        <c:axId val="-2113994440"/>
        <c:scaling>
          <c:max val="1.0"/>
          <c:min val="0.0"/>
        </c:scaling>
        <c:delete val="0"/>
        <c:axPos val="l"/>
        <c:majorGridlines>
          <c:spPr>
            <a:ln>
              <a:solidFill>
                <a:srgbClr val="E6EAF0"/>
              </a:solidFill>
            </a:ln>
          </c:spPr>
        </c:majorGridlines>
        <c:majorTickMark val="out"/>
        <c:minorTickMark val="none"/>
        <c:tickLblPos val="nextTo"/>
        <c:spPr>
          <a:ln>
            <a:noFill/>
          </a:ln>
        </c:spPr>
        <c:crossAx val="-2068027336"/>
        <c:crosses val="autoZero"/>
      </c:valAx>
    </c:plotArea>
    <c:dispBlanksAs val="gap"/>
  </c:chart>
  <c:txPr>
    <a:bodyPr/>
    <a:lstStyle/>
    <a:p>
      <a:pPr>
        <a:defRPr sz="1100">
          <a:solidFill>
            <a:srgbClr val="5A6673"/>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Introduce the team and the one-line goal: forecast each city's PM2.5 one hour ahead on a distributed platform and warn people before it arrives. Fill in the faculty name on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Three gaps: scale, latency, automation. Then the objectives and the numbers that make this a big-data problem: 154.6 M rows and 33 GB on a host with 15.7 GB RAM; a 10-second streaming requirement; two data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Three layers with three jobs: structured CPCB trains, semi-structured CAMS history validates, live data alerts. Be upfront that 88.9 percent of structured rows are synthetic and that every accuracy figure is quoted on real rows.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Walk left to right: sources land in HDFS; the Spark-on-YARN cluster runs Scala jobs for cleaning, features, enrichment and streaming, and PySpark for ML; the model is written to HDFS and loaded by the stream; outputs are Hive, the website and alert messages.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We work at the DataFrame level; Catalyst compiles it to RDD stages. The DAG for the feature job has three shuffles. Partitioning: 128 MB HDFS blocks give 232 input tasks, disk partitioning by city gives 241 directories, and shuffle partitions are tuned per job. Caching is used only where a DataFrame is reused.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1,536 lines of Scala across four jobs. Scala 2.12.18 is pinned because Spark 3.5.6 is built against it. Show the three snippets: the gap-safe rolling window, the broadcast imputation join, and the streaming skeleton with foreachBatch.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Pipeline from indexers to the GBT. We tuned by controlled experiments: tree count 20 to 120 to 300, and level target versus delta target, plus a chronological split. Persistence is the baseline and a built-in gate fails the run if the model does not beat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Real-rows figure first: R-squared 0.8910 vs 0.8587, RMSE down 12.18 percent. Then the business result from the October live run: 27,543 warnings, 221 of 230 cities, a dust belt in Haryana and Punjab. Switch to the website demo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Name two real challenges and how they were solved, state the limitations before being asked, then conclude and point to the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References, then the repository link. Upload the PPT and the report to the repository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from the running cluster. dfsadmin shows 4 live DataNodes; fsck reports HEALTHY with 232 blocks at replication 3.0 and no missing or corrupt blocks; the NameNode UI and du show the data layers.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YARN lists four NodeManagers; the applications list shows the Spark job we submitted; the terminal shows master yarn and the reconciled total of 154,583,979 rows.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Scala source in the editor. Middle: the CleanSelect run at full scale. Right: the processed layer in HDFS partitioned by city (241 directories). Bottom: the Phase 4 feature job summary.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verbatim evaluation block of the 300-tree training log; the script's own gate printed PASS. Right: the independent CPCB-versus-CAMS cross-validation on 1.15 M matched city-hours, reported as mixed.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1–15: 82,800 live rows enriched on YARN with no nulls on key columns, scored in the stream (27,543 alerts, 221 cities), served in Hive, shown on the board, and dispatched with de-duplication on a replay of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we know a number, open the named file. All logs are preserved in docs/run_logs; screenshots are in this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05840"/>
            <a:ext cx="10515600" cy="1737360"/>
          </a:xfrm>
          <a:prstGeom prst="rect">
            <a:avLst/>
          </a:prstGeom>
          <a:noFill/>
        </p:spPr>
        <p:txBody>
          <a:bodyPr wrap="square" anchor="t" lIns="0" rIns="0" tIns="0" bIns="0">
            <a:spAutoFit/>
          </a:bodyPr>
          <a:lstStyle/>
          <a:p>
            <a:r>
              <a:rPr sz="3400" b="1" i="0">
                <a:solidFill>
                  <a:srgbClr val="1A1A1A"/>
                </a:solidFill>
              </a:rPr>
              <a:t>A Scalable Big Data Platform for Real-Time Urban Air Quality Tracking and Public Safety Alerting</a:t>
            </a:r>
          </a:p>
        </p:txBody>
      </p:sp>
      <p:sp>
        <p:nvSpPr>
          <p:cNvPr id="5" name="TextBox 4"/>
          <p:cNvSpPr txBox="1"/>
          <p:nvPr/>
        </p:nvSpPr>
        <p:spPr>
          <a:xfrm>
            <a:off x="822960" y="2880360"/>
            <a:ext cx="10515600" cy="365760"/>
          </a:xfrm>
          <a:prstGeom prst="rect">
            <a:avLst/>
          </a:prstGeom>
          <a:noFill/>
        </p:spPr>
        <p:txBody>
          <a:bodyPr wrap="square" anchor="t" lIns="0" rIns="0" tIns="0" bIns="0">
            <a:spAutoFit/>
          </a:bodyPr>
          <a:lstStyle/>
          <a:p>
            <a:r>
              <a:rPr sz="1600" b="1" i="0">
                <a:solidFill>
                  <a:srgbClr val="0B5F8A"/>
                </a:solidFill>
              </a:rPr>
              <a:t>Final Project Review  |  23AID302 — Big Data Analytics  |  Group A14</a:t>
            </a:r>
          </a:p>
        </p:txBody>
      </p:sp>
      <p:graphicFrame>
        <p:nvGraphicFramePr>
          <p:cNvPr id="6" name="Table 5"/>
          <p:cNvGraphicFramePr>
            <a:graphicFrameLocks noGrp="1"/>
          </p:cNvGraphicFramePr>
          <p:nvPr/>
        </p:nvGraphicFramePr>
        <p:xfrm>
          <a:off x="822960" y="3520440"/>
          <a:ext cx="5669280" cy="1920240"/>
        </p:xfrm>
        <a:graphic>
          <a:graphicData uri="http://schemas.openxmlformats.org/drawingml/2006/table">
            <a:tbl>
              <a:tblPr firstRow="0" bandRow="0">
                <a:tableStyleId>{5C22544A-7EE6-4342-B048-85BDC9FD1C3A}</a:tableStyleId>
              </a:tblPr>
              <a:tblGrid>
                <a:gridCol w="2926080"/>
                <a:gridCol w="2743200"/>
              </a:tblGrid>
              <a:tr h="384048">
                <a:tc>
                  <a:txBody>
                    <a:bodyPr/>
                    <a:lstStyle/>
                    <a:p>
                      <a:r>
                        <a:rPr sz="1300" b="1">
                          <a:solidFill>
                            <a:srgbClr val="FFFFFF"/>
                          </a:solidFill>
                        </a:rPr>
                        <a:t>Team member</a:t>
                      </a:r>
                    </a:p>
                  </a:txBody>
                  <a:tcPr anchor="ctr">
                    <a:solidFill>
                      <a:srgbClr val="0B5F8A"/>
                    </a:solidFill>
                  </a:tcPr>
                </a:tc>
                <a:tc>
                  <a:txBody>
                    <a:bodyPr/>
                    <a:lstStyle/>
                    <a:p>
                      <a:r>
                        <a:rPr sz="1300" b="1">
                          <a:solidFill>
                            <a:srgbClr val="FFFFFF"/>
                          </a:solidFill>
                        </a:rPr>
                        <a:t>Register number</a:t>
                      </a:r>
                    </a:p>
                  </a:txBody>
                  <a:tcPr anchor="ctr">
                    <a:solidFill>
                      <a:srgbClr val="0B5F8A"/>
                    </a:solidFill>
                  </a:tcPr>
                </a:tc>
              </a:tr>
              <a:tr h="384048">
                <a:tc>
                  <a:txBody>
                    <a:bodyPr/>
                    <a:lstStyle/>
                    <a:p>
                      <a:r>
                        <a:rPr sz="1300" b="0">
                          <a:solidFill>
                            <a:srgbClr val="1A1A1A"/>
                          </a:solidFill>
                        </a:rPr>
                        <a:t>Sangeeth S</a:t>
                      </a:r>
                    </a:p>
                  </a:txBody>
                  <a:tcPr anchor="ctr">
                    <a:solidFill>
                      <a:srgbClr val="FFFFFF"/>
                    </a:solidFill>
                  </a:tcPr>
                </a:tc>
                <a:tc>
                  <a:txBody>
                    <a:bodyPr/>
                    <a:lstStyle/>
                    <a:p>
                      <a:r>
                        <a:rPr sz="1300" b="0">
                          <a:solidFill>
                            <a:srgbClr val="1A1A1A"/>
                          </a:solidFill>
                        </a:rPr>
                        <a:t>CB.AI.U4AID24050</a:t>
                      </a:r>
                    </a:p>
                  </a:txBody>
                  <a:tcPr anchor="ctr">
                    <a:solidFill>
                      <a:srgbClr val="FFFFFF"/>
                    </a:solidFill>
                  </a:tcPr>
                </a:tc>
              </a:tr>
              <a:tr h="384048">
                <a:tc>
                  <a:txBody>
                    <a:bodyPr/>
                    <a:lstStyle/>
                    <a:p>
                      <a:r>
                        <a:rPr sz="1300" b="0">
                          <a:solidFill>
                            <a:srgbClr val="1A1A1A"/>
                          </a:solidFill>
                        </a:rPr>
                        <a:t>Jaganath R</a:t>
                      </a:r>
                    </a:p>
                  </a:txBody>
                  <a:tcPr anchor="ctr">
                    <a:solidFill>
                      <a:srgbClr val="F7F9FB"/>
                    </a:solidFill>
                  </a:tcPr>
                </a:tc>
                <a:tc>
                  <a:txBody>
                    <a:bodyPr/>
                    <a:lstStyle/>
                    <a:p>
                      <a:r>
                        <a:rPr sz="1300" b="0">
                          <a:solidFill>
                            <a:srgbClr val="1A1A1A"/>
                          </a:solidFill>
                        </a:rPr>
                        <a:t>CB.AI.U4AID24021</a:t>
                      </a:r>
                    </a:p>
                  </a:txBody>
                  <a:tcPr anchor="ctr">
                    <a:solidFill>
                      <a:srgbClr val="F7F9FB"/>
                    </a:solidFill>
                  </a:tcPr>
                </a:tc>
              </a:tr>
              <a:tr h="384048">
                <a:tc>
                  <a:txBody>
                    <a:bodyPr/>
                    <a:lstStyle/>
                    <a:p>
                      <a:r>
                        <a:rPr sz="1300" b="0">
                          <a:solidFill>
                            <a:srgbClr val="1A1A1A"/>
                          </a:solidFill>
                        </a:rPr>
                        <a:t>Niranjan S</a:t>
                      </a:r>
                    </a:p>
                  </a:txBody>
                  <a:tcPr anchor="ctr">
                    <a:solidFill>
                      <a:srgbClr val="FFFFFF"/>
                    </a:solidFill>
                  </a:tcPr>
                </a:tc>
                <a:tc>
                  <a:txBody>
                    <a:bodyPr/>
                    <a:lstStyle/>
                    <a:p>
                      <a:r>
                        <a:rPr sz="1300" b="0">
                          <a:solidFill>
                            <a:srgbClr val="1A1A1A"/>
                          </a:solidFill>
                        </a:rPr>
                        <a:t>CB.AI.U4AID24035</a:t>
                      </a:r>
                    </a:p>
                  </a:txBody>
                  <a:tcPr anchor="ctr">
                    <a:solidFill>
                      <a:srgbClr val="FFFFFF"/>
                    </a:solidFill>
                  </a:tcPr>
                </a:tc>
              </a:tr>
              <a:tr h="384048">
                <a:tc>
                  <a:txBody>
                    <a:bodyPr/>
                    <a:lstStyle/>
                    <a:p>
                      <a:r>
                        <a:rPr sz="1300" b="0">
                          <a:solidFill>
                            <a:srgbClr val="1A1A1A"/>
                          </a:solidFill>
                        </a:rPr>
                        <a:t>PL Kowshik</a:t>
                      </a:r>
                    </a:p>
                  </a:txBody>
                  <a:tcPr anchor="ctr">
                    <a:solidFill>
                      <a:srgbClr val="F7F9FB"/>
                    </a:solidFill>
                  </a:tcPr>
                </a:tc>
                <a:tc>
                  <a:txBody>
                    <a:bodyPr/>
                    <a:lstStyle/>
                    <a:p>
                      <a:r>
                        <a:rPr sz="1300" b="0">
                          <a:solidFill>
                            <a:srgbClr val="1A1A1A"/>
                          </a:solidFill>
                        </a:rPr>
                        <a:t>CB.AI.U4AID24036</a:t>
                      </a:r>
                    </a:p>
                  </a:txBody>
                  <a:tcPr anchor="ctr">
                    <a:solidFill>
                      <a:srgbClr val="F7F9FB"/>
                    </a:solidFill>
                  </a:tcPr>
                </a:tc>
              </a:tr>
            </a:tbl>
          </a:graphicData>
        </a:graphic>
      </p:graphicFrame>
      <p:sp>
        <p:nvSpPr>
          <p:cNvPr id="7" name="TextBox 6"/>
          <p:cNvSpPr txBox="1"/>
          <p:nvPr/>
        </p:nvSpPr>
        <p:spPr>
          <a:xfrm>
            <a:off x="6949440" y="3566160"/>
            <a:ext cx="1188720" cy="365760"/>
          </a:xfrm>
          <a:prstGeom prst="rect">
            <a:avLst/>
          </a:prstGeom>
          <a:noFill/>
        </p:spPr>
        <p:txBody>
          <a:bodyPr wrap="square" anchor="t" lIns="0" rIns="0" tIns="0" bIns="0">
            <a:spAutoFit/>
          </a:bodyPr>
          <a:lstStyle/>
          <a:p>
            <a:r>
              <a:rPr sz="1400" b="1" i="0">
                <a:solidFill>
                  <a:srgbClr val="1A1A1A"/>
                </a:solidFill>
              </a:rPr>
              <a:t>Faculty:</a:t>
            </a:r>
          </a:p>
        </p:txBody>
      </p:sp>
      <p:sp>
        <p:nvSpPr>
          <p:cNvPr id="8" name="TextBox 7"/>
          <p:cNvSpPr txBox="1"/>
          <p:nvPr/>
        </p:nvSpPr>
        <p:spPr>
          <a:xfrm>
            <a:off x="7955279" y="3566160"/>
            <a:ext cx="3840480" cy="365760"/>
          </a:xfrm>
          <a:prstGeom prst="rect">
            <a:avLst/>
          </a:prstGeom>
          <a:noFill/>
        </p:spPr>
        <p:txBody>
          <a:bodyPr wrap="square" anchor="t" lIns="0" rIns="0" tIns="0" bIns="0">
            <a:spAutoFit/>
          </a:bodyPr>
          <a:lstStyle/>
          <a:p>
            <a:r>
              <a:rPr sz="1400" b="0" i="0">
                <a:solidFill>
                  <a:srgbClr val="C9342B"/>
                </a:solidFill>
              </a:rPr>
              <a:t>[ enter faculty name ]</a:t>
            </a:r>
          </a:p>
        </p:txBody>
      </p:sp>
      <p:sp>
        <p:nvSpPr>
          <p:cNvPr id="9" name="TextBox 8"/>
          <p:cNvSpPr txBox="1"/>
          <p:nvPr/>
        </p:nvSpPr>
        <p:spPr>
          <a:xfrm>
            <a:off x="6949440" y="4114800"/>
            <a:ext cx="4754880" cy="914400"/>
          </a:xfrm>
          <a:prstGeom prst="rect">
            <a:avLst/>
          </a:prstGeom>
          <a:noFill/>
        </p:spPr>
        <p:txBody>
          <a:bodyPr wrap="square" anchor="t" lIns="0" rIns="0" tIns="0" bIns="0">
            <a:spAutoFit/>
          </a:bodyPr>
          <a:lstStyle/>
          <a:p>
            <a:r>
              <a:rPr sz="1300" b="0" i="0">
                <a:solidFill>
                  <a:srgbClr val="5A6673"/>
                </a:solidFill>
              </a:rPr>
              <a:t>Stack:  Hadoop HDFS · YARN · Spark 3.5 · Scala 2.12 · PySpark MLlib · Structured Streaming · Hive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Problem Statement, Objectives and Why Big Data</a:t>
            </a:r>
          </a:p>
        </p:txBody>
      </p:sp>
      <p:sp>
        <p:nvSpPr>
          <p:cNvPr id="4" name="Rectangle 3"/>
          <p:cNvSpPr/>
          <p:nvPr/>
        </p:nvSpPr>
        <p:spPr>
          <a:xfrm>
            <a:off x="548640" y="1143000"/>
            <a:ext cx="365760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4300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43000"/>
            <a:ext cx="3383280" cy="384048"/>
          </a:xfrm>
          <a:prstGeom prst="rect">
            <a:avLst/>
          </a:prstGeom>
          <a:noFill/>
        </p:spPr>
        <p:txBody>
          <a:bodyPr wrap="square" anchor="ctr" lIns="0" rIns="0" tIns="0" bIns="0">
            <a:spAutoFit/>
          </a:bodyPr>
          <a:lstStyle/>
          <a:p>
            <a:r>
              <a:rPr sz="1400" b="1" i="0">
                <a:solidFill>
                  <a:srgbClr val="FFFFFF"/>
                </a:solidFill>
              </a:rPr>
              <a:t>Problem</a:t>
            </a:r>
          </a:p>
        </p:txBody>
      </p:sp>
      <p:sp>
        <p:nvSpPr>
          <p:cNvPr id="7" name="TextBox 6"/>
          <p:cNvSpPr txBox="1"/>
          <p:nvPr/>
        </p:nvSpPr>
        <p:spPr>
          <a:xfrm>
            <a:off x="731520" y="1645920"/>
            <a:ext cx="3337560" cy="4480560"/>
          </a:xfrm>
          <a:prstGeom prst="rect">
            <a:avLst/>
          </a:prstGeom>
          <a:noFill/>
        </p:spPr>
        <p:txBody>
          <a:bodyPr wrap="square" lIns="0" rIns="0" tIns="0" bIns="0">
            <a:spAutoFit/>
          </a:bodyPr>
          <a:lstStyle/>
          <a:p>
            <a:pPr>
              <a:spcAft>
                <a:spcPts val="1400"/>
              </a:spcAft>
            </a:pPr>
            <a:r>
              <a:rPr sz="1600">
                <a:solidFill>
                  <a:srgbClr val="1A1A1A"/>
                </a:solidFill>
              </a:rPr>
              <a:t>•  Air-quality models run on one machine — they cannot hold a city-wide, multi-year history in memory</a:t>
            </a:r>
          </a:p>
          <a:p>
            <a:pPr>
              <a:spcAft>
                <a:spcPts val="1400"/>
              </a:spcAft>
            </a:pPr>
            <a:r>
              <a:rPr sz="1600">
                <a:solidFill>
                  <a:srgbClr val="1A1A1A"/>
                </a:solidFill>
              </a:rPr>
              <a:t>•  Batch reports arrive after the fact; a pollution spike is a health event happening now</a:t>
            </a:r>
          </a:p>
          <a:p>
            <a:pPr>
              <a:spcAft>
                <a:spcPts val="1400"/>
              </a:spcAft>
            </a:pPr>
            <a:r>
              <a:rPr sz="1600">
                <a:solidFill>
                  <a:srgbClr val="1A1A1A"/>
                </a:solidFill>
              </a:rPr>
              <a:t>•  Published frameworks stop at prediction — none turn a forecast into a public warning</a:t>
            </a:r>
          </a:p>
        </p:txBody>
      </p:sp>
      <p:sp>
        <p:nvSpPr>
          <p:cNvPr id="8" name="Rectangle 7"/>
          <p:cNvSpPr/>
          <p:nvPr/>
        </p:nvSpPr>
        <p:spPr>
          <a:xfrm>
            <a:off x="4343400" y="1143000"/>
            <a:ext cx="365760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14300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143000"/>
            <a:ext cx="3383280" cy="384048"/>
          </a:xfrm>
          <a:prstGeom prst="rect">
            <a:avLst/>
          </a:prstGeom>
          <a:noFill/>
        </p:spPr>
        <p:txBody>
          <a:bodyPr wrap="square" anchor="ctr" lIns="0" rIns="0" tIns="0" bIns="0">
            <a:spAutoFit/>
          </a:bodyPr>
          <a:lstStyle/>
          <a:p>
            <a:r>
              <a:rPr sz="1400" b="1" i="0">
                <a:solidFill>
                  <a:srgbClr val="FFFFFF"/>
                </a:solidFill>
              </a:rPr>
              <a:t>Objectives</a:t>
            </a:r>
          </a:p>
        </p:txBody>
      </p:sp>
      <p:sp>
        <p:nvSpPr>
          <p:cNvPr id="11" name="TextBox 10"/>
          <p:cNvSpPr txBox="1"/>
          <p:nvPr/>
        </p:nvSpPr>
        <p:spPr>
          <a:xfrm>
            <a:off x="4526280" y="1645920"/>
            <a:ext cx="3337560" cy="4480560"/>
          </a:xfrm>
          <a:prstGeom prst="rect">
            <a:avLst/>
          </a:prstGeom>
          <a:noFill/>
        </p:spPr>
        <p:txBody>
          <a:bodyPr wrap="square" lIns="0" rIns="0" tIns="0" bIns="0">
            <a:spAutoFit/>
          </a:bodyPr>
          <a:lstStyle/>
          <a:p>
            <a:pPr>
              <a:spcAft>
                <a:spcPts val="1100"/>
              </a:spcAft>
            </a:pPr>
            <a:r>
              <a:rPr sz="1500">
                <a:solidFill>
                  <a:srgbClr val="1A1A1A"/>
                </a:solidFill>
              </a:rPr>
              <a:t>•  Fault-tolerant HDFS lakehouse (4 DataNodes, 3× replication)</a:t>
            </a:r>
          </a:p>
          <a:p>
            <a:pPr>
              <a:spcAft>
                <a:spcPts val="1100"/>
              </a:spcAft>
            </a:pPr>
            <a:r>
              <a:rPr sz="1500">
                <a:solidFill>
                  <a:srgbClr val="1A1A1A"/>
                </a:solidFill>
              </a:rPr>
              <a:t>•  Distributed cleaning and feature engineering in Scala on Spark/YARN</a:t>
            </a:r>
          </a:p>
          <a:p>
            <a:pPr>
              <a:spcAft>
                <a:spcPts val="1100"/>
              </a:spcAft>
            </a:pPr>
            <a:r>
              <a:rPr sz="1500">
                <a:solidFill>
                  <a:srgbClr val="1A1A1A"/>
                </a:solidFill>
              </a:rPr>
              <a:t>•  Gradient-boosted forecaster that must beat the persistence baseline</a:t>
            </a:r>
          </a:p>
          <a:p>
            <a:pPr>
              <a:spcAft>
                <a:spcPts val="1100"/>
              </a:spcAft>
            </a:pPr>
            <a:r>
              <a:rPr sz="1500">
                <a:solidFill>
                  <a:srgbClr val="1A1A1A"/>
                </a:solidFill>
              </a:rPr>
              <a:t>•  Structured Streaming speed layer, 10 s micro-batches</a:t>
            </a:r>
          </a:p>
          <a:p>
            <a:pPr>
              <a:spcAft>
                <a:spcPts val="1100"/>
              </a:spcAft>
            </a:pPr>
            <a:r>
              <a:rPr sz="1500">
                <a:solidFill>
                  <a:srgbClr val="1A1A1A"/>
                </a:solidFill>
              </a:rPr>
              <a:t>•  Alert engine: warn when forecast AQI &gt; 150, one hour ahead</a:t>
            </a:r>
          </a:p>
          <a:p>
            <a:pPr>
              <a:spcAft>
                <a:spcPts val="1100"/>
              </a:spcAft>
            </a:pPr>
            <a:r>
              <a:rPr sz="1500">
                <a:solidFill>
                  <a:srgbClr val="1A1A1A"/>
                </a:solidFill>
              </a:rPr>
              <a:t>•  Serve results through Hive and a public warning board</a:t>
            </a:r>
          </a:p>
        </p:txBody>
      </p:sp>
      <p:sp>
        <p:nvSpPr>
          <p:cNvPr id="12" name="Rectangle 11"/>
          <p:cNvSpPr/>
          <p:nvPr/>
        </p:nvSpPr>
        <p:spPr>
          <a:xfrm>
            <a:off x="8138160" y="1143000"/>
            <a:ext cx="352044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143000"/>
            <a:ext cx="3520440" cy="384048"/>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143000"/>
            <a:ext cx="3246120" cy="384048"/>
          </a:xfrm>
          <a:prstGeom prst="rect">
            <a:avLst/>
          </a:prstGeom>
          <a:noFill/>
        </p:spPr>
        <p:txBody>
          <a:bodyPr wrap="square" anchor="ctr" lIns="0" rIns="0" tIns="0" bIns="0">
            <a:spAutoFit/>
          </a:bodyPr>
          <a:lstStyle/>
          <a:p>
            <a:r>
              <a:rPr sz="1400" b="1" i="0">
                <a:solidFill>
                  <a:srgbClr val="FFFFFF"/>
                </a:solidFill>
              </a:rPr>
              <a:t>Why big data is needed</a:t>
            </a:r>
          </a:p>
        </p:txBody>
      </p:sp>
      <p:sp>
        <p:nvSpPr>
          <p:cNvPr id="15" name="Rectangle 14"/>
          <p:cNvSpPr/>
          <p:nvPr/>
        </p:nvSpPr>
        <p:spPr>
          <a:xfrm>
            <a:off x="8275320" y="1645920"/>
            <a:ext cx="1554480" cy="10515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1719072"/>
            <a:ext cx="1335024" cy="578358"/>
          </a:xfrm>
          <a:prstGeom prst="rect">
            <a:avLst/>
          </a:prstGeom>
          <a:noFill/>
        </p:spPr>
        <p:txBody>
          <a:bodyPr wrap="square" anchor="ctr" lIns="0" rIns="0" tIns="0" bIns="0">
            <a:spAutoFit/>
          </a:bodyPr>
          <a:lstStyle/>
          <a:p>
            <a:r>
              <a:rPr sz="2200" b="1" i="0">
                <a:solidFill>
                  <a:srgbClr val="0B5F8A"/>
                </a:solidFill>
              </a:rPr>
              <a:t>154.6 M</a:t>
            </a:r>
          </a:p>
        </p:txBody>
      </p:sp>
      <p:sp>
        <p:nvSpPr>
          <p:cNvPr id="17" name="TextBox 16"/>
          <p:cNvSpPr txBox="1"/>
          <p:nvPr/>
        </p:nvSpPr>
        <p:spPr>
          <a:xfrm>
            <a:off x="8385048" y="2297887"/>
            <a:ext cx="1335024" cy="378561"/>
          </a:xfrm>
          <a:prstGeom prst="rect">
            <a:avLst/>
          </a:prstGeom>
          <a:noFill/>
        </p:spPr>
        <p:txBody>
          <a:bodyPr wrap="square" anchor="t" lIns="0" rIns="0" tIns="0" bIns="0">
            <a:spAutoFit/>
          </a:bodyPr>
          <a:lstStyle/>
          <a:p>
            <a:r>
              <a:rPr sz="1200" b="0" i="0">
                <a:solidFill>
                  <a:srgbClr val="5A6673"/>
                </a:solidFill>
              </a:rPr>
              <a:t>rows</a:t>
            </a:r>
          </a:p>
        </p:txBody>
      </p:sp>
      <p:sp>
        <p:nvSpPr>
          <p:cNvPr id="18" name="Rectangle 17"/>
          <p:cNvSpPr/>
          <p:nvPr/>
        </p:nvSpPr>
        <p:spPr>
          <a:xfrm>
            <a:off x="9966960" y="1645920"/>
            <a:ext cx="1554480" cy="10515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76688" y="1719072"/>
            <a:ext cx="1335024" cy="578358"/>
          </a:xfrm>
          <a:prstGeom prst="rect">
            <a:avLst/>
          </a:prstGeom>
          <a:noFill/>
        </p:spPr>
        <p:txBody>
          <a:bodyPr wrap="square" anchor="ctr" lIns="0" rIns="0" tIns="0" bIns="0">
            <a:spAutoFit/>
          </a:bodyPr>
          <a:lstStyle/>
          <a:p>
            <a:r>
              <a:rPr sz="2200" b="1" i="0">
                <a:solidFill>
                  <a:srgbClr val="0B5F8A"/>
                </a:solidFill>
              </a:rPr>
              <a:t>33 GB</a:t>
            </a:r>
          </a:p>
        </p:txBody>
      </p:sp>
      <p:sp>
        <p:nvSpPr>
          <p:cNvPr id="20" name="TextBox 19"/>
          <p:cNvSpPr txBox="1"/>
          <p:nvPr/>
        </p:nvSpPr>
        <p:spPr>
          <a:xfrm>
            <a:off x="10076688" y="2297887"/>
            <a:ext cx="1335024" cy="378561"/>
          </a:xfrm>
          <a:prstGeom prst="rect">
            <a:avLst/>
          </a:prstGeom>
          <a:noFill/>
        </p:spPr>
        <p:txBody>
          <a:bodyPr wrap="square" anchor="t" lIns="0" rIns="0" tIns="0" bIns="0">
            <a:spAutoFit/>
          </a:bodyPr>
          <a:lstStyle/>
          <a:p>
            <a:r>
              <a:rPr sz="1200" b="0" i="0">
                <a:solidFill>
                  <a:srgbClr val="5A6673"/>
                </a:solidFill>
              </a:rPr>
              <a:t>on disk</a:t>
            </a:r>
          </a:p>
        </p:txBody>
      </p:sp>
      <p:sp>
        <p:nvSpPr>
          <p:cNvPr id="21" name="TextBox 20"/>
          <p:cNvSpPr txBox="1"/>
          <p:nvPr/>
        </p:nvSpPr>
        <p:spPr>
          <a:xfrm>
            <a:off x="8275320" y="2834640"/>
            <a:ext cx="3246120" cy="3383280"/>
          </a:xfrm>
          <a:prstGeom prst="rect">
            <a:avLst/>
          </a:prstGeom>
          <a:noFill/>
        </p:spPr>
        <p:txBody>
          <a:bodyPr wrap="square" lIns="0" rIns="0" tIns="0" bIns="0">
            <a:spAutoFit/>
          </a:bodyPr>
          <a:lstStyle/>
          <a:p>
            <a:pPr>
              <a:spcAft>
                <a:spcPts val="1000"/>
              </a:spcAft>
            </a:pPr>
            <a:r>
              <a:rPr sz="1400">
                <a:solidFill>
                  <a:srgbClr val="1A1A1A"/>
                </a:solidFill>
              </a:rPr>
              <a:t>•  Volume: 33 GB vs 15.7 GB RAM on the host — only partitioned, distributed processing fits</a:t>
            </a:r>
          </a:p>
          <a:p>
            <a:pPr>
              <a:spcAft>
                <a:spcPts val="1000"/>
              </a:spcAft>
            </a:pPr>
            <a:r>
              <a:rPr sz="1400">
                <a:solidFill>
                  <a:srgbClr val="1A1A1A"/>
                </a:solidFill>
              </a:rPr>
              <a:t>•  Velocity: live feed scored every 10 s</a:t>
            </a:r>
          </a:p>
          <a:p>
            <a:pPr>
              <a:spcAft>
                <a:spcPts val="1000"/>
              </a:spcAft>
            </a:pPr>
            <a:r>
              <a:rPr sz="1400">
                <a:solidFill>
                  <a:srgbClr val="1A1A1A"/>
                </a:solidFill>
              </a:rPr>
              <a:t>•  Variety: flat CSV and nested JSON on one schema</a:t>
            </a:r>
          </a:p>
          <a:p>
            <a:pPr>
              <a:spcAft>
                <a:spcPts val="1000"/>
              </a:spcAft>
            </a:pPr>
            <a:r>
              <a:rPr sz="1400">
                <a:solidFill>
                  <a:srgbClr val="1A1A1A"/>
                </a:solidFill>
              </a:rPr>
              <a:t>•  Veracity: 88.9 % synthetic rows must be validated, not trusted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Dataset — Source, Size, Volume / Variety / Velocity, Key Attributes</a:t>
            </a:r>
          </a:p>
        </p:txBody>
      </p:sp>
      <p:graphicFrame>
        <p:nvGraphicFramePr>
          <p:cNvPr id="4" name="Table 3"/>
          <p:cNvGraphicFramePr>
            <a:graphicFrameLocks noGrp="1"/>
          </p:cNvGraphicFramePr>
          <p:nvPr/>
        </p:nvGraphicFramePr>
        <p:xfrm>
          <a:off x="548640" y="1188720"/>
          <a:ext cx="11109960" cy="1828800"/>
        </p:xfrm>
        <a:graphic>
          <a:graphicData uri="http://schemas.openxmlformats.org/drawingml/2006/table">
            <a:tbl>
              <a:tblPr firstRow="0" bandRow="0">
                <a:tableStyleId>{5C22544A-7EE6-4342-B048-85BDC9FD1C3A}</a:tableStyleId>
              </a:tblPr>
              <a:tblGrid>
                <a:gridCol w="1554480"/>
                <a:gridCol w="4206240"/>
                <a:gridCol w="1371600"/>
                <a:gridCol w="1554480"/>
                <a:gridCol w="1005840"/>
                <a:gridCol w="1417320"/>
              </a:tblGrid>
              <a:tr h="457200">
                <a:tc>
                  <a:txBody>
                    <a:bodyPr/>
                    <a:lstStyle/>
                    <a:p>
                      <a:r>
                        <a:rPr sz="1200" b="1">
                          <a:solidFill>
                            <a:srgbClr val="FFFFFF"/>
                          </a:solidFill>
                        </a:rPr>
                        <a:t>Layer</a:t>
                      </a:r>
                    </a:p>
                  </a:txBody>
                  <a:tcPr anchor="ctr">
                    <a:solidFill>
                      <a:srgbClr val="0B5F8A"/>
                    </a:solidFill>
                  </a:tcPr>
                </a:tc>
                <a:tc>
                  <a:txBody>
                    <a:bodyPr/>
                    <a:lstStyle/>
                    <a:p>
                      <a:r>
                        <a:rPr sz="1200" b="1">
                          <a:solidFill>
                            <a:srgbClr val="FFFFFF"/>
                          </a:solidFill>
                        </a:rPr>
                        <a:t>Source</a:t>
                      </a:r>
                    </a:p>
                  </a:txBody>
                  <a:tcPr anchor="ctr">
                    <a:solidFill>
                      <a:srgbClr val="0B5F8A"/>
                    </a:solidFill>
                  </a:tcPr>
                </a:tc>
                <a:tc>
                  <a:txBody>
                    <a:bodyPr/>
                    <a:lstStyle/>
                    <a:p>
                      <a:r>
                        <a:rPr sz="1200" b="1">
                          <a:solidFill>
                            <a:srgbClr val="FFFFFF"/>
                          </a:solidFill>
                        </a:rPr>
                        <a:t>Format</a:t>
                      </a:r>
                    </a:p>
                  </a:txBody>
                  <a:tcPr anchor="ctr">
                    <a:solidFill>
                      <a:srgbClr val="0B5F8A"/>
                    </a:solidFill>
                  </a:tcPr>
                </a:tc>
                <a:tc>
                  <a:txBody>
                    <a:bodyPr/>
                    <a:lstStyle/>
                    <a:p>
                      <a:r>
                        <a:rPr sz="1200" b="1">
                          <a:solidFill>
                            <a:srgbClr val="FFFFFF"/>
                          </a:solidFill>
                        </a:rPr>
                        <a:t>Rows</a:t>
                      </a:r>
                    </a:p>
                  </a:txBody>
                  <a:tcPr anchor="ctr">
                    <a:solidFill>
                      <a:srgbClr val="0B5F8A"/>
                    </a:solidFill>
                  </a:tcPr>
                </a:tc>
                <a:tc>
                  <a:txBody>
                    <a:bodyPr/>
                    <a:lstStyle/>
                    <a:p>
                      <a:r>
                        <a:rPr sz="1200" b="1">
                          <a:solidFill>
                            <a:srgbClr val="FFFFFF"/>
                          </a:solidFill>
                        </a:rPr>
                        <a:t>Size</a:t>
                      </a:r>
                    </a:p>
                  </a:txBody>
                  <a:tcPr anchor="ctr">
                    <a:solidFill>
                      <a:srgbClr val="0B5F8A"/>
                    </a:solidFill>
                  </a:tcPr>
                </a:tc>
                <a:tc>
                  <a:txBody>
                    <a:bodyPr/>
                    <a:lstStyle/>
                    <a:p>
                      <a:r>
                        <a:rPr sz="1200" b="1">
                          <a:solidFill>
                            <a:srgbClr val="FFFFFF"/>
                          </a:solidFill>
                        </a:rPr>
                        <a:t>Period</a:t>
                      </a:r>
                    </a:p>
                  </a:txBody>
                  <a:tcPr anchor="ctr">
                    <a:solidFill>
                      <a:srgbClr val="0B5F8A"/>
                    </a:solidFill>
                  </a:tcPr>
                </a:tc>
              </a:tr>
              <a:tr h="457200">
                <a:tc>
                  <a:txBody>
                    <a:bodyPr/>
                    <a:lstStyle/>
                    <a:p>
                      <a:r>
                        <a:rPr sz="1200" b="0">
                          <a:solidFill>
                            <a:srgbClr val="1A1A1A"/>
                          </a:solidFill>
                        </a:rPr>
                        <a:t>Structured</a:t>
                      </a:r>
                    </a:p>
                  </a:txBody>
                  <a:tcPr anchor="ctr">
                    <a:solidFill>
                      <a:srgbClr val="FFFFFF"/>
                    </a:solidFill>
                  </a:tcPr>
                </a:tc>
                <a:tc>
                  <a:txBody>
                    <a:bodyPr/>
                    <a:lstStyle/>
                    <a:p>
                      <a:r>
                        <a:rPr sz="1200" b="0">
                          <a:solidFill>
                            <a:srgbClr val="1A1A1A"/>
                          </a:solidFill>
                        </a:rPr>
                        <a:t>CPCB stations (+ validated synthetic expansion)</a:t>
                      </a:r>
                    </a:p>
                  </a:txBody>
                  <a:tcPr anchor="ctr">
                    <a:solidFill>
                      <a:srgbClr val="FFFFFF"/>
                    </a:solidFill>
                  </a:tcPr>
                </a:tc>
                <a:tc>
                  <a:txBody>
                    <a:bodyPr/>
                    <a:lstStyle/>
                    <a:p>
                      <a:r>
                        <a:rPr sz="1200" b="0">
                          <a:solidFill>
                            <a:srgbClr val="1A1A1A"/>
                          </a:solidFill>
                        </a:rPr>
                        <a:t>Flat CSV</a:t>
                      </a:r>
                    </a:p>
                  </a:txBody>
                  <a:tcPr anchor="ctr">
                    <a:solidFill>
                      <a:srgbClr val="FFFFFF"/>
                    </a:solidFill>
                  </a:tcPr>
                </a:tc>
                <a:tc>
                  <a:txBody>
                    <a:bodyPr/>
                    <a:lstStyle/>
                    <a:p>
                      <a:r>
                        <a:rPr sz="1200" b="0">
                          <a:solidFill>
                            <a:srgbClr val="1A1A1A"/>
                          </a:solidFill>
                        </a:rPr>
                        <a:t>146,276,379</a:t>
                      </a:r>
                    </a:p>
                  </a:txBody>
                  <a:tcPr anchor="ctr">
                    <a:solidFill>
                      <a:srgbClr val="FFFFFF"/>
                    </a:solidFill>
                  </a:tcPr>
                </a:tc>
                <a:tc>
                  <a:txBody>
                    <a:bodyPr/>
                    <a:lstStyle/>
                    <a:p>
                      <a:r>
                        <a:rPr sz="1200" b="0">
                          <a:solidFill>
                            <a:srgbClr val="1A1A1A"/>
                          </a:solidFill>
                        </a:rPr>
                        <a:t>27.5 GB</a:t>
                      </a:r>
                    </a:p>
                  </a:txBody>
                  <a:tcPr anchor="ctr">
                    <a:solidFill>
                      <a:srgbClr val="FFFFFF"/>
                    </a:solidFill>
                  </a:tcPr>
                </a:tc>
                <a:tc>
                  <a:txBody>
                    <a:bodyPr/>
                    <a:lstStyle/>
                    <a:p>
                      <a:r>
                        <a:rPr sz="1200" b="0">
                          <a:solidFill>
                            <a:srgbClr val="1A1A1A"/>
                          </a:solidFill>
                        </a:rPr>
                        <a:t>2010 – 2023</a:t>
                      </a:r>
                    </a:p>
                  </a:txBody>
                  <a:tcPr anchor="ctr">
                    <a:solidFill>
                      <a:srgbClr val="FFFFFF"/>
                    </a:solidFill>
                  </a:tcPr>
                </a:tc>
              </a:tr>
              <a:tr h="457200">
                <a:tc>
                  <a:txBody>
                    <a:bodyPr/>
                    <a:lstStyle/>
                    <a:p>
                      <a:r>
                        <a:rPr sz="1200" b="0">
                          <a:solidFill>
                            <a:srgbClr val="1A1A1A"/>
                          </a:solidFill>
                        </a:rPr>
                        <a:t>Semi-structured</a:t>
                      </a:r>
                    </a:p>
                  </a:txBody>
                  <a:tcPr anchor="ctr">
                    <a:solidFill>
                      <a:srgbClr val="F7F9FB"/>
                    </a:solidFill>
                  </a:tcPr>
                </a:tc>
                <a:tc>
                  <a:txBody>
                    <a:bodyPr/>
                    <a:lstStyle/>
                    <a:p>
                      <a:r>
                        <a:rPr sz="1200" b="0">
                          <a:solidFill>
                            <a:srgbClr val="1A1A1A"/>
                          </a:solidFill>
                        </a:rPr>
                        <a:t>CAMS reanalysis via Open-Meteo (history)</a:t>
                      </a:r>
                    </a:p>
                  </a:txBody>
                  <a:tcPr anchor="ctr">
                    <a:solidFill>
                      <a:srgbClr val="F7F9FB"/>
                    </a:solidFill>
                  </a:tcPr>
                </a:tc>
                <a:tc>
                  <a:txBody>
                    <a:bodyPr/>
                    <a:lstStyle/>
                    <a:p>
                      <a:r>
                        <a:rPr sz="1200" b="0">
                          <a:solidFill>
                            <a:srgbClr val="1A1A1A"/>
                          </a:solidFill>
                        </a:rPr>
                        <a:t>Nested JSON</a:t>
                      </a:r>
                    </a:p>
                  </a:txBody>
                  <a:tcPr anchor="ctr">
                    <a:solidFill>
                      <a:srgbClr val="F7F9FB"/>
                    </a:solidFill>
                  </a:tcPr>
                </a:tc>
                <a:tc>
                  <a:txBody>
                    <a:bodyPr/>
                    <a:lstStyle/>
                    <a:p>
                      <a:r>
                        <a:rPr sz="1200" b="0">
                          <a:solidFill>
                            <a:srgbClr val="1A1A1A"/>
                          </a:solidFill>
                        </a:rPr>
                        <a:t>8,263,440</a:t>
                      </a:r>
                    </a:p>
                  </a:txBody>
                  <a:tcPr anchor="ctr">
                    <a:solidFill>
                      <a:srgbClr val="F7F9FB"/>
                    </a:solidFill>
                  </a:tcPr>
                </a:tc>
                <a:tc>
                  <a:txBody>
                    <a:bodyPr/>
                    <a:lstStyle/>
                    <a:p>
                      <a:r>
                        <a:rPr sz="1200" b="0">
                          <a:solidFill>
                            <a:srgbClr val="1A1A1A"/>
                          </a:solidFill>
                        </a:rPr>
                        <a:t>458 MB</a:t>
                      </a:r>
                    </a:p>
                  </a:txBody>
                  <a:tcPr anchor="ctr">
                    <a:solidFill>
                      <a:srgbClr val="F7F9FB"/>
                    </a:solidFill>
                  </a:tcPr>
                </a:tc>
                <a:tc>
                  <a:txBody>
                    <a:bodyPr/>
                    <a:lstStyle/>
                    <a:p>
                      <a:r>
                        <a:rPr sz="1200" b="0">
                          <a:solidFill>
                            <a:srgbClr val="1A1A1A"/>
                          </a:solidFill>
                        </a:rPr>
                        <a:t>2022-08 → 2026-09</a:t>
                      </a:r>
                    </a:p>
                  </a:txBody>
                  <a:tcPr anchor="ctr">
                    <a:solidFill>
                      <a:srgbClr val="F7F9FB"/>
                    </a:solidFill>
                  </a:tcPr>
                </a:tc>
              </a:tr>
              <a:tr h="457200">
                <a:tc>
                  <a:txBody>
                    <a:bodyPr/>
                    <a:lstStyle/>
                    <a:p>
                      <a:r>
                        <a:rPr sz="1200" b="0">
                          <a:solidFill>
                            <a:srgbClr val="1A1A1A"/>
                          </a:solidFill>
                        </a:rPr>
                        <a:t>Semi-structured</a:t>
                      </a:r>
                    </a:p>
                  </a:txBody>
                  <a:tcPr anchor="ctr">
                    <a:solidFill>
                      <a:srgbClr val="FFFFFF"/>
                    </a:solidFill>
                  </a:tcPr>
                </a:tc>
                <a:tc>
                  <a:txBody>
                    <a:bodyPr/>
                    <a:lstStyle/>
                    <a:p>
                      <a:r>
                        <a:rPr sz="1200" b="0">
                          <a:solidFill>
                            <a:srgbClr val="1A1A1A"/>
                          </a:solidFill>
                        </a:rPr>
                        <a:t>CAMS + weather, live (keyless API, CC-BY 4.0)</a:t>
                      </a:r>
                    </a:p>
                  </a:txBody>
                  <a:tcPr anchor="ctr">
                    <a:solidFill>
                      <a:srgbClr val="FFFFFF"/>
                    </a:solidFill>
                  </a:tcPr>
                </a:tc>
                <a:tc>
                  <a:txBody>
                    <a:bodyPr/>
                    <a:lstStyle/>
                    <a:p>
                      <a:r>
                        <a:rPr sz="1200" b="0">
                          <a:solidFill>
                            <a:srgbClr val="1A1A1A"/>
                          </a:solidFill>
                        </a:rPr>
                        <a:t>Nested JSON</a:t>
                      </a:r>
                    </a:p>
                  </a:txBody>
                  <a:tcPr anchor="ctr">
                    <a:solidFill>
                      <a:srgbClr val="FFFFFF"/>
                    </a:solidFill>
                  </a:tcPr>
                </a:tc>
                <a:tc>
                  <a:txBody>
                    <a:bodyPr/>
                    <a:lstStyle/>
                    <a:p>
                      <a:r>
                        <a:rPr sz="1200" b="0">
                          <a:solidFill>
                            <a:srgbClr val="1A1A1A"/>
                          </a:solidFill>
                        </a:rPr>
                        <a:t>82,800 / refresh</a:t>
                      </a:r>
                    </a:p>
                  </a:txBody>
                  <a:tcPr anchor="ctr">
                    <a:solidFill>
                      <a:srgbClr val="FFFFFF"/>
                    </a:solidFill>
                  </a:tcPr>
                </a:tc>
                <a:tc>
                  <a:txBody>
                    <a:bodyPr/>
                    <a:lstStyle/>
                    <a:p>
                      <a:r>
                        <a:rPr sz="1200" b="0">
                          <a:solidFill>
                            <a:srgbClr val="1A1A1A"/>
                          </a:solidFill>
                        </a:rPr>
                        <a:t>≈ 20 MB</a:t>
                      </a:r>
                    </a:p>
                  </a:txBody>
                  <a:tcPr anchor="ctr">
                    <a:solidFill>
                      <a:srgbClr val="FFFFFF"/>
                    </a:solidFill>
                  </a:tcPr>
                </a:tc>
                <a:tc>
                  <a:txBody>
                    <a:bodyPr/>
                    <a:lstStyle/>
                    <a:p>
                      <a:r>
                        <a:rPr sz="1200" b="0">
                          <a:solidFill>
                            <a:srgbClr val="1A1A1A"/>
                          </a:solidFill>
                        </a:rPr>
                        <a:t>1–15 Oct 2026</a:t>
                      </a:r>
                    </a:p>
                  </a:txBody>
                  <a:tcPr anchor="ctr">
                    <a:solidFill>
                      <a:srgbClr val="FFFFFF"/>
                    </a:solidFill>
                  </a:tcPr>
                </a:tc>
              </a:tr>
            </a:tbl>
          </a:graphicData>
        </a:graphic>
      </p:graphicFrame>
      <p:sp>
        <p:nvSpPr>
          <p:cNvPr id="5" name="Rectangle 4"/>
          <p:cNvSpPr/>
          <p:nvPr/>
        </p:nvSpPr>
        <p:spPr>
          <a:xfrm>
            <a:off x="548640" y="3063240"/>
            <a:ext cx="2651760" cy="10058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136392"/>
            <a:ext cx="2432304" cy="553212"/>
          </a:xfrm>
          <a:prstGeom prst="rect">
            <a:avLst/>
          </a:prstGeom>
          <a:noFill/>
        </p:spPr>
        <p:txBody>
          <a:bodyPr wrap="square" anchor="ctr" lIns="0" rIns="0" tIns="0" bIns="0">
            <a:spAutoFit/>
          </a:bodyPr>
          <a:lstStyle/>
          <a:p>
            <a:r>
              <a:rPr sz="2200" b="1" i="0">
                <a:solidFill>
                  <a:srgbClr val="0B5F8A"/>
                </a:solidFill>
              </a:rPr>
              <a:t>154,583,979</a:t>
            </a:r>
          </a:p>
        </p:txBody>
      </p:sp>
      <p:sp>
        <p:nvSpPr>
          <p:cNvPr id="7" name="TextBox 6"/>
          <p:cNvSpPr txBox="1"/>
          <p:nvPr/>
        </p:nvSpPr>
        <p:spPr>
          <a:xfrm>
            <a:off x="658368" y="3686860"/>
            <a:ext cx="2432304" cy="362102"/>
          </a:xfrm>
          <a:prstGeom prst="rect">
            <a:avLst/>
          </a:prstGeom>
          <a:noFill/>
        </p:spPr>
        <p:txBody>
          <a:bodyPr wrap="square" anchor="t" lIns="0" rIns="0" tIns="0" bIns="0">
            <a:spAutoFit/>
          </a:bodyPr>
          <a:lstStyle/>
          <a:p>
            <a:r>
              <a:rPr sz="1200" b="0" i="0">
                <a:solidFill>
                  <a:srgbClr val="5A6673"/>
                </a:solidFill>
              </a:rPr>
              <a:t>rows in the unified table</a:t>
            </a:r>
          </a:p>
        </p:txBody>
      </p:sp>
      <p:sp>
        <p:nvSpPr>
          <p:cNvPr id="8" name="Rectangle 7"/>
          <p:cNvSpPr/>
          <p:nvPr/>
        </p:nvSpPr>
        <p:spPr>
          <a:xfrm>
            <a:off x="3337560" y="3063240"/>
            <a:ext cx="2651760" cy="10058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8" y="3136392"/>
            <a:ext cx="2432304" cy="553212"/>
          </a:xfrm>
          <a:prstGeom prst="rect">
            <a:avLst/>
          </a:prstGeom>
          <a:noFill/>
        </p:spPr>
        <p:txBody>
          <a:bodyPr wrap="square" anchor="ctr" lIns="0" rIns="0" tIns="0" bIns="0">
            <a:spAutoFit/>
          </a:bodyPr>
          <a:lstStyle/>
          <a:p>
            <a:r>
              <a:rPr sz="2200" b="1" i="0">
                <a:solidFill>
                  <a:srgbClr val="0B5F8A"/>
                </a:solidFill>
              </a:rPr>
              <a:t>241 / 4,077</a:t>
            </a:r>
          </a:p>
        </p:txBody>
      </p:sp>
      <p:sp>
        <p:nvSpPr>
          <p:cNvPr id="10" name="TextBox 9"/>
          <p:cNvSpPr txBox="1"/>
          <p:nvPr/>
        </p:nvSpPr>
        <p:spPr>
          <a:xfrm>
            <a:off x="3447288" y="3686860"/>
            <a:ext cx="2432304" cy="362102"/>
          </a:xfrm>
          <a:prstGeom prst="rect">
            <a:avLst/>
          </a:prstGeom>
          <a:noFill/>
        </p:spPr>
        <p:txBody>
          <a:bodyPr wrap="square" anchor="t" lIns="0" rIns="0" tIns="0" bIns="0">
            <a:spAutoFit/>
          </a:bodyPr>
          <a:lstStyle/>
          <a:p>
            <a:r>
              <a:rPr sz="1200" b="0" i="0">
                <a:solidFill>
                  <a:srgbClr val="5A6673"/>
                </a:solidFill>
              </a:rPr>
              <a:t>cities / stations</a:t>
            </a:r>
          </a:p>
        </p:txBody>
      </p:sp>
      <p:sp>
        <p:nvSpPr>
          <p:cNvPr id="11" name="Rectangle 10"/>
          <p:cNvSpPr/>
          <p:nvPr/>
        </p:nvSpPr>
        <p:spPr>
          <a:xfrm>
            <a:off x="6126480" y="3063240"/>
            <a:ext cx="2651760" cy="10058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6208" y="3136392"/>
            <a:ext cx="2432304" cy="553212"/>
          </a:xfrm>
          <a:prstGeom prst="rect">
            <a:avLst/>
          </a:prstGeom>
          <a:noFill/>
        </p:spPr>
        <p:txBody>
          <a:bodyPr wrap="square" anchor="ctr" lIns="0" rIns="0" tIns="0" bIns="0">
            <a:spAutoFit/>
          </a:bodyPr>
          <a:lstStyle/>
          <a:p>
            <a:r>
              <a:rPr sz="2200" b="1" i="0">
                <a:solidFill>
                  <a:srgbClr val="0B5F8A"/>
                </a:solidFill>
              </a:rPr>
              <a:t>33 GB</a:t>
            </a:r>
          </a:p>
        </p:txBody>
      </p:sp>
      <p:sp>
        <p:nvSpPr>
          <p:cNvPr id="13" name="TextBox 12"/>
          <p:cNvSpPr txBox="1"/>
          <p:nvPr/>
        </p:nvSpPr>
        <p:spPr>
          <a:xfrm>
            <a:off x="6236208" y="3686860"/>
            <a:ext cx="2432304" cy="362102"/>
          </a:xfrm>
          <a:prstGeom prst="rect">
            <a:avLst/>
          </a:prstGeom>
          <a:noFill/>
        </p:spPr>
        <p:txBody>
          <a:bodyPr wrap="square" anchor="t" lIns="0" rIns="0" tIns="0" bIns="0">
            <a:spAutoFit/>
          </a:bodyPr>
          <a:lstStyle/>
          <a:p>
            <a:r>
              <a:rPr sz="1200" b="0" i="0">
                <a:solidFill>
                  <a:srgbClr val="5A6673"/>
                </a:solidFill>
              </a:rPr>
              <a:t>Parquet + CSV in HDFS</a:t>
            </a:r>
          </a:p>
        </p:txBody>
      </p:sp>
      <p:sp>
        <p:nvSpPr>
          <p:cNvPr id="14" name="Rectangle 13"/>
          <p:cNvSpPr/>
          <p:nvPr/>
        </p:nvSpPr>
        <p:spPr>
          <a:xfrm>
            <a:off x="8915400" y="3063240"/>
            <a:ext cx="2743200" cy="10058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25128" y="3136392"/>
            <a:ext cx="2523744" cy="553212"/>
          </a:xfrm>
          <a:prstGeom prst="rect">
            <a:avLst/>
          </a:prstGeom>
          <a:noFill/>
        </p:spPr>
        <p:txBody>
          <a:bodyPr wrap="square" anchor="ctr" lIns="0" rIns="0" tIns="0" bIns="0">
            <a:spAutoFit/>
          </a:bodyPr>
          <a:lstStyle/>
          <a:p>
            <a:r>
              <a:rPr sz="2200" b="1" i="0">
                <a:solidFill>
                  <a:srgbClr val="7A1B2E"/>
                </a:solidFill>
              </a:rPr>
              <a:t>88.9 %</a:t>
            </a:r>
          </a:p>
        </p:txBody>
      </p:sp>
      <p:sp>
        <p:nvSpPr>
          <p:cNvPr id="16" name="TextBox 15"/>
          <p:cNvSpPr txBox="1"/>
          <p:nvPr/>
        </p:nvSpPr>
        <p:spPr>
          <a:xfrm>
            <a:off x="9025128" y="3686860"/>
            <a:ext cx="2523744" cy="362102"/>
          </a:xfrm>
          <a:prstGeom prst="rect">
            <a:avLst/>
          </a:prstGeom>
          <a:noFill/>
        </p:spPr>
        <p:txBody>
          <a:bodyPr wrap="square" anchor="t" lIns="0" rIns="0" tIns="0" bIns="0">
            <a:spAutoFit/>
          </a:bodyPr>
          <a:lstStyle/>
          <a:p>
            <a:r>
              <a:rPr sz="1200" b="0" i="0">
                <a:solidFill>
                  <a:srgbClr val="5A6673"/>
                </a:solidFill>
              </a:rPr>
              <a:t>of structured rows synthetic</a:t>
            </a:r>
          </a:p>
        </p:txBody>
      </p:sp>
      <p:sp>
        <p:nvSpPr>
          <p:cNvPr id="17" name="Rectangle 16"/>
          <p:cNvSpPr/>
          <p:nvPr/>
        </p:nvSpPr>
        <p:spPr>
          <a:xfrm>
            <a:off x="548640" y="4251960"/>
            <a:ext cx="3657600" cy="2057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25196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60"/>
            <a:ext cx="3383280" cy="384048"/>
          </a:xfrm>
          <a:prstGeom prst="rect">
            <a:avLst/>
          </a:prstGeom>
          <a:noFill/>
        </p:spPr>
        <p:txBody>
          <a:bodyPr wrap="square" anchor="ctr" lIns="0" rIns="0" tIns="0" bIns="0">
            <a:spAutoFit/>
          </a:bodyPr>
          <a:lstStyle/>
          <a:p>
            <a:r>
              <a:rPr sz="1400" b="1" i="0">
                <a:solidFill>
                  <a:srgbClr val="FFFFFF"/>
                </a:solidFill>
              </a:rPr>
              <a:t>Volume · Variety · Velocity</a:t>
            </a:r>
          </a:p>
        </p:txBody>
      </p:sp>
      <p:sp>
        <p:nvSpPr>
          <p:cNvPr id="20" name="TextBox 19"/>
          <p:cNvSpPr txBox="1"/>
          <p:nvPr/>
        </p:nvSpPr>
        <p:spPr>
          <a:xfrm>
            <a:off x="685800" y="4709160"/>
            <a:ext cx="3429000" cy="1554480"/>
          </a:xfrm>
          <a:prstGeom prst="rect">
            <a:avLst/>
          </a:prstGeom>
          <a:noFill/>
        </p:spPr>
        <p:txBody>
          <a:bodyPr wrap="square" lIns="0" rIns="0" tIns="0" bIns="0">
            <a:spAutoFit/>
          </a:bodyPr>
          <a:lstStyle/>
          <a:p>
            <a:pPr>
              <a:spcAft>
                <a:spcPts val="600"/>
              </a:spcAft>
            </a:pPr>
            <a:r>
              <a:rPr sz="1200">
                <a:solidFill>
                  <a:srgbClr val="1A1A1A"/>
                </a:solidFill>
              </a:rPr>
              <a:t>•  Volume: 154.6 M rows, 232 HDFS blocks per raw copy</a:t>
            </a:r>
          </a:p>
          <a:p>
            <a:pPr>
              <a:spcAft>
                <a:spcPts val="600"/>
              </a:spcAft>
            </a:pPr>
            <a:r>
              <a:rPr sz="1200">
                <a:solidFill>
                  <a:srgbClr val="1A1A1A"/>
                </a:solidFill>
              </a:rPr>
              <a:t>•  Variety: CSV + nested JSON, one 17-column schema</a:t>
            </a:r>
          </a:p>
          <a:p>
            <a:pPr>
              <a:spcAft>
                <a:spcPts val="600"/>
              </a:spcAft>
            </a:pPr>
            <a:r>
              <a:rPr sz="1200">
                <a:solidFill>
                  <a:srgbClr val="1A1A1A"/>
                </a:solidFill>
              </a:rPr>
              <a:t>•  Velocity: 10 s micro-batches, 7 s latency</a:t>
            </a:r>
          </a:p>
        </p:txBody>
      </p:sp>
      <p:sp>
        <p:nvSpPr>
          <p:cNvPr id="21" name="Rectangle 20"/>
          <p:cNvSpPr/>
          <p:nvPr/>
        </p:nvSpPr>
        <p:spPr>
          <a:xfrm>
            <a:off x="4343400" y="4251960"/>
            <a:ext cx="7315200" cy="2057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4251960"/>
            <a:ext cx="73152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4251960"/>
            <a:ext cx="7040880" cy="384048"/>
          </a:xfrm>
          <a:prstGeom prst="rect">
            <a:avLst/>
          </a:prstGeom>
          <a:noFill/>
        </p:spPr>
        <p:txBody>
          <a:bodyPr wrap="square" anchor="ctr" lIns="0" rIns="0" tIns="0" bIns="0">
            <a:spAutoFit/>
          </a:bodyPr>
          <a:lstStyle/>
          <a:p>
            <a:r>
              <a:rPr sz="1400" b="1" i="0">
                <a:solidFill>
                  <a:srgbClr val="FFFFFF"/>
                </a:solidFill>
              </a:rPr>
              <a:t>Key attributes</a:t>
            </a:r>
          </a:p>
        </p:txBody>
      </p:sp>
      <p:sp>
        <p:nvSpPr>
          <p:cNvPr id="24" name="TextBox 23"/>
          <p:cNvSpPr txBox="1"/>
          <p:nvPr/>
        </p:nvSpPr>
        <p:spPr>
          <a:xfrm>
            <a:off x="4480560" y="4709160"/>
            <a:ext cx="7040880" cy="1600200"/>
          </a:xfrm>
          <a:prstGeom prst="rect">
            <a:avLst/>
          </a:prstGeom>
          <a:noFill/>
        </p:spPr>
        <p:txBody>
          <a:bodyPr wrap="square" lIns="0" rIns="0" tIns="0" bIns="0">
            <a:spAutoFit/>
          </a:bodyPr>
          <a:lstStyle/>
          <a:p>
            <a:pPr>
              <a:spcAft>
                <a:spcPts val="400"/>
              </a:spcAft>
            </a:pPr>
            <a:r>
              <a:rPr sz="1150">
                <a:solidFill>
                  <a:srgbClr val="1A1A1A"/>
                </a:solidFill>
              </a:rPr>
              <a:t>•  Identity / time: station_id, city, state, timestamp (hourly)</a:t>
            </a:r>
          </a:p>
          <a:p>
            <a:pPr>
              <a:spcAft>
                <a:spcPts val="400"/>
              </a:spcAft>
            </a:pPr>
            <a:r>
              <a:rPr sz="1150">
                <a:solidFill>
                  <a:srgbClr val="1A1A1A"/>
                </a:solidFill>
              </a:rPr>
              <a:t>•  Pollutants: pm25, pm10, no2, so2, co, o3, nh3  →  CPCB AQI and the T+1 label (next-hour PM₂.₅)</a:t>
            </a:r>
          </a:p>
          <a:p>
            <a:pPr>
              <a:spcAft>
                <a:spcPts val="400"/>
              </a:spcAft>
            </a:pPr>
            <a:r>
              <a:rPr sz="1150">
                <a:solidFill>
                  <a:srgbClr val="1A1A1A"/>
                </a:solidFill>
              </a:rPr>
              <a:t>•  Weather: temperature, humidity, wind speed / direction, pressure, rain, solar radiation</a:t>
            </a:r>
          </a:p>
          <a:p>
            <a:pPr>
              <a:spcAft>
                <a:spcPts val="400"/>
              </a:spcAft>
            </a:pPr>
            <a:r>
              <a:rPr sz="1150">
                <a:solidFill>
                  <a:srgbClr val="1A1A1A"/>
                </a:solidFill>
              </a:rPr>
              <a:t>•  Context: traffic_index, urbanization_index, climate_type, is_rush_hour; provenance: data_source, *_was_imputed</a:t>
            </a:r>
          </a:p>
          <a:p>
            <a:pPr>
              <a:spcAft>
                <a:spcPts val="400"/>
              </a:spcAft>
            </a:pPr>
            <a:r>
              <a:rPr sz="1150">
                <a:solidFill>
                  <a:srgbClr val="1A1A1A"/>
                </a:solidFill>
              </a:rPr>
              <a:t>•  Clean layer 32 columns → model input 54 numeric + 32 one-hot = 86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System Architecture</a:t>
            </a:r>
          </a:p>
        </p:txBody>
      </p:sp>
      <p:sp>
        <p:nvSpPr>
          <p:cNvPr id="4" name="TextBox 3"/>
          <p:cNvSpPr txBox="1"/>
          <p:nvPr/>
        </p:nvSpPr>
        <p:spPr>
          <a:xfrm>
            <a:off x="548640" y="1097280"/>
            <a:ext cx="2377440" cy="274320"/>
          </a:xfrm>
          <a:prstGeom prst="rect">
            <a:avLst/>
          </a:prstGeom>
          <a:noFill/>
        </p:spPr>
        <p:txBody>
          <a:bodyPr wrap="square" anchor="t" lIns="0" rIns="0" tIns="0" bIns="0">
            <a:spAutoFit/>
          </a:bodyPr>
          <a:lstStyle/>
          <a:p>
            <a:r>
              <a:rPr sz="1100" b="1" i="0">
                <a:solidFill>
                  <a:srgbClr val="6B7785"/>
                </a:solidFill>
              </a:rPr>
              <a:t>DATA SOURCES</a:t>
            </a:r>
          </a:p>
        </p:txBody>
      </p:sp>
      <p:sp>
        <p:nvSpPr>
          <p:cNvPr id="5" name="Rectangle 4"/>
          <p:cNvSpPr/>
          <p:nvPr/>
        </p:nvSpPr>
        <p:spPr>
          <a:xfrm>
            <a:off x="548640" y="1371600"/>
            <a:ext cx="2377440" cy="82296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3" y="1371600"/>
            <a:ext cx="2267712" cy="822960"/>
          </a:xfrm>
          <a:prstGeom prst="rect">
            <a:avLst/>
          </a:prstGeom>
          <a:noFill/>
        </p:spPr>
        <p:txBody>
          <a:bodyPr wrap="square" anchor="ctr" lIns="0" rIns="0" tIns="0" bIns="0">
            <a:spAutoFit/>
          </a:bodyPr>
          <a:lstStyle/>
          <a:p>
            <a:pPr algn="ctr"/>
            <a:r>
              <a:rPr sz="1200" b="1" i="0">
                <a:solidFill>
                  <a:srgbClr val="FFFFFF"/>
                </a:solidFill>
              </a:rPr>
              <a:t>CPCB stations CSV</a:t>
            </a:r>
          </a:p>
          <a:p>
            <a:pPr algn="ctr"/>
            <a:r>
              <a:rPr sz="1200" b="1" i="0">
                <a:solidFill>
                  <a:srgbClr val="FFFFFF"/>
                </a:solidFill>
              </a:rPr>
              <a:t>146.3 M rows</a:t>
            </a:r>
          </a:p>
        </p:txBody>
      </p:sp>
      <p:sp>
        <p:nvSpPr>
          <p:cNvPr id="7" name="Rectangle 6"/>
          <p:cNvSpPr/>
          <p:nvPr/>
        </p:nvSpPr>
        <p:spPr>
          <a:xfrm>
            <a:off x="548640" y="2377440"/>
            <a:ext cx="2377440" cy="8229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3" y="2377440"/>
            <a:ext cx="2267712" cy="822960"/>
          </a:xfrm>
          <a:prstGeom prst="rect">
            <a:avLst/>
          </a:prstGeom>
          <a:noFill/>
        </p:spPr>
        <p:txBody>
          <a:bodyPr wrap="square" anchor="ctr" lIns="0" rIns="0" tIns="0" bIns="0">
            <a:spAutoFit/>
          </a:bodyPr>
          <a:lstStyle/>
          <a:p>
            <a:pPr algn="ctr"/>
            <a:r>
              <a:rPr sz="1200" b="1" i="0">
                <a:solidFill>
                  <a:srgbClr val="FFFFFF"/>
                </a:solidFill>
              </a:rPr>
              <a:t>CAMS history JSON</a:t>
            </a:r>
          </a:p>
          <a:p>
            <a:pPr algn="ctr"/>
            <a:r>
              <a:rPr sz="1200" b="1" i="0">
                <a:solidFill>
                  <a:srgbClr val="FFFFFF"/>
                </a:solidFill>
              </a:rPr>
              <a:t>8.3 M rows</a:t>
            </a:r>
          </a:p>
        </p:txBody>
      </p:sp>
      <p:sp>
        <p:nvSpPr>
          <p:cNvPr id="9" name="Rectangle 8"/>
          <p:cNvSpPr/>
          <p:nvPr/>
        </p:nvSpPr>
        <p:spPr>
          <a:xfrm>
            <a:off x="548640" y="3383280"/>
            <a:ext cx="2377440" cy="8229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3" y="3383280"/>
            <a:ext cx="2267712" cy="822960"/>
          </a:xfrm>
          <a:prstGeom prst="rect">
            <a:avLst/>
          </a:prstGeom>
          <a:noFill/>
        </p:spPr>
        <p:txBody>
          <a:bodyPr wrap="square" anchor="ctr" lIns="0" rIns="0" tIns="0" bIns="0">
            <a:spAutoFit/>
          </a:bodyPr>
          <a:lstStyle/>
          <a:p>
            <a:pPr algn="ctr"/>
            <a:r>
              <a:rPr sz="1200" b="1" i="0">
                <a:solidFill>
                  <a:srgbClr val="FFFFFF"/>
                </a:solidFill>
              </a:rPr>
              <a:t>CAMS + weather</a:t>
            </a:r>
          </a:p>
          <a:p>
            <a:pPr algn="ctr"/>
            <a:r>
              <a:rPr sz="1200" b="1" i="0">
                <a:solidFill>
                  <a:srgbClr val="FFFFFF"/>
                </a:solidFill>
              </a:rPr>
              <a:t>live APIs (230 cities)</a:t>
            </a:r>
          </a:p>
        </p:txBody>
      </p:sp>
      <p:sp>
        <p:nvSpPr>
          <p:cNvPr id="11" name="Rectangle 10"/>
          <p:cNvSpPr/>
          <p:nvPr/>
        </p:nvSpPr>
        <p:spPr>
          <a:xfrm>
            <a:off x="548640" y="4389120"/>
            <a:ext cx="2377440" cy="82296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3" y="4389120"/>
            <a:ext cx="2267712" cy="822960"/>
          </a:xfrm>
          <a:prstGeom prst="rect">
            <a:avLst/>
          </a:prstGeom>
          <a:noFill/>
        </p:spPr>
        <p:txBody>
          <a:bodyPr wrap="square" anchor="ctr" lIns="0" rIns="0" tIns="0" bIns="0">
            <a:spAutoFit/>
          </a:bodyPr>
          <a:lstStyle/>
          <a:p>
            <a:pPr algn="ctr"/>
            <a:r>
              <a:rPr sz="1200" b="1" i="0">
                <a:solidFill>
                  <a:srgbClr val="FFFFFF"/>
                </a:solidFill>
              </a:rPr>
              <a:t>city_profiles.csv</a:t>
            </a:r>
          </a:p>
          <a:p>
            <a:pPr algn="ctr"/>
            <a:r>
              <a:rPr sz="1200" b="1" i="0">
                <a:solidFill>
                  <a:srgbClr val="FFFFFF"/>
                </a:solidFill>
              </a:rPr>
              <a:t>traffic, urbanization</a:t>
            </a:r>
          </a:p>
        </p:txBody>
      </p:sp>
      <p:cxnSp>
        <p:nvCxnSpPr>
          <p:cNvPr id="13" name="Connector 12"/>
          <p:cNvCxnSpPr/>
          <p:nvPr/>
        </p:nvCxnSpPr>
        <p:spPr>
          <a:xfrm>
            <a:off x="2926080" y="1783080"/>
            <a:ext cx="502920" cy="150876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26080" y="2788920"/>
            <a:ext cx="502920" cy="50292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926080" y="3291840"/>
            <a:ext cx="502920" cy="50292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926080" y="3291840"/>
            <a:ext cx="502920" cy="150876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429000" y="1097280"/>
            <a:ext cx="2194560" cy="274320"/>
          </a:xfrm>
          <a:prstGeom prst="rect">
            <a:avLst/>
          </a:prstGeom>
          <a:noFill/>
        </p:spPr>
        <p:txBody>
          <a:bodyPr wrap="square" anchor="t" lIns="0" rIns="0" tIns="0" bIns="0">
            <a:spAutoFit/>
          </a:bodyPr>
          <a:lstStyle/>
          <a:p>
            <a:r>
              <a:rPr sz="1100" b="1" i="0">
                <a:solidFill>
                  <a:srgbClr val="6B7785"/>
                </a:solidFill>
              </a:rPr>
              <a:t>STORAGE</a:t>
            </a:r>
          </a:p>
        </p:txBody>
      </p:sp>
      <p:sp>
        <p:nvSpPr>
          <p:cNvPr id="18" name="Rectangle 17"/>
          <p:cNvSpPr/>
          <p:nvPr/>
        </p:nvSpPr>
        <p:spPr>
          <a:xfrm>
            <a:off x="3429000" y="1371600"/>
            <a:ext cx="2194560" cy="38404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1371600"/>
            <a:ext cx="2084831" cy="3840480"/>
          </a:xfrm>
          <a:prstGeom prst="rect">
            <a:avLst/>
          </a:prstGeom>
          <a:noFill/>
        </p:spPr>
        <p:txBody>
          <a:bodyPr wrap="square" anchor="ctr" lIns="0" rIns="0" tIns="0" bIns="0">
            <a:spAutoFit/>
          </a:bodyPr>
          <a:lstStyle/>
          <a:p>
            <a:pPr algn="ctr"/>
            <a:r>
              <a:rPr sz="1300" b="1" i="0">
                <a:solidFill>
                  <a:srgbClr val="FFFFFF"/>
                </a:solidFill>
              </a:rPr>
              <a:t>HDFS lakehouse</a:t>
            </a:r>
          </a:p>
          <a:p>
            <a:pPr algn="ctr"/>
            <a:r>
              <a:rPr sz="1300" b="1" i="0">
                <a:solidFill>
                  <a:srgbClr val="FFFFFF"/>
                </a:solidFill>
              </a:rPr>
              <a:t/>
            </a:r>
          </a:p>
          <a:p>
            <a:pPr algn="ctr"/>
            <a:r>
              <a:rPr sz="1300" b="1" i="0">
                <a:solidFill>
                  <a:srgbClr val="FFFFFF"/>
                </a:solidFill>
              </a:rPr>
              <a:t>1 NameNode</a:t>
            </a:r>
          </a:p>
          <a:p>
            <a:pPr algn="ctr"/>
            <a:r>
              <a:rPr sz="1300" b="1" i="0">
                <a:solidFill>
                  <a:srgbClr val="FFFFFF"/>
                </a:solidFill>
              </a:rPr>
              <a:t>4 DataNodes</a:t>
            </a:r>
          </a:p>
          <a:p>
            <a:pPr algn="ctr"/>
            <a:r>
              <a:rPr sz="1300" b="1" i="0">
                <a:solidFill>
                  <a:srgbClr val="FFFFFF"/>
                </a:solidFill>
              </a:rPr>
              <a:t>128 MB blocks</a:t>
            </a:r>
          </a:p>
          <a:p>
            <a:pPr algn="ctr"/>
            <a:r>
              <a:rPr sz="1300" b="1" i="0">
                <a:solidFill>
                  <a:srgbClr val="FFFFFF"/>
                </a:solidFill>
              </a:rPr>
              <a:t>3× replication</a:t>
            </a:r>
          </a:p>
          <a:p>
            <a:pPr algn="ctr"/>
            <a:r>
              <a:rPr sz="1300" b="1" i="0">
                <a:solidFill>
                  <a:srgbClr val="FFFFFF"/>
                </a:solidFill>
              </a:rPr>
              <a:t/>
            </a:r>
          </a:p>
          <a:p>
            <a:pPr algn="ctr"/>
            <a:r>
              <a:rPr sz="1300" b="1" i="0">
                <a:solidFill>
                  <a:srgbClr val="FFFFFF"/>
                </a:solidFill>
              </a:rPr>
              <a:t>raw → clean → features</a:t>
            </a:r>
          </a:p>
          <a:p>
            <a:pPr algn="ctr"/>
            <a:r>
              <a:rPr sz="1300" b="1" i="0">
                <a:solidFill>
                  <a:srgbClr val="FFFFFF"/>
                </a:solidFill>
              </a:rPr>
              <a:t>→ unified → stream</a:t>
            </a:r>
          </a:p>
        </p:txBody>
      </p:sp>
      <p:cxnSp>
        <p:nvCxnSpPr>
          <p:cNvPr id="20" name="Connector 19"/>
          <p:cNvCxnSpPr/>
          <p:nvPr/>
        </p:nvCxnSpPr>
        <p:spPr>
          <a:xfrm>
            <a:off x="5623560" y="3291840"/>
            <a:ext cx="54864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1097280"/>
            <a:ext cx="3657600" cy="274320"/>
          </a:xfrm>
          <a:prstGeom prst="rect">
            <a:avLst/>
          </a:prstGeom>
          <a:noFill/>
        </p:spPr>
        <p:txBody>
          <a:bodyPr wrap="square" anchor="t" lIns="0" rIns="0" tIns="0" bIns="0">
            <a:spAutoFit/>
          </a:bodyPr>
          <a:lstStyle/>
          <a:p>
            <a:r>
              <a:rPr sz="1100" b="1" i="0">
                <a:solidFill>
                  <a:srgbClr val="6B7785"/>
                </a:solidFill>
              </a:rPr>
              <a:t>SPARK CLUSTER (YARN: 1 RM + 4 NM)</a:t>
            </a:r>
          </a:p>
        </p:txBody>
      </p:sp>
      <p:sp>
        <p:nvSpPr>
          <p:cNvPr id="22" name="Rectangle 21"/>
          <p:cNvSpPr/>
          <p:nvPr/>
        </p:nvSpPr>
        <p:spPr>
          <a:xfrm>
            <a:off x="6172200" y="1371600"/>
            <a:ext cx="3566160" cy="3840480"/>
          </a:xfrm>
          <a:prstGeom prst="rect">
            <a:avLst/>
          </a:prstGeom>
          <a:solidFill>
            <a:srgbClr val="E9F1F6"/>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1417320"/>
            <a:ext cx="3291840" cy="274320"/>
          </a:xfrm>
          <a:prstGeom prst="rect">
            <a:avLst/>
          </a:prstGeom>
          <a:noFill/>
        </p:spPr>
        <p:txBody>
          <a:bodyPr wrap="square" anchor="t" lIns="0" rIns="0" tIns="0" bIns="0">
            <a:spAutoFit/>
          </a:bodyPr>
          <a:lstStyle/>
          <a:p>
            <a:r>
              <a:rPr sz="1100" b="1" i="0">
                <a:solidFill>
                  <a:srgbClr val="0B5F8A"/>
                </a:solidFill>
              </a:rPr>
              <a:t>Scala 2.12 jobs (sbt jar)</a:t>
            </a:r>
          </a:p>
        </p:txBody>
      </p:sp>
      <p:sp>
        <p:nvSpPr>
          <p:cNvPr id="24" name="Rectangle 23"/>
          <p:cNvSpPr/>
          <p:nvPr/>
        </p:nvSpPr>
        <p:spPr>
          <a:xfrm>
            <a:off x="6309360" y="1737360"/>
            <a:ext cx="1600200" cy="73152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1737360"/>
            <a:ext cx="1490472" cy="731520"/>
          </a:xfrm>
          <a:prstGeom prst="rect">
            <a:avLst/>
          </a:prstGeom>
          <a:noFill/>
        </p:spPr>
        <p:txBody>
          <a:bodyPr wrap="square" anchor="ctr" lIns="0" rIns="0" tIns="0" bIns="0">
            <a:spAutoFit/>
          </a:bodyPr>
          <a:lstStyle/>
          <a:p>
            <a:pPr algn="ctr"/>
            <a:r>
              <a:rPr sz="1100" b="1" i="0">
                <a:solidFill>
                  <a:srgbClr val="1A1A1A"/>
                </a:solidFill>
              </a:rPr>
              <a:t>CleanSelect</a:t>
            </a:r>
          </a:p>
          <a:p>
            <a:pPr algn="ctr"/>
            <a:r>
              <a:rPr sz="1100" b="1" i="0">
                <a:solidFill>
                  <a:srgbClr val="1A1A1A"/>
                </a:solidFill>
              </a:rPr>
              <a:t>clean + impute</a:t>
            </a:r>
          </a:p>
        </p:txBody>
      </p:sp>
      <p:sp>
        <p:nvSpPr>
          <p:cNvPr id="26" name="Rectangle 25"/>
          <p:cNvSpPr/>
          <p:nvPr/>
        </p:nvSpPr>
        <p:spPr>
          <a:xfrm>
            <a:off x="8046720" y="1737360"/>
            <a:ext cx="1600200" cy="73152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1584" y="1737360"/>
            <a:ext cx="1490472" cy="731520"/>
          </a:xfrm>
          <a:prstGeom prst="rect">
            <a:avLst/>
          </a:prstGeom>
          <a:noFill/>
        </p:spPr>
        <p:txBody>
          <a:bodyPr wrap="square" anchor="ctr" lIns="0" rIns="0" tIns="0" bIns="0">
            <a:spAutoFit/>
          </a:bodyPr>
          <a:lstStyle/>
          <a:p>
            <a:pPr algn="ctr"/>
            <a:r>
              <a:rPr sz="1100" b="1" i="0">
                <a:solidFill>
                  <a:srgbClr val="1A1A1A"/>
                </a:solidFill>
              </a:rPr>
              <a:t>FeatureExtraction</a:t>
            </a:r>
          </a:p>
          <a:p>
            <a:pPr algn="ctr"/>
            <a:r>
              <a:rPr sz="1100" b="1" i="0">
                <a:solidFill>
                  <a:srgbClr val="1A1A1A"/>
                </a:solidFill>
              </a:rPr>
              <a:t>86 features</a:t>
            </a:r>
          </a:p>
        </p:txBody>
      </p:sp>
      <p:sp>
        <p:nvSpPr>
          <p:cNvPr id="28" name="Rectangle 27"/>
          <p:cNvSpPr/>
          <p:nvPr/>
        </p:nvSpPr>
        <p:spPr>
          <a:xfrm>
            <a:off x="6309360" y="2560320"/>
            <a:ext cx="1600200" cy="73152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2560320"/>
            <a:ext cx="1490472" cy="731520"/>
          </a:xfrm>
          <a:prstGeom prst="rect">
            <a:avLst/>
          </a:prstGeom>
          <a:noFill/>
        </p:spPr>
        <p:txBody>
          <a:bodyPr wrap="square" anchor="ctr" lIns="0" rIns="0" tIns="0" bIns="0">
            <a:spAutoFit/>
          </a:bodyPr>
          <a:lstStyle/>
          <a:p>
            <a:pPr algn="ctr"/>
            <a:r>
              <a:rPr sz="1100" b="1" i="0">
                <a:solidFill>
                  <a:srgbClr val="1A1A1A"/>
                </a:solidFill>
              </a:rPr>
              <a:t>LiveEnrichment</a:t>
            </a:r>
          </a:p>
          <a:p>
            <a:pPr algn="ctr"/>
            <a:r>
              <a:rPr sz="1100" b="1" i="0">
                <a:solidFill>
                  <a:srgbClr val="1A1A1A"/>
                </a:solidFill>
              </a:rPr>
              <a:t>CAMS+weather</a:t>
            </a:r>
          </a:p>
        </p:txBody>
      </p:sp>
      <p:sp>
        <p:nvSpPr>
          <p:cNvPr id="30" name="Rectangle 29"/>
          <p:cNvSpPr/>
          <p:nvPr/>
        </p:nvSpPr>
        <p:spPr>
          <a:xfrm>
            <a:off x="8046720" y="2560320"/>
            <a:ext cx="1600200" cy="731520"/>
          </a:xfrm>
          <a:prstGeom prst="rect">
            <a:avLst/>
          </a:prstGeom>
          <a:solidFill>
            <a:srgbClr val="D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2560320"/>
            <a:ext cx="1490472" cy="731520"/>
          </a:xfrm>
          <a:prstGeom prst="rect">
            <a:avLst/>
          </a:prstGeom>
          <a:noFill/>
        </p:spPr>
        <p:txBody>
          <a:bodyPr wrap="square" anchor="ctr" lIns="0" rIns="0" tIns="0" bIns="0">
            <a:spAutoFit/>
          </a:bodyPr>
          <a:lstStyle/>
          <a:p>
            <a:pPr algn="ctr"/>
            <a:r>
              <a:rPr sz="1100" b="1" i="0">
                <a:solidFill>
                  <a:srgbClr val="1A1A1A"/>
                </a:solidFill>
              </a:rPr>
              <a:t>AirQualityStream</a:t>
            </a:r>
          </a:p>
          <a:p>
            <a:pPr algn="ctr"/>
            <a:r>
              <a:rPr sz="1100" b="1" i="0">
                <a:solidFill>
                  <a:srgbClr val="1A1A1A"/>
                </a:solidFill>
              </a:rPr>
              <a:t>10 s micro-batch</a:t>
            </a:r>
          </a:p>
        </p:txBody>
      </p:sp>
      <p:sp>
        <p:nvSpPr>
          <p:cNvPr id="32" name="TextBox 31"/>
          <p:cNvSpPr txBox="1"/>
          <p:nvPr/>
        </p:nvSpPr>
        <p:spPr>
          <a:xfrm>
            <a:off x="6309360" y="3429000"/>
            <a:ext cx="3291840" cy="274320"/>
          </a:xfrm>
          <a:prstGeom prst="rect">
            <a:avLst/>
          </a:prstGeom>
          <a:noFill/>
        </p:spPr>
        <p:txBody>
          <a:bodyPr wrap="square" anchor="t" lIns="0" rIns="0" tIns="0" bIns="0">
            <a:spAutoFit/>
          </a:bodyPr>
          <a:lstStyle/>
          <a:p>
            <a:r>
              <a:rPr sz="1100" b="1" i="0">
                <a:solidFill>
                  <a:srgbClr val="0B5F8A"/>
                </a:solidFill>
              </a:rPr>
              <a:t>PySpark + MLlib</a:t>
            </a:r>
          </a:p>
        </p:txBody>
      </p:sp>
      <p:sp>
        <p:nvSpPr>
          <p:cNvPr id="33" name="Rectangle 32"/>
          <p:cNvSpPr/>
          <p:nvPr/>
        </p:nvSpPr>
        <p:spPr>
          <a:xfrm>
            <a:off x="6309360" y="3749039"/>
            <a:ext cx="3337560" cy="64008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3749039"/>
            <a:ext cx="3227832" cy="640080"/>
          </a:xfrm>
          <a:prstGeom prst="rect">
            <a:avLst/>
          </a:prstGeom>
          <a:noFill/>
        </p:spPr>
        <p:txBody>
          <a:bodyPr wrap="square" anchor="ctr" lIns="0" rIns="0" tIns="0" bIns="0">
            <a:spAutoFit/>
          </a:bodyPr>
          <a:lstStyle/>
          <a:p>
            <a:pPr algn="ctr"/>
            <a:r>
              <a:rPr sz="1200" b="1" i="0">
                <a:solidFill>
                  <a:srgbClr val="FFFFFF"/>
                </a:solidFill>
              </a:rPr>
              <a:t>GBTRegressor — 300 trees, delta target</a:t>
            </a:r>
          </a:p>
        </p:txBody>
      </p:sp>
      <p:sp>
        <p:nvSpPr>
          <p:cNvPr id="35" name="Rectangle 34"/>
          <p:cNvSpPr/>
          <p:nvPr/>
        </p:nvSpPr>
        <p:spPr>
          <a:xfrm>
            <a:off x="6309360" y="4480560"/>
            <a:ext cx="3337560" cy="59436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4224" y="4480560"/>
            <a:ext cx="3227832" cy="594360"/>
          </a:xfrm>
          <a:prstGeom prst="rect">
            <a:avLst/>
          </a:prstGeom>
          <a:noFill/>
        </p:spPr>
        <p:txBody>
          <a:bodyPr wrap="square" anchor="ctr" lIns="0" rIns="0" tIns="0" bIns="0">
            <a:spAutoFit/>
          </a:bodyPr>
          <a:lstStyle/>
          <a:p>
            <a:pPr algn="ctr"/>
            <a:r>
              <a:rPr sz="1100" b="1" i="0">
                <a:solidFill>
                  <a:srgbClr val="1A1A1A"/>
                </a:solidFill>
              </a:rPr>
              <a:t>Validation + cross-check (5 paired tests)</a:t>
            </a:r>
          </a:p>
        </p:txBody>
      </p:sp>
      <p:cxnSp>
        <p:nvCxnSpPr>
          <p:cNvPr id="37" name="Connector 36"/>
          <p:cNvCxnSpPr/>
          <p:nvPr/>
        </p:nvCxnSpPr>
        <p:spPr>
          <a:xfrm>
            <a:off x="9738360" y="3291840"/>
            <a:ext cx="50292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241280" y="1097280"/>
            <a:ext cx="1463040" cy="274320"/>
          </a:xfrm>
          <a:prstGeom prst="rect">
            <a:avLst/>
          </a:prstGeom>
          <a:noFill/>
        </p:spPr>
        <p:txBody>
          <a:bodyPr wrap="square" anchor="t" lIns="0" rIns="0" tIns="0" bIns="0">
            <a:spAutoFit/>
          </a:bodyPr>
          <a:lstStyle/>
          <a:p>
            <a:r>
              <a:rPr sz="1100" b="1" i="0">
                <a:solidFill>
                  <a:srgbClr val="6B7785"/>
                </a:solidFill>
              </a:rPr>
              <a:t>OUTPUT</a:t>
            </a:r>
          </a:p>
        </p:txBody>
      </p:sp>
      <p:sp>
        <p:nvSpPr>
          <p:cNvPr id="39" name="Rectangle 38"/>
          <p:cNvSpPr/>
          <p:nvPr/>
        </p:nvSpPr>
        <p:spPr>
          <a:xfrm>
            <a:off x="10241280" y="1371600"/>
            <a:ext cx="1417320" cy="109728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96144" y="1371600"/>
            <a:ext cx="1307592" cy="1097280"/>
          </a:xfrm>
          <a:prstGeom prst="rect">
            <a:avLst/>
          </a:prstGeom>
          <a:noFill/>
        </p:spPr>
        <p:txBody>
          <a:bodyPr wrap="square" anchor="ctr" lIns="0" rIns="0" tIns="0" bIns="0">
            <a:spAutoFit/>
          </a:bodyPr>
          <a:lstStyle/>
          <a:p>
            <a:pPr algn="ctr"/>
            <a:r>
              <a:rPr sz="1100" b="1" i="0">
                <a:solidFill>
                  <a:srgbClr val="FFFFFF"/>
                </a:solidFill>
              </a:rPr>
              <a:t>Hive</a:t>
            </a:r>
          </a:p>
          <a:p>
            <a:pPr algn="ctr"/>
            <a:r>
              <a:rPr sz="1100" b="1" i="0">
                <a:solidFill>
                  <a:srgbClr val="FFFFFF"/>
                </a:solidFill>
              </a:rPr>
              <a:t>external</a:t>
            </a:r>
          </a:p>
          <a:p>
            <a:pPr algn="ctr"/>
            <a:r>
              <a:rPr sz="1100" b="1" i="0">
                <a:solidFill>
                  <a:srgbClr val="FFFFFF"/>
                </a:solidFill>
              </a:rPr>
              <a:t>tables</a:t>
            </a:r>
          </a:p>
        </p:txBody>
      </p:sp>
      <p:sp>
        <p:nvSpPr>
          <p:cNvPr id="41" name="Rectangle 40"/>
          <p:cNvSpPr/>
          <p:nvPr/>
        </p:nvSpPr>
        <p:spPr>
          <a:xfrm>
            <a:off x="10241280" y="2606040"/>
            <a:ext cx="1417320" cy="109728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96144" y="2606040"/>
            <a:ext cx="1307592" cy="1097280"/>
          </a:xfrm>
          <a:prstGeom prst="rect">
            <a:avLst/>
          </a:prstGeom>
          <a:noFill/>
        </p:spPr>
        <p:txBody>
          <a:bodyPr wrap="square" anchor="ctr" lIns="0" rIns="0" tIns="0" bIns="0">
            <a:spAutoFit/>
          </a:bodyPr>
          <a:lstStyle/>
          <a:p>
            <a:pPr algn="ctr"/>
            <a:r>
              <a:rPr sz="1100" b="1" i="0">
                <a:solidFill>
                  <a:srgbClr val="FFFFFF"/>
                </a:solidFill>
              </a:rPr>
              <a:t>Alert</a:t>
            </a:r>
          </a:p>
          <a:p>
            <a:pPr algn="ctr"/>
            <a:r>
              <a:rPr sz="1100" b="1" i="0">
                <a:solidFill>
                  <a:srgbClr val="FFFFFF"/>
                </a:solidFill>
              </a:rPr>
              <a:t>engine</a:t>
            </a:r>
          </a:p>
          <a:p>
            <a:pPr algn="ctr"/>
            <a:r>
              <a:rPr sz="1100" b="1" i="0">
                <a:solidFill>
                  <a:srgbClr val="FFFFFF"/>
                </a:solidFill>
              </a:rPr>
              <a:t>AQI &gt; 150</a:t>
            </a:r>
          </a:p>
        </p:txBody>
      </p:sp>
      <p:sp>
        <p:nvSpPr>
          <p:cNvPr id="43" name="Rectangle 42"/>
          <p:cNvSpPr/>
          <p:nvPr/>
        </p:nvSpPr>
        <p:spPr>
          <a:xfrm>
            <a:off x="10241280" y="3840480"/>
            <a:ext cx="1417320" cy="13716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6144" y="3840480"/>
            <a:ext cx="1307592" cy="1371600"/>
          </a:xfrm>
          <a:prstGeom prst="rect">
            <a:avLst/>
          </a:prstGeom>
          <a:noFill/>
        </p:spPr>
        <p:txBody>
          <a:bodyPr wrap="square" anchor="ctr" lIns="0" rIns="0" tIns="0" bIns="0">
            <a:spAutoFit/>
          </a:bodyPr>
          <a:lstStyle/>
          <a:p>
            <a:pPr algn="ctr"/>
            <a:r>
              <a:rPr sz="1100" b="1" i="0">
                <a:solidFill>
                  <a:srgbClr val="FFFFFF"/>
                </a:solidFill>
              </a:rPr>
              <a:t>Warning</a:t>
            </a:r>
          </a:p>
          <a:p>
            <a:pPr algn="ctr"/>
            <a:r>
              <a:rPr sz="1100" b="1" i="0">
                <a:solidFill>
                  <a:srgbClr val="FFFFFF"/>
                </a:solidFill>
              </a:rPr>
              <a:t>board +</a:t>
            </a:r>
          </a:p>
          <a:p>
            <a:pPr algn="ctr"/>
            <a:r>
              <a:rPr sz="1100" b="1" i="0">
                <a:solidFill>
                  <a:srgbClr val="FFFFFF"/>
                </a:solidFill>
              </a:rPr>
              <a:t>Telegram</a:t>
            </a:r>
          </a:p>
        </p:txBody>
      </p:sp>
      <p:sp>
        <p:nvSpPr>
          <p:cNvPr id="45" name="Rectangle 44"/>
          <p:cNvSpPr/>
          <p:nvPr/>
        </p:nvSpPr>
        <p:spPr>
          <a:xfrm>
            <a:off x="548640" y="5440680"/>
            <a:ext cx="11109960" cy="82296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5495544"/>
            <a:ext cx="10780776" cy="713232"/>
          </a:xfrm>
          <a:prstGeom prst="rect">
            <a:avLst/>
          </a:prstGeom>
          <a:noFill/>
        </p:spPr>
        <p:txBody>
          <a:bodyPr wrap="square" anchor="ctr" lIns="0" rIns="0" tIns="0" bIns="0">
            <a:spAutoFit/>
          </a:bodyPr>
          <a:lstStyle/>
          <a:p>
            <a:r>
              <a:rPr sz="1300" b="0" i="0">
                <a:solidFill>
                  <a:srgbClr val="1A1A1A"/>
                </a:solidFill>
              </a:rPr>
              <a:t>Lambda-style: a batch layer trains on 13 years of history; a speed layer scores live data against the same model. The trained model is stored in HDFS and loaded by the streaming job.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Spark Workflow — DataFrame Operations, DAG, Partitioning, Caching</a:t>
            </a:r>
          </a:p>
        </p:txBody>
      </p:sp>
      <p:sp>
        <p:nvSpPr>
          <p:cNvPr id="4" name="TextBox 3"/>
          <p:cNvSpPr txBox="1"/>
          <p:nvPr/>
        </p:nvSpPr>
        <p:spPr>
          <a:xfrm>
            <a:off x="548640" y="1097280"/>
            <a:ext cx="7315200" cy="274320"/>
          </a:xfrm>
          <a:prstGeom prst="rect">
            <a:avLst/>
          </a:prstGeom>
          <a:noFill/>
        </p:spPr>
        <p:txBody>
          <a:bodyPr wrap="square" anchor="t" lIns="0" rIns="0" tIns="0" bIns="0">
            <a:spAutoFit/>
          </a:bodyPr>
          <a:lstStyle/>
          <a:p>
            <a:r>
              <a:rPr sz="1400" b="1" i="0">
                <a:solidFill>
                  <a:srgbClr val="0B5F8A"/>
                </a:solidFill>
              </a:rPr>
              <a:t>DAG of the feature-engineering job (Phase 4)</a:t>
            </a:r>
          </a:p>
        </p:txBody>
      </p:sp>
      <p:sp>
        <p:nvSpPr>
          <p:cNvPr id="5" name="Rectangle 4"/>
          <p:cNvSpPr/>
          <p:nvPr/>
        </p:nvSpPr>
        <p:spPr>
          <a:xfrm>
            <a:off x="548640" y="1463040"/>
            <a:ext cx="1691640" cy="105156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90472"/>
            <a:ext cx="1600200" cy="457200"/>
          </a:xfrm>
          <a:prstGeom prst="rect">
            <a:avLst/>
          </a:prstGeom>
          <a:noFill/>
        </p:spPr>
        <p:txBody>
          <a:bodyPr wrap="square" anchor="ctr" lIns="0" rIns="0" tIns="0" bIns="0">
            <a:spAutoFit/>
          </a:bodyPr>
          <a:lstStyle/>
          <a:p>
            <a:pPr algn="ctr"/>
            <a:r>
              <a:rPr sz="1200" b="1" i="0">
                <a:solidFill>
                  <a:srgbClr val="1A1A1A"/>
                </a:solidFill>
              </a:rPr>
              <a:t>Scan Parquet</a:t>
            </a:r>
          </a:p>
        </p:txBody>
      </p:sp>
      <p:sp>
        <p:nvSpPr>
          <p:cNvPr id="7" name="TextBox 6"/>
          <p:cNvSpPr txBox="1"/>
          <p:nvPr/>
        </p:nvSpPr>
        <p:spPr>
          <a:xfrm>
            <a:off x="594360" y="1965960"/>
            <a:ext cx="1600200" cy="502920"/>
          </a:xfrm>
          <a:prstGeom prst="rect">
            <a:avLst/>
          </a:prstGeom>
          <a:noFill/>
        </p:spPr>
        <p:txBody>
          <a:bodyPr wrap="square" anchor="t" lIns="0" rIns="0" tIns="0" bIns="0">
            <a:spAutoFit/>
          </a:bodyPr>
          <a:lstStyle/>
          <a:p>
            <a:pPr algn="ctr"/>
            <a:r>
              <a:rPr sz="1050" b="0" i="0">
                <a:solidFill>
                  <a:srgbClr val="5A6673"/>
                </a:solidFill>
              </a:rPr>
              <a:t>232 tasks</a:t>
            </a:r>
          </a:p>
          <a:p>
            <a:pPr algn="ctr"/>
            <a:r>
              <a:rPr sz="1050" b="0" i="0">
                <a:solidFill>
                  <a:srgbClr val="5A6673"/>
                </a:solidFill>
              </a:rPr>
              <a:t>(1 per block)</a:t>
            </a:r>
          </a:p>
        </p:txBody>
      </p:sp>
      <p:sp>
        <p:nvSpPr>
          <p:cNvPr id="8" name="Rectangle 7"/>
          <p:cNvSpPr/>
          <p:nvPr/>
        </p:nvSpPr>
        <p:spPr>
          <a:xfrm>
            <a:off x="2423160" y="1463040"/>
            <a:ext cx="1691640" cy="1051560"/>
          </a:xfrm>
          <a:prstGeom prst="rect">
            <a:avLst/>
          </a:prstGeom>
          <a:solidFill>
            <a:srgbClr val="FBEFD0"/>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79" y="1490472"/>
            <a:ext cx="1600200" cy="457200"/>
          </a:xfrm>
          <a:prstGeom prst="rect">
            <a:avLst/>
          </a:prstGeom>
          <a:noFill/>
        </p:spPr>
        <p:txBody>
          <a:bodyPr wrap="square" anchor="ctr" lIns="0" rIns="0" tIns="0" bIns="0">
            <a:spAutoFit/>
          </a:bodyPr>
          <a:lstStyle/>
          <a:p>
            <a:pPr algn="ctr"/>
            <a:r>
              <a:rPr sz="1200" b="1" i="0">
                <a:solidFill>
                  <a:srgbClr val="1A1A1A"/>
                </a:solidFill>
              </a:rPr>
              <a:t>Dedupe</a:t>
            </a:r>
          </a:p>
        </p:txBody>
      </p:sp>
      <p:sp>
        <p:nvSpPr>
          <p:cNvPr id="10" name="TextBox 9"/>
          <p:cNvSpPr txBox="1"/>
          <p:nvPr/>
        </p:nvSpPr>
        <p:spPr>
          <a:xfrm>
            <a:off x="2468879" y="1965960"/>
            <a:ext cx="1600200" cy="502920"/>
          </a:xfrm>
          <a:prstGeom prst="rect">
            <a:avLst/>
          </a:prstGeom>
          <a:noFill/>
        </p:spPr>
        <p:txBody>
          <a:bodyPr wrap="square" anchor="t" lIns="0" rIns="0" tIns="0" bIns="0">
            <a:spAutoFit/>
          </a:bodyPr>
          <a:lstStyle/>
          <a:p>
            <a:pPr algn="ctr"/>
            <a:r>
              <a:rPr sz="1050" b="0" i="0">
                <a:solidFill>
                  <a:srgbClr val="5A6673"/>
                </a:solidFill>
              </a:rPr>
              <a:t>window by</a:t>
            </a:r>
          </a:p>
          <a:p>
            <a:pPr algn="ctr"/>
            <a:r>
              <a:rPr sz="1050" b="0" i="0">
                <a:solidFill>
                  <a:srgbClr val="5A6673"/>
                </a:solidFill>
              </a:rPr>
              <a:t>station, hour</a:t>
            </a:r>
          </a:p>
        </p:txBody>
      </p:sp>
      <p:sp>
        <p:nvSpPr>
          <p:cNvPr id="11" name="Rectangle 10"/>
          <p:cNvSpPr/>
          <p:nvPr/>
        </p:nvSpPr>
        <p:spPr>
          <a:xfrm>
            <a:off x="4297679" y="1463040"/>
            <a:ext cx="1691640" cy="1051560"/>
          </a:xfrm>
          <a:prstGeom prst="rect">
            <a:avLst/>
          </a:prstGeom>
          <a:solidFill>
            <a:srgbClr val="FBEFD0"/>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399" y="1490472"/>
            <a:ext cx="1600200" cy="457200"/>
          </a:xfrm>
          <a:prstGeom prst="rect">
            <a:avLst/>
          </a:prstGeom>
          <a:noFill/>
        </p:spPr>
        <p:txBody>
          <a:bodyPr wrap="square" anchor="ctr" lIns="0" rIns="0" tIns="0" bIns="0">
            <a:spAutoFit/>
          </a:bodyPr>
          <a:lstStyle/>
          <a:p>
            <a:pPr algn="ctr"/>
            <a:r>
              <a:rPr sz="1200" b="1" i="0">
                <a:solidFill>
                  <a:srgbClr val="1A1A1A"/>
                </a:solidFill>
              </a:rPr>
              <a:t>Rolling</a:t>
            </a:r>
          </a:p>
          <a:p>
            <a:pPr algn="ctr"/>
            <a:r>
              <a:rPr sz="1200" b="1" i="0">
                <a:solidFill>
                  <a:srgbClr val="1A1A1A"/>
                </a:solidFill>
              </a:rPr>
              <a:t>features</a:t>
            </a:r>
          </a:p>
        </p:txBody>
      </p:sp>
      <p:sp>
        <p:nvSpPr>
          <p:cNvPr id="13" name="TextBox 12"/>
          <p:cNvSpPr txBox="1"/>
          <p:nvPr/>
        </p:nvSpPr>
        <p:spPr>
          <a:xfrm>
            <a:off x="4343399" y="1965960"/>
            <a:ext cx="1600200" cy="502920"/>
          </a:xfrm>
          <a:prstGeom prst="rect">
            <a:avLst/>
          </a:prstGeom>
          <a:noFill/>
        </p:spPr>
        <p:txBody>
          <a:bodyPr wrap="square" anchor="t" lIns="0" rIns="0" tIns="0" bIns="0">
            <a:spAutoFit/>
          </a:bodyPr>
          <a:lstStyle/>
          <a:p>
            <a:pPr algn="ctr"/>
            <a:r>
              <a:rPr sz="1050" b="0" i="0">
                <a:solidFill>
                  <a:srgbClr val="5A6673"/>
                </a:solidFill>
              </a:rPr>
              <a:t>window</a:t>
            </a:r>
          </a:p>
          <a:p>
            <a:pPr algn="ctr"/>
            <a:r>
              <a:rPr sz="1050" b="0" i="0">
                <a:solidFill>
                  <a:srgbClr val="5A6673"/>
                </a:solidFill>
              </a:rPr>
              <a:t>rangeBetween</a:t>
            </a:r>
          </a:p>
        </p:txBody>
      </p:sp>
      <p:sp>
        <p:nvSpPr>
          <p:cNvPr id="14" name="Rectangle 13"/>
          <p:cNvSpPr/>
          <p:nvPr/>
        </p:nvSpPr>
        <p:spPr>
          <a:xfrm>
            <a:off x="6172199" y="1463040"/>
            <a:ext cx="1691640" cy="105156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19" y="1490472"/>
            <a:ext cx="1600200" cy="457200"/>
          </a:xfrm>
          <a:prstGeom prst="rect">
            <a:avLst/>
          </a:prstGeom>
          <a:noFill/>
        </p:spPr>
        <p:txBody>
          <a:bodyPr wrap="square" anchor="ctr" lIns="0" rIns="0" tIns="0" bIns="0">
            <a:spAutoFit/>
          </a:bodyPr>
          <a:lstStyle/>
          <a:p>
            <a:pPr algn="ctr"/>
            <a:r>
              <a:rPr sz="1200" b="1" i="0">
                <a:solidFill>
                  <a:srgbClr val="1A1A1A"/>
                </a:solidFill>
              </a:rPr>
              <a:t>T+1 label</a:t>
            </a:r>
          </a:p>
        </p:txBody>
      </p:sp>
      <p:sp>
        <p:nvSpPr>
          <p:cNvPr id="16" name="TextBox 15"/>
          <p:cNvSpPr txBox="1"/>
          <p:nvPr/>
        </p:nvSpPr>
        <p:spPr>
          <a:xfrm>
            <a:off x="6217919" y="1965960"/>
            <a:ext cx="1600200" cy="502920"/>
          </a:xfrm>
          <a:prstGeom prst="rect">
            <a:avLst/>
          </a:prstGeom>
          <a:noFill/>
        </p:spPr>
        <p:txBody>
          <a:bodyPr wrap="square" anchor="t" lIns="0" rIns="0" tIns="0" bIns="0">
            <a:spAutoFit/>
          </a:bodyPr>
          <a:lstStyle/>
          <a:p>
            <a:pPr algn="ctr"/>
            <a:r>
              <a:rPr sz="1050" b="0" i="0">
                <a:solidFill>
                  <a:srgbClr val="5A6673"/>
                </a:solidFill>
              </a:rPr>
              <a:t>lead join,</a:t>
            </a:r>
          </a:p>
          <a:p>
            <a:pPr algn="ctr"/>
            <a:r>
              <a:rPr sz="1050" b="0" i="0">
                <a:solidFill>
                  <a:srgbClr val="5A6673"/>
                </a:solidFill>
              </a:rPr>
              <a:t>ts + 3600 s</a:t>
            </a:r>
          </a:p>
        </p:txBody>
      </p:sp>
      <p:sp>
        <p:nvSpPr>
          <p:cNvPr id="17" name="Rectangle 16"/>
          <p:cNvSpPr/>
          <p:nvPr/>
        </p:nvSpPr>
        <p:spPr>
          <a:xfrm>
            <a:off x="8046719" y="1463040"/>
            <a:ext cx="1691640" cy="105156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1490472"/>
            <a:ext cx="1600200" cy="457200"/>
          </a:xfrm>
          <a:prstGeom prst="rect">
            <a:avLst/>
          </a:prstGeom>
          <a:noFill/>
        </p:spPr>
        <p:txBody>
          <a:bodyPr wrap="square" anchor="ctr" lIns="0" rIns="0" tIns="0" bIns="0">
            <a:spAutoFit/>
          </a:bodyPr>
          <a:lstStyle/>
          <a:p>
            <a:pPr algn="ctr"/>
            <a:r>
              <a:rPr sz="1200" b="1" i="0">
                <a:solidFill>
                  <a:srgbClr val="1A1A1A"/>
                </a:solidFill>
              </a:rPr>
              <a:t>Assemble</a:t>
            </a:r>
          </a:p>
          <a:p>
            <a:pPr algn="ctr"/>
            <a:r>
              <a:rPr sz="1200" b="1" i="0">
                <a:solidFill>
                  <a:srgbClr val="1A1A1A"/>
                </a:solidFill>
              </a:rPr>
              <a:t>vector</a:t>
            </a:r>
          </a:p>
        </p:txBody>
      </p:sp>
      <p:sp>
        <p:nvSpPr>
          <p:cNvPr id="19" name="TextBox 18"/>
          <p:cNvSpPr txBox="1"/>
          <p:nvPr/>
        </p:nvSpPr>
        <p:spPr>
          <a:xfrm>
            <a:off x="8092440" y="1965960"/>
            <a:ext cx="1600200" cy="502920"/>
          </a:xfrm>
          <a:prstGeom prst="rect">
            <a:avLst/>
          </a:prstGeom>
          <a:noFill/>
        </p:spPr>
        <p:txBody>
          <a:bodyPr wrap="square" anchor="t" lIns="0" rIns="0" tIns="0" bIns="0">
            <a:spAutoFit/>
          </a:bodyPr>
          <a:lstStyle/>
          <a:p>
            <a:pPr algn="ctr"/>
            <a:r>
              <a:rPr sz="1050" b="0" i="0">
                <a:solidFill>
                  <a:srgbClr val="5A6673"/>
                </a:solidFill>
              </a:rPr>
              <a:t>54 + 32</a:t>
            </a:r>
          </a:p>
          <a:p>
            <a:pPr algn="ctr"/>
            <a:r>
              <a:rPr sz="1050" b="0" i="0">
                <a:solidFill>
                  <a:srgbClr val="5A6673"/>
                </a:solidFill>
              </a:rPr>
              <a:t>= 86 dims</a:t>
            </a:r>
          </a:p>
        </p:txBody>
      </p:sp>
      <p:sp>
        <p:nvSpPr>
          <p:cNvPr id="20" name="Rectangle 19"/>
          <p:cNvSpPr/>
          <p:nvPr/>
        </p:nvSpPr>
        <p:spPr>
          <a:xfrm>
            <a:off x="9921240" y="1463040"/>
            <a:ext cx="1691640" cy="1051560"/>
          </a:xfrm>
          <a:prstGeom prst="rect">
            <a:avLst/>
          </a:prstGeom>
          <a:solidFill>
            <a:srgbClr val="FBEFD0"/>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6960" y="1490472"/>
            <a:ext cx="1600200" cy="457200"/>
          </a:xfrm>
          <a:prstGeom prst="rect">
            <a:avLst/>
          </a:prstGeom>
          <a:noFill/>
        </p:spPr>
        <p:txBody>
          <a:bodyPr wrap="square" anchor="ctr" lIns="0" rIns="0" tIns="0" bIns="0">
            <a:spAutoFit/>
          </a:bodyPr>
          <a:lstStyle/>
          <a:p>
            <a:pPr algn="ctr"/>
            <a:r>
              <a:rPr sz="1200" b="1" i="0">
                <a:solidFill>
                  <a:srgbClr val="1A1A1A"/>
                </a:solidFill>
              </a:rPr>
              <a:t>Write</a:t>
            </a:r>
          </a:p>
        </p:txBody>
      </p:sp>
      <p:sp>
        <p:nvSpPr>
          <p:cNvPr id="22" name="TextBox 21"/>
          <p:cNvSpPr txBox="1"/>
          <p:nvPr/>
        </p:nvSpPr>
        <p:spPr>
          <a:xfrm>
            <a:off x="9966960" y="1965960"/>
            <a:ext cx="1600200" cy="502920"/>
          </a:xfrm>
          <a:prstGeom prst="rect">
            <a:avLst/>
          </a:prstGeom>
          <a:noFill/>
        </p:spPr>
        <p:txBody>
          <a:bodyPr wrap="square" anchor="t" lIns="0" rIns="0" tIns="0" bIns="0">
            <a:spAutoFit/>
          </a:bodyPr>
          <a:lstStyle/>
          <a:p>
            <a:pPr algn="ctr"/>
            <a:r>
              <a:rPr sz="1050" b="0" i="0">
                <a:solidFill>
                  <a:srgbClr val="5A6673"/>
                </a:solidFill>
              </a:rPr>
              <a:t>repartition(city)</a:t>
            </a:r>
          </a:p>
          <a:p>
            <a:pPr algn="ctr"/>
            <a:r>
              <a:rPr sz="1050" b="0" i="0">
                <a:solidFill>
                  <a:srgbClr val="5A6673"/>
                </a:solidFill>
              </a:rPr>
              <a:t>241 dirs</a:t>
            </a:r>
          </a:p>
        </p:txBody>
      </p:sp>
      <p:sp>
        <p:nvSpPr>
          <p:cNvPr id="23" name="TextBox 22"/>
          <p:cNvSpPr txBox="1"/>
          <p:nvPr/>
        </p:nvSpPr>
        <p:spPr>
          <a:xfrm>
            <a:off x="548640" y="2606040"/>
            <a:ext cx="11109960" cy="274320"/>
          </a:xfrm>
          <a:prstGeom prst="rect">
            <a:avLst/>
          </a:prstGeom>
          <a:noFill/>
        </p:spPr>
        <p:txBody>
          <a:bodyPr wrap="square" anchor="t" lIns="0" rIns="0" tIns="0" bIns="0">
            <a:spAutoFit/>
          </a:bodyPr>
          <a:lstStyle/>
          <a:p>
            <a:r>
              <a:rPr sz="1100" b="0" i="1">
                <a:solidFill>
                  <a:srgbClr val="6B7785"/>
                </a:solidFill>
              </a:rPr>
              <a:t>Amber stages = wide transformations (shuffle). Blue = narrow (pipelined within a stage). Measured: 146.3 M → 128.7 M → 93.2 M rows, 73.5 min.</a:t>
            </a:r>
          </a:p>
        </p:txBody>
      </p:sp>
      <p:sp>
        <p:nvSpPr>
          <p:cNvPr id="24" name="Rectangle 23"/>
          <p:cNvSpPr/>
          <p:nvPr/>
        </p:nvSpPr>
        <p:spPr>
          <a:xfrm>
            <a:off x="548640" y="3017520"/>
            <a:ext cx="3657600" cy="3246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01752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017520"/>
            <a:ext cx="3383280" cy="384048"/>
          </a:xfrm>
          <a:prstGeom prst="rect">
            <a:avLst/>
          </a:prstGeom>
          <a:noFill/>
        </p:spPr>
        <p:txBody>
          <a:bodyPr wrap="square" anchor="ctr" lIns="0" rIns="0" tIns="0" bIns="0">
            <a:spAutoFit/>
          </a:bodyPr>
          <a:lstStyle/>
          <a:p>
            <a:r>
              <a:rPr sz="1400" b="1" i="0">
                <a:solidFill>
                  <a:srgbClr val="FFFFFF"/>
                </a:solidFill>
              </a:rPr>
              <a:t>DataFrame / RDD operations</a:t>
            </a:r>
          </a:p>
        </p:txBody>
      </p:sp>
      <p:sp>
        <p:nvSpPr>
          <p:cNvPr id="27" name="TextBox 26"/>
          <p:cNvSpPr txBox="1"/>
          <p:nvPr/>
        </p:nvSpPr>
        <p:spPr>
          <a:xfrm>
            <a:off x="685800" y="3474720"/>
            <a:ext cx="3429000" cy="2788920"/>
          </a:xfrm>
          <a:prstGeom prst="rect">
            <a:avLst/>
          </a:prstGeom>
          <a:noFill/>
        </p:spPr>
        <p:txBody>
          <a:bodyPr wrap="square" lIns="0" rIns="0" tIns="0" bIns="0">
            <a:spAutoFit/>
          </a:bodyPr>
          <a:lstStyle/>
          <a:p>
            <a:pPr>
              <a:spcAft>
                <a:spcPts val="500"/>
              </a:spcAft>
            </a:pPr>
            <a:r>
              <a:rPr sz="1250">
                <a:solidFill>
                  <a:srgbClr val="1A1A1A"/>
                </a:solidFill>
              </a:rPr>
              <a:t>•  read.parquet / csv with explicit schema</a:t>
            </a:r>
          </a:p>
          <a:p>
            <a:pPr>
              <a:spcAft>
                <a:spcPts val="500"/>
              </a:spcAft>
            </a:pPr>
            <a:r>
              <a:rPr sz="1250">
                <a:solidFill>
                  <a:srgbClr val="1A1A1A"/>
                </a:solidFill>
              </a:rPr>
              <a:t>•  Window: row_number (dedupe), rangeBetween rolling means, lag</a:t>
            </a:r>
          </a:p>
          <a:p>
            <a:pPr>
              <a:spcAft>
                <a:spcPts val="500"/>
              </a:spcAft>
            </a:pPr>
            <a:r>
              <a:rPr sz="1250">
                <a:solidFill>
                  <a:srgbClr val="1A1A1A"/>
                </a:solidFill>
              </a:rPr>
              <a:t>•  groupBy + percentile_approx → median tables</a:t>
            </a:r>
          </a:p>
          <a:p>
            <a:pPr>
              <a:spcAft>
                <a:spcPts val="500"/>
              </a:spcAft>
            </a:pPr>
            <a:r>
              <a:rPr sz="1250">
                <a:solidFill>
                  <a:srgbClr val="1A1A1A"/>
                </a:solidFill>
              </a:rPr>
              <a:t>•  broadcast join of the small tables</a:t>
            </a:r>
          </a:p>
          <a:p>
            <a:pPr>
              <a:spcAft>
                <a:spcPts val="500"/>
              </a:spcAft>
            </a:pPr>
            <a:r>
              <a:rPr sz="1250">
                <a:solidFill>
                  <a:srgbClr val="1A1A1A"/>
                </a:solidFill>
              </a:rPr>
              <a:t>•  withColumn / when / coalesce feature logic</a:t>
            </a:r>
          </a:p>
          <a:p>
            <a:pPr>
              <a:spcAft>
                <a:spcPts val="500"/>
              </a:spcAft>
            </a:pPr>
            <a:r>
              <a:rPr sz="1250">
                <a:solidFill>
                  <a:srgbClr val="1A1A1A"/>
                </a:solidFill>
              </a:rPr>
              <a:t>•  RDD: none hand-written — MLlib GBT runs on RDDs internally (1,300+ jobs)</a:t>
            </a:r>
          </a:p>
        </p:txBody>
      </p:sp>
      <p:sp>
        <p:nvSpPr>
          <p:cNvPr id="28" name="Rectangle 27"/>
          <p:cNvSpPr/>
          <p:nvPr/>
        </p:nvSpPr>
        <p:spPr>
          <a:xfrm>
            <a:off x="4343400" y="3017520"/>
            <a:ext cx="3657600" cy="3246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43400" y="301752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017520"/>
            <a:ext cx="3383280" cy="384048"/>
          </a:xfrm>
          <a:prstGeom prst="rect">
            <a:avLst/>
          </a:prstGeom>
          <a:noFill/>
        </p:spPr>
        <p:txBody>
          <a:bodyPr wrap="square" anchor="ctr" lIns="0" rIns="0" tIns="0" bIns="0">
            <a:spAutoFit/>
          </a:bodyPr>
          <a:lstStyle/>
          <a:p>
            <a:r>
              <a:rPr sz="1400" b="1" i="0">
                <a:solidFill>
                  <a:srgbClr val="FFFFFF"/>
                </a:solidFill>
              </a:rPr>
              <a:t>Partitioning</a:t>
            </a:r>
          </a:p>
        </p:txBody>
      </p:sp>
      <p:sp>
        <p:nvSpPr>
          <p:cNvPr id="31" name="TextBox 30"/>
          <p:cNvSpPr txBox="1"/>
          <p:nvPr/>
        </p:nvSpPr>
        <p:spPr>
          <a:xfrm>
            <a:off x="4480560" y="3474720"/>
            <a:ext cx="3429000" cy="2788920"/>
          </a:xfrm>
          <a:prstGeom prst="rect">
            <a:avLst/>
          </a:prstGeom>
          <a:noFill/>
        </p:spPr>
        <p:txBody>
          <a:bodyPr wrap="square" lIns="0" rIns="0" tIns="0" bIns="0">
            <a:spAutoFit/>
          </a:bodyPr>
          <a:lstStyle/>
          <a:p>
            <a:pPr>
              <a:spcAft>
                <a:spcPts val="500"/>
              </a:spcAft>
            </a:pPr>
            <a:r>
              <a:rPr sz="1250">
                <a:solidFill>
                  <a:srgbClr val="1A1A1A"/>
                </a:solidFill>
              </a:rPr>
              <a:t>•  HDFS: 128 MB blocks → 232 input splits for the 27.5 GB raw copy</a:t>
            </a:r>
          </a:p>
          <a:p>
            <a:pPr>
              <a:spcAft>
                <a:spcPts val="500"/>
              </a:spcAft>
            </a:pPr>
            <a:r>
              <a:rPr sz="1250">
                <a:solidFill>
                  <a:srgbClr val="1A1A1A"/>
                </a:solidFill>
              </a:rPr>
              <a:t>•  Disk: partitionBy(city) = 241 directories (by year/month made 5,237 tiny files — rejected)</a:t>
            </a:r>
          </a:p>
          <a:p>
            <a:pPr>
              <a:spcAft>
                <a:spcPts val="500"/>
              </a:spcAft>
            </a:pPr>
            <a:r>
              <a:rPr sz="1250">
                <a:solidFill>
                  <a:srgbClr val="1A1A1A"/>
                </a:solidFill>
              </a:rPr>
              <a:t>•  Unified table: partitionBy(source_format) = 2</a:t>
            </a:r>
          </a:p>
          <a:p>
            <a:pPr>
              <a:spcAft>
                <a:spcPts val="500"/>
              </a:spcAft>
            </a:pPr>
            <a:r>
              <a:rPr sz="1250">
                <a:solidFill>
                  <a:srgbClr val="1A1A1A"/>
                </a:solidFill>
              </a:rPr>
              <a:t>•  Shuffle partitions tuned per job: 400 / 200 / 120 / 64 / 16</a:t>
            </a:r>
          </a:p>
          <a:p>
            <a:pPr>
              <a:spcAft>
                <a:spcPts val="500"/>
              </a:spcAft>
            </a:pPr>
            <a:r>
              <a:rPr sz="1250">
                <a:solidFill>
                  <a:srgbClr val="1A1A1A"/>
                </a:solidFill>
              </a:rPr>
              <a:t>•  repartition(city) before write → a few large files per city</a:t>
            </a:r>
          </a:p>
        </p:txBody>
      </p:sp>
      <p:sp>
        <p:nvSpPr>
          <p:cNvPr id="32" name="Rectangle 31"/>
          <p:cNvSpPr/>
          <p:nvPr/>
        </p:nvSpPr>
        <p:spPr>
          <a:xfrm>
            <a:off x="8138160" y="3017520"/>
            <a:ext cx="3520440" cy="3246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3017520"/>
            <a:ext cx="352044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3017520"/>
            <a:ext cx="3246120" cy="384048"/>
          </a:xfrm>
          <a:prstGeom prst="rect">
            <a:avLst/>
          </a:prstGeom>
          <a:noFill/>
        </p:spPr>
        <p:txBody>
          <a:bodyPr wrap="square" anchor="ctr" lIns="0" rIns="0" tIns="0" bIns="0">
            <a:spAutoFit/>
          </a:bodyPr>
          <a:lstStyle/>
          <a:p>
            <a:r>
              <a:rPr sz="1400" b="1" i="0">
                <a:solidFill>
                  <a:srgbClr val="FFFFFF"/>
                </a:solidFill>
              </a:rPr>
              <a:t>Caching choices</a:t>
            </a:r>
          </a:p>
        </p:txBody>
      </p:sp>
      <p:sp>
        <p:nvSpPr>
          <p:cNvPr id="35" name="TextBox 34"/>
          <p:cNvSpPr txBox="1"/>
          <p:nvPr/>
        </p:nvSpPr>
        <p:spPr>
          <a:xfrm>
            <a:off x="8275320" y="3474720"/>
            <a:ext cx="3291840" cy="2788920"/>
          </a:xfrm>
          <a:prstGeom prst="rect">
            <a:avLst/>
          </a:prstGeom>
          <a:noFill/>
        </p:spPr>
        <p:txBody>
          <a:bodyPr wrap="square" lIns="0" rIns="0" tIns="0" bIns="0">
            <a:spAutoFit/>
          </a:bodyPr>
          <a:lstStyle/>
          <a:p>
            <a:pPr>
              <a:spcAft>
                <a:spcPts val="500"/>
              </a:spcAft>
            </a:pPr>
            <a:r>
              <a:rPr sz="1250">
                <a:solidFill>
                  <a:srgbClr val="1A1A1A"/>
                </a:solidFill>
              </a:rPr>
              <a:t>•  Clean job: df.cache() — reused by median tables, the join and the write; unpersist at the end</a:t>
            </a:r>
          </a:p>
          <a:p>
            <a:pPr>
              <a:spcAft>
                <a:spcPts val="500"/>
              </a:spcAft>
            </a:pPr>
            <a:r>
              <a:rPr sz="1250">
                <a:solidFill>
                  <a:srgbClr val="1A1A1A"/>
                </a:solidFill>
              </a:rPr>
              <a:t>•  GBT: train.cache(), test.cache() — scanned every iteration</a:t>
            </a:r>
          </a:p>
          <a:p>
            <a:pPr>
              <a:spcAft>
                <a:spcPts val="500"/>
              </a:spcAft>
            </a:pPr>
            <a:r>
              <a:rPr sz="1250">
                <a:solidFill>
                  <a:srgbClr val="1A1A1A"/>
                </a:solidFill>
              </a:rPr>
              <a:t>•  Stream: predictions.cache() — used by count, write and alert filter</a:t>
            </a:r>
          </a:p>
          <a:p>
            <a:pPr>
              <a:spcAft>
                <a:spcPts val="500"/>
              </a:spcAft>
            </a:pPr>
            <a:r>
              <a:rPr sz="1250">
                <a:solidFill>
                  <a:srgbClr val="1A1A1A"/>
                </a:solidFill>
              </a:rPr>
              <a:t>•  Small median tables: broadcast, not cached</a:t>
            </a:r>
          </a:p>
          <a:p>
            <a:pPr>
              <a:spcAft>
                <a:spcPts val="500"/>
              </a:spcAft>
            </a:pPr>
            <a:r>
              <a:rPr sz="1250">
                <a:solidFill>
                  <a:srgbClr val="1A1A1A"/>
                </a:solidFill>
              </a:rPr>
              <a:t>•  GBT checkpoint dir: breaks long lineage (earlier StackOverflow)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Scala Implementation — Project Structure and Key Code</a:t>
            </a:r>
          </a:p>
        </p:txBody>
      </p:sp>
      <p:sp>
        <p:nvSpPr>
          <p:cNvPr id="4" name="Rectangle 3"/>
          <p:cNvSpPr/>
          <p:nvPr/>
        </p:nvSpPr>
        <p:spPr>
          <a:xfrm>
            <a:off x="548640" y="1143000"/>
            <a:ext cx="384048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43000"/>
            <a:ext cx="384048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43000"/>
            <a:ext cx="3566160" cy="384048"/>
          </a:xfrm>
          <a:prstGeom prst="rect">
            <a:avLst/>
          </a:prstGeom>
          <a:noFill/>
        </p:spPr>
        <p:txBody>
          <a:bodyPr wrap="square" anchor="ctr" lIns="0" rIns="0" tIns="0" bIns="0">
            <a:spAutoFit/>
          </a:bodyPr>
          <a:lstStyle/>
          <a:p>
            <a:r>
              <a:rPr sz="1400" b="1" i="0">
                <a:solidFill>
                  <a:srgbClr val="FFFFFF"/>
                </a:solidFill>
              </a:rPr>
              <a:t>Project structure</a:t>
            </a:r>
          </a:p>
        </p:txBody>
      </p:sp>
      <p:sp>
        <p:nvSpPr>
          <p:cNvPr id="7" name="Rectangle 6"/>
          <p:cNvSpPr/>
          <p:nvPr/>
        </p:nvSpPr>
        <p:spPr>
          <a:xfrm>
            <a:off x="640080" y="1600200"/>
            <a:ext cx="3657600" cy="45720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91640"/>
            <a:ext cx="3438144" cy="4389120"/>
          </a:xfrm>
          <a:prstGeom prst="rect">
            <a:avLst/>
          </a:prstGeom>
          <a:noFill/>
        </p:spPr>
        <p:txBody>
          <a:bodyPr wrap="square" anchor="t" lIns="0" rIns="0" tIns="0" bIns="0">
            <a:spAutoFit/>
          </a:bodyPr>
          <a:lstStyle/>
          <a:p>
            <a:r>
              <a:rPr sz="1000" b="0" i="0">
                <a:solidFill>
                  <a:srgbClr val="D7E2EA"/>
                </a:solidFill>
                <a:latin typeface="Courier New"/>
              </a:rPr>
              <a:t>scala/streaming/</a:t>
            </a:r>
          </a:p>
          <a:p>
            <a:r>
              <a:rPr sz="1000" b="0" i="0">
                <a:solidFill>
                  <a:srgbClr val="D7E2EA"/>
                </a:solidFill>
                <a:latin typeface="Courier New"/>
              </a:rPr>
              <a:t>  build.sbt   Scala 2.12.18</a:t>
            </a:r>
          </a:p>
          <a:p>
            <a:r>
              <a:rPr sz="1000" b="0" i="0">
                <a:solidFill>
                  <a:srgbClr val="D7E2EA"/>
                </a:solidFill>
                <a:latin typeface="Courier New"/>
              </a:rPr>
              <a:t>              Spark 3.5.6 (provided)</a:t>
            </a:r>
          </a:p>
          <a:p>
            <a:r>
              <a:rPr sz="1000" b="0" i="0">
                <a:solidFill>
                  <a:srgbClr val="D7E2EA"/>
                </a:solidFill>
                <a:latin typeface="Courier New"/>
              </a:rPr>
              <a:t>  src/main/scala/</a:t>
            </a:r>
          </a:p>
          <a:p>
            <a:r>
              <a:rPr sz="1000" b="0" i="0">
                <a:solidFill>
                  <a:srgbClr val="D7E2EA"/>
                </a:solidFill>
                <a:latin typeface="Courier New"/>
              </a:rPr>
              <a:t>    CleanSelect.scala        344</a:t>
            </a:r>
          </a:p>
          <a:p>
            <a:r>
              <a:rPr sz="1000" b="0" i="0">
                <a:solidFill>
                  <a:srgbClr val="D7E2EA"/>
                </a:solidFill>
                <a:latin typeface="Courier New"/>
              </a:rPr>
              <a:t>      10-step clean, 3-tier</a:t>
            </a:r>
          </a:p>
          <a:p>
            <a:r>
              <a:rPr sz="1000" b="0" i="0">
                <a:solidFill>
                  <a:srgbClr val="D7E2EA"/>
                </a:solidFill>
                <a:latin typeface="Courier New"/>
              </a:rPr>
              <a:t>      impute, write by city</a:t>
            </a:r>
          </a:p>
          <a:p>
            <a:r>
              <a:rPr sz="1000" b="0" i="0">
                <a:solidFill>
                  <a:srgbClr val="D7E2EA"/>
                </a:solidFill>
                <a:latin typeface="Courier New"/>
              </a:rPr>
              <a:t>    FeatureExtraction.scala  377</a:t>
            </a:r>
          </a:p>
          <a:p>
            <a:r>
              <a:rPr sz="1000" b="0" i="0">
                <a:solidFill>
                  <a:srgbClr val="D7E2EA"/>
                </a:solidFill>
                <a:latin typeface="Courier New"/>
              </a:rPr>
              <a:t>      86 features, T+1 label</a:t>
            </a:r>
          </a:p>
          <a:p>
            <a:r>
              <a:rPr sz="1000" b="0" i="0">
                <a:solidFill>
                  <a:srgbClr val="D7E2EA"/>
                </a:solidFill>
                <a:latin typeface="Courier New"/>
              </a:rPr>
              <a:t>    LiveEnrichment.scala     324</a:t>
            </a:r>
          </a:p>
          <a:p>
            <a:r>
              <a:rPr sz="1000" b="0" i="0">
                <a:solidFill>
                  <a:srgbClr val="D7E2EA"/>
                </a:solidFill>
                <a:latin typeface="Courier New"/>
              </a:rPr>
              <a:t>      CAMS+weather+profiles</a:t>
            </a:r>
          </a:p>
          <a:p>
            <a:r>
              <a:rPr sz="1000" b="0" i="0">
                <a:solidFill>
                  <a:srgbClr val="D7E2EA"/>
                </a:solidFill>
                <a:latin typeface="Courier New"/>
              </a:rPr>
              <a:t>    AirQualityStream.scala   491</a:t>
            </a:r>
          </a:p>
          <a:p>
            <a:r>
              <a:rPr sz="1000" b="0" i="0">
                <a:solidFill>
                  <a:srgbClr val="D7E2EA"/>
                </a:solidFill>
                <a:latin typeface="Courier New"/>
              </a:rPr>
              <a:t>      streaming + alert engine</a:t>
            </a:r>
          </a:p>
          <a:p>
            <a:r>
              <a:rPr sz="1000" b="0" i="0">
                <a:solidFill>
                  <a:srgbClr val="D7E2EA"/>
                </a:solidFill>
                <a:latin typeface="Courier New"/>
              </a:rPr>
              <a:t/>
            </a:r>
          </a:p>
          <a:p>
            <a:r>
              <a:rPr sz="1000" b="0" i="0">
                <a:solidFill>
                  <a:srgbClr val="D7E2EA"/>
                </a:solidFill>
                <a:latin typeface="Courier New"/>
              </a:rPr>
              <a:t>sbt package -&gt; jar</a:t>
            </a:r>
          </a:p>
          <a:p>
            <a:r>
              <a:rPr sz="1000" b="0" i="0">
                <a:solidFill>
                  <a:srgbClr val="D7E2EA"/>
                </a:solidFill>
                <a:latin typeface="Courier New"/>
              </a:rPr>
              <a:t>spark-submit --class &lt;Job&gt;</a:t>
            </a:r>
          </a:p>
          <a:p>
            <a:r>
              <a:rPr sz="1000" b="0" i="0">
                <a:solidFill>
                  <a:srgbClr val="D7E2EA"/>
                </a:solidFill>
                <a:latin typeface="Courier New"/>
              </a:rPr>
              <a:t>  --master yarn</a:t>
            </a:r>
          </a:p>
          <a:p>
            <a:r>
              <a:rPr sz="1000" b="0" i="0">
                <a:solidFill>
                  <a:srgbClr val="D7E2EA"/>
                </a:solidFill>
                <a:latin typeface="Courier New"/>
              </a:rPr>
              <a:t/>
            </a:r>
          </a:p>
          <a:p>
            <a:r>
              <a:rPr sz="1000" b="0" i="0">
                <a:solidFill>
                  <a:srgbClr val="D7E2EA"/>
                </a:solidFill>
                <a:latin typeface="Courier New"/>
              </a:rPr>
              <a:t>scripts/03_train_gbt.py</a:t>
            </a:r>
          </a:p>
          <a:p>
            <a:r>
              <a:rPr sz="1000" b="0" i="0">
                <a:solidFill>
                  <a:srgbClr val="D7E2EA"/>
                </a:solidFill>
                <a:latin typeface="Courier New"/>
              </a:rPr>
              <a:t>  PySpark MLlib GBT</a:t>
            </a:r>
          </a:p>
        </p:txBody>
      </p:sp>
      <p:sp>
        <p:nvSpPr>
          <p:cNvPr id="9" name="Rectangle 8"/>
          <p:cNvSpPr/>
          <p:nvPr/>
        </p:nvSpPr>
        <p:spPr>
          <a:xfrm>
            <a:off x="4572000" y="1143000"/>
            <a:ext cx="7086600" cy="17830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188720"/>
            <a:ext cx="6867144" cy="228600"/>
          </a:xfrm>
          <a:prstGeom prst="rect">
            <a:avLst/>
          </a:prstGeom>
          <a:noFill/>
        </p:spPr>
        <p:txBody>
          <a:bodyPr wrap="square" anchor="t" lIns="0" rIns="0" tIns="0" bIns="0">
            <a:spAutoFit/>
          </a:bodyPr>
          <a:lstStyle/>
          <a:p>
            <a:r>
              <a:rPr sz="1000" b="1" i="0">
                <a:solidFill>
                  <a:srgbClr val="7FC8F8"/>
                </a:solidFill>
              </a:rPr>
              <a:t>FeatureExtraction.scala — dedupe + gap-safe rolling window</a:t>
            </a:r>
          </a:p>
        </p:txBody>
      </p:sp>
      <p:sp>
        <p:nvSpPr>
          <p:cNvPr id="11" name="TextBox 10"/>
          <p:cNvSpPr txBox="1"/>
          <p:nvPr/>
        </p:nvSpPr>
        <p:spPr>
          <a:xfrm>
            <a:off x="4681728" y="1435608"/>
            <a:ext cx="6867144" cy="1453895"/>
          </a:xfrm>
          <a:prstGeom prst="rect">
            <a:avLst/>
          </a:prstGeom>
          <a:noFill/>
        </p:spPr>
        <p:txBody>
          <a:bodyPr wrap="square" anchor="t" lIns="0" rIns="0" tIns="0" bIns="0">
            <a:spAutoFit/>
          </a:bodyPr>
          <a:lstStyle/>
          <a:p>
            <a:r>
              <a:rPr sz="950" b="0" i="0">
                <a:solidFill>
                  <a:srgbClr val="D7E2EA"/>
                </a:solidFill>
                <a:latin typeface="Courier New"/>
              </a:rPr>
              <a:t>val dedupW = Window.partitionBy("station_id","variation_bucket","ts_unix")</a:t>
            </a:r>
          </a:p>
          <a:p>
            <a:r>
              <a:rPr sz="950" b="0" i="0">
                <a:solidFill>
                  <a:srgbClr val="D7E2EA"/>
                </a:solidFill>
                <a:latin typeface="Courier New"/>
              </a:rPr>
              <a:t>                   .orderBy(col("pm25").desc_nulls_last)</a:t>
            </a:r>
          </a:p>
          <a:p>
            <a:r>
              <a:rPr sz="950" b="0" i="0">
                <a:solidFill>
                  <a:srgbClr val="D7E2EA"/>
                </a:solidFill>
                <a:latin typeface="Courier New"/>
              </a:rPr>
              <a:t>df = df.withColumn("_rn", row_number().over(dedupW)).filter(col("_rn")===1)</a:t>
            </a:r>
          </a:p>
          <a:p>
            <a:r>
              <a:rPr sz="950" b="0" i="0">
                <a:solidFill>
                  <a:srgbClr val="D7E2EA"/>
                </a:solidFill>
                <a:latin typeface="Courier New"/>
              </a:rPr>
              <a:t/>
            </a:r>
          </a:p>
          <a:p>
            <a:r>
              <a:rPr sz="950" b="0" i="0">
                <a:solidFill>
                  <a:srgbClr val="D7E2EA"/>
                </a:solidFill>
                <a:latin typeface="Courier New"/>
              </a:rPr>
              <a:t>def hoursBack(n: Int) = Window.partitionBy("station_id","variation_bucket")</a:t>
            </a:r>
          </a:p>
          <a:p>
            <a:r>
              <a:rPr sz="950" b="0" i="0">
                <a:solidFill>
                  <a:srgbClr val="D7E2EA"/>
                </a:solidFill>
                <a:latin typeface="Courier New"/>
              </a:rPr>
              <a:t>  .orderBy("ts_unix").rangeBetween(-(n-1).toLong * Hour, 0L)  // value-based:</a:t>
            </a:r>
          </a:p>
          <a:p>
            <a:r>
              <a:rPr sz="950" b="0" i="0">
                <a:solidFill>
                  <a:srgbClr val="D7E2EA"/>
                </a:solidFill>
                <a:latin typeface="Courier New"/>
              </a:rPr>
              <a:t>df = df.withColumn(s"${p}_avg${h}h", avg(col(p)).over(hoursBack(h)))  // gap-safe</a:t>
            </a:r>
          </a:p>
        </p:txBody>
      </p:sp>
      <p:sp>
        <p:nvSpPr>
          <p:cNvPr id="12" name="Rectangle 11"/>
          <p:cNvSpPr/>
          <p:nvPr/>
        </p:nvSpPr>
        <p:spPr>
          <a:xfrm>
            <a:off x="4572000" y="3017520"/>
            <a:ext cx="7086600" cy="15544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3063239"/>
            <a:ext cx="6867144" cy="228600"/>
          </a:xfrm>
          <a:prstGeom prst="rect">
            <a:avLst/>
          </a:prstGeom>
          <a:noFill/>
        </p:spPr>
        <p:txBody>
          <a:bodyPr wrap="square" anchor="t" lIns="0" rIns="0" tIns="0" bIns="0">
            <a:spAutoFit/>
          </a:bodyPr>
          <a:lstStyle/>
          <a:p>
            <a:r>
              <a:rPr sz="1000" b="1" i="0">
                <a:solidFill>
                  <a:srgbClr val="7FC8F8"/>
                </a:solidFill>
              </a:rPr>
              <a:t>CleanSelect.scala — broadcast joins for the 3-tier median imputation</a:t>
            </a:r>
          </a:p>
        </p:txBody>
      </p:sp>
      <p:sp>
        <p:nvSpPr>
          <p:cNvPr id="14" name="TextBox 13"/>
          <p:cNvSpPr txBox="1"/>
          <p:nvPr/>
        </p:nvSpPr>
        <p:spPr>
          <a:xfrm>
            <a:off x="4681728" y="3310127"/>
            <a:ext cx="6867144" cy="1225295"/>
          </a:xfrm>
          <a:prstGeom prst="rect">
            <a:avLst/>
          </a:prstGeom>
          <a:noFill/>
        </p:spPr>
        <p:txBody>
          <a:bodyPr wrap="square" anchor="t" lIns="0" rIns="0" tIns="0" bIns="0">
            <a:spAutoFit/>
          </a:bodyPr>
          <a:lstStyle/>
          <a:p>
            <a:r>
              <a:rPr sz="950" b="0" i="0">
                <a:solidFill>
                  <a:srgbClr val="D7E2EA"/>
                </a:solidFill>
                <a:latin typeface="Courier New"/>
              </a:rPr>
              <a:t>val t1 = df.groupBy("station_id","month","hour").agg(med(c).as(s"${c}__t1"))</a:t>
            </a:r>
          </a:p>
          <a:p>
            <a:r>
              <a:rPr sz="950" b="0" i="0">
                <a:solidFill>
                  <a:srgbClr val="D7E2EA"/>
                </a:solidFill>
                <a:latin typeface="Courier New"/>
              </a:rPr>
              <a:t>val t2 = df.groupBy("city","month").agg(med(c).as(s"${c}__t2"))</a:t>
            </a:r>
          </a:p>
          <a:p>
            <a:r>
              <a:rPr sz="950" b="0" i="0">
                <a:solidFill>
                  <a:srgbClr val="D7E2EA"/>
                </a:solidFill>
                <a:latin typeface="Courier New"/>
              </a:rPr>
              <a:t>df = df.join(broadcast(t1), Seq("station_id","month","hour"), "left")</a:t>
            </a:r>
          </a:p>
          <a:p>
            <a:r>
              <a:rPr sz="950" b="0" i="0">
                <a:solidFill>
                  <a:srgbClr val="D7E2EA"/>
                </a:solidFill>
                <a:latin typeface="Courier New"/>
              </a:rPr>
              <a:t>       .join(broadcast(t2), Seq("city","month"), "left")</a:t>
            </a:r>
          </a:p>
          <a:p>
            <a:r>
              <a:rPr sz="950" b="0" i="0">
                <a:solidFill>
                  <a:srgbClr val="D7E2EA"/>
                </a:solidFill>
                <a:latin typeface="Courier New"/>
              </a:rPr>
              <a:t>df = df.withColumn(c, coalesce(col(c), col(s"${c}__t1"), col(s"${c}__t2"), lit(t3(c))))</a:t>
            </a:r>
          </a:p>
        </p:txBody>
      </p:sp>
      <p:sp>
        <p:nvSpPr>
          <p:cNvPr id="15" name="Rectangle 14"/>
          <p:cNvSpPr/>
          <p:nvPr/>
        </p:nvSpPr>
        <p:spPr>
          <a:xfrm>
            <a:off x="4572000" y="4663440"/>
            <a:ext cx="7086600" cy="16002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1728" y="4709159"/>
            <a:ext cx="6867144" cy="228600"/>
          </a:xfrm>
          <a:prstGeom prst="rect">
            <a:avLst/>
          </a:prstGeom>
          <a:noFill/>
        </p:spPr>
        <p:txBody>
          <a:bodyPr wrap="square" anchor="t" lIns="0" rIns="0" tIns="0" bIns="0">
            <a:spAutoFit/>
          </a:bodyPr>
          <a:lstStyle/>
          <a:p>
            <a:r>
              <a:rPr sz="1000" b="1" i="0">
                <a:solidFill>
                  <a:srgbClr val="7FC8F8"/>
                </a:solidFill>
              </a:rPr>
              <a:t>AirQualityStream.scala — Structured Streaming speed layer</a:t>
            </a:r>
          </a:p>
        </p:txBody>
      </p:sp>
      <p:sp>
        <p:nvSpPr>
          <p:cNvPr id="17" name="TextBox 16"/>
          <p:cNvSpPr txBox="1"/>
          <p:nvPr/>
        </p:nvSpPr>
        <p:spPr>
          <a:xfrm>
            <a:off x="4681728" y="4956048"/>
            <a:ext cx="6867144" cy="1271016"/>
          </a:xfrm>
          <a:prstGeom prst="rect">
            <a:avLst/>
          </a:prstGeom>
          <a:noFill/>
        </p:spPr>
        <p:txBody>
          <a:bodyPr wrap="square" anchor="t" lIns="0" rIns="0" tIns="0" bIns="0">
            <a:spAutoFit/>
          </a:bodyPr>
          <a:lstStyle/>
          <a:p>
            <a:r>
              <a:rPr sz="950" b="0" i="0">
                <a:solidFill>
                  <a:srgbClr val="D7E2EA"/>
                </a:solidFill>
                <a:latin typeface="Courier New"/>
              </a:rPr>
              <a:t>val raw = spark.readStream.schema(InputSchema).option("header","true")</a:t>
            </a:r>
          </a:p>
          <a:p>
            <a:r>
              <a:rPr sz="950" b="0" i="0">
                <a:solidFill>
                  <a:srgbClr val="D7E2EA"/>
                </a:solidFill>
                <a:latin typeface="Courier New"/>
              </a:rPr>
              <a:t>  .option("maxFilesPerTrigger","1").csv(StreamInput)        // HDFS file source</a:t>
            </a:r>
          </a:p>
          <a:p>
            <a:r>
              <a:rPr sz="950" b="0" i="0">
                <a:solidFill>
                  <a:srgbClr val="D7E2EA"/>
                </a:solidFill>
                <a:latin typeface="Courier New"/>
              </a:rPr>
              <a:t>raw.writeStream.option("checkpointLocation", CheckpointDir)</a:t>
            </a:r>
          </a:p>
          <a:p>
            <a:r>
              <a:rPr sz="950" b="0" i="0">
                <a:solidFill>
                  <a:srgbClr val="D7E2EA"/>
                </a:solidFill>
                <a:latin typeface="Courier New"/>
              </a:rPr>
              <a:t>  .foreachBatch { (batch: DataFrame, id: Long) =&gt;</a:t>
            </a:r>
          </a:p>
          <a:p>
            <a:r>
              <a:rPr sz="950" b="0" i="0">
                <a:solidFill>
                  <a:srgbClr val="D7E2EA"/>
                </a:solidFill>
                <a:latin typeface="Courier New"/>
              </a:rPr>
              <a:t>     // union with 30 h history -&gt; features -&gt; GBT -&gt; AQI -&gt; alerts.write.partitionBy("city")</a:t>
            </a:r>
          </a:p>
          <a:p>
            <a:r>
              <a:rPr sz="950" b="0" i="0">
                <a:solidFill>
                  <a:srgbClr val="D7E2EA"/>
                </a:solidFill>
                <a:latin typeface="Courier New"/>
              </a:rPr>
              <a:t>  }.trigger(Trigger.ProcessingTime("10 seconds")).start()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Spark ML Pipeline — Features, Algorithm, Tuning</a:t>
            </a:r>
          </a:p>
        </p:txBody>
      </p:sp>
      <p:sp>
        <p:nvSpPr>
          <p:cNvPr id="4" name="Rectangle 3"/>
          <p:cNvSpPr/>
          <p:nvPr/>
        </p:nvSpPr>
        <p:spPr>
          <a:xfrm>
            <a:off x="548640" y="1188720"/>
            <a:ext cx="1691640" cy="86868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88720"/>
            <a:ext cx="1581912" cy="868680"/>
          </a:xfrm>
          <a:prstGeom prst="rect">
            <a:avLst/>
          </a:prstGeom>
          <a:noFill/>
        </p:spPr>
        <p:txBody>
          <a:bodyPr wrap="square" anchor="ctr" lIns="0" rIns="0" tIns="0" bIns="0">
            <a:spAutoFit/>
          </a:bodyPr>
          <a:lstStyle/>
          <a:p>
            <a:pPr algn="ctr"/>
            <a:r>
              <a:rPr sz="1200" b="1" i="0">
                <a:solidFill>
                  <a:srgbClr val="FFFFFF"/>
                </a:solidFill>
              </a:rPr>
              <a:t>Features</a:t>
            </a:r>
          </a:p>
          <a:p>
            <a:pPr algn="ctr"/>
            <a:r>
              <a:rPr sz="1200" b="1" i="0">
                <a:solidFill>
                  <a:srgbClr val="FFFFFF"/>
                </a:solidFill>
              </a:rPr>
              <a:t>(Parquet)</a:t>
            </a:r>
          </a:p>
        </p:txBody>
      </p:sp>
      <p:sp>
        <p:nvSpPr>
          <p:cNvPr id="6" name="TextBox 5"/>
          <p:cNvSpPr txBox="1"/>
          <p:nvPr/>
        </p:nvSpPr>
        <p:spPr>
          <a:xfrm>
            <a:off x="2240280" y="1188720"/>
            <a:ext cx="182880" cy="868680"/>
          </a:xfrm>
          <a:prstGeom prst="rect">
            <a:avLst/>
          </a:prstGeom>
          <a:noFill/>
        </p:spPr>
        <p:txBody>
          <a:bodyPr wrap="square" anchor="ctr" lIns="0" rIns="0" tIns="0" bIns="0">
            <a:spAutoFit/>
          </a:bodyPr>
          <a:lstStyle/>
          <a:p>
            <a:pPr algn="ctr"/>
            <a:r>
              <a:rPr sz="1600" b="1" i="0">
                <a:solidFill>
                  <a:srgbClr val="6B7785"/>
                </a:solidFill>
              </a:rPr>
              <a:t>→</a:t>
            </a:r>
          </a:p>
        </p:txBody>
      </p:sp>
      <p:sp>
        <p:nvSpPr>
          <p:cNvPr id="7" name="Rectangle 6"/>
          <p:cNvSpPr/>
          <p:nvPr/>
        </p:nvSpPr>
        <p:spPr>
          <a:xfrm>
            <a:off x="2423160"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78024" y="1188720"/>
            <a:ext cx="1581912" cy="868680"/>
          </a:xfrm>
          <a:prstGeom prst="rect">
            <a:avLst/>
          </a:prstGeom>
          <a:noFill/>
        </p:spPr>
        <p:txBody>
          <a:bodyPr wrap="square" anchor="ctr" lIns="0" rIns="0" tIns="0" bIns="0">
            <a:spAutoFit/>
          </a:bodyPr>
          <a:lstStyle/>
          <a:p>
            <a:pPr algn="ctr"/>
            <a:r>
              <a:rPr sz="1200" b="1" i="0">
                <a:solidFill>
                  <a:srgbClr val="FFFFFF"/>
                </a:solidFill>
              </a:rPr>
              <a:t>StringIndexer</a:t>
            </a:r>
          </a:p>
          <a:p>
            <a:pPr algn="ctr"/>
            <a:r>
              <a:rPr sz="1200" b="1" i="0">
                <a:solidFill>
                  <a:srgbClr val="FFFFFF"/>
                </a:solidFill>
              </a:rPr>
              <a:t>+ OneHot</a:t>
            </a:r>
          </a:p>
        </p:txBody>
      </p:sp>
      <p:sp>
        <p:nvSpPr>
          <p:cNvPr id="9" name="TextBox 8"/>
          <p:cNvSpPr txBox="1"/>
          <p:nvPr/>
        </p:nvSpPr>
        <p:spPr>
          <a:xfrm>
            <a:off x="4114800" y="1188720"/>
            <a:ext cx="182880" cy="868680"/>
          </a:xfrm>
          <a:prstGeom prst="rect">
            <a:avLst/>
          </a:prstGeom>
          <a:noFill/>
        </p:spPr>
        <p:txBody>
          <a:bodyPr wrap="square" anchor="ctr" lIns="0" rIns="0" tIns="0" bIns="0">
            <a:spAutoFit/>
          </a:bodyPr>
          <a:lstStyle/>
          <a:p>
            <a:pPr algn="ctr"/>
            <a:r>
              <a:rPr sz="1600" b="1" i="0">
                <a:solidFill>
                  <a:srgbClr val="6B7785"/>
                </a:solidFill>
              </a:rPr>
              <a:t>→</a:t>
            </a:r>
          </a:p>
        </p:txBody>
      </p:sp>
      <p:sp>
        <p:nvSpPr>
          <p:cNvPr id="10" name="Rectangle 9"/>
          <p:cNvSpPr/>
          <p:nvPr/>
        </p:nvSpPr>
        <p:spPr>
          <a:xfrm>
            <a:off x="4297679"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2543" y="1188720"/>
            <a:ext cx="1581912" cy="868680"/>
          </a:xfrm>
          <a:prstGeom prst="rect">
            <a:avLst/>
          </a:prstGeom>
          <a:noFill/>
        </p:spPr>
        <p:txBody>
          <a:bodyPr wrap="square" anchor="ctr" lIns="0" rIns="0" tIns="0" bIns="0">
            <a:spAutoFit/>
          </a:bodyPr>
          <a:lstStyle/>
          <a:p>
            <a:pPr algn="ctr"/>
            <a:r>
              <a:rPr sz="1200" b="1" i="0">
                <a:solidFill>
                  <a:srgbClr val="FFFFFF"/>
                </a:solidFill>
              </a:rPr>
              <a:t>VectorAssembler</a:t>
            </a:r>
          </a:p>
          <a:p>
            <a:pPr algn="ctr"/>
            <a:r>
              <a:rPr sz="1200" b="1" i="0">
                <a:solidFill>
                  <a:srgbClr val="FFFFFF"/>
                </a:solidFill>
              </a:rPr>
              <a:t>54 + 32 = 86</a:t>
            </a:r>
          </a:p>
        </p:txBody>
      </p:sp>
      <p:sp>
        <p:nvSpPr>
          <p:cNvPr id="12" name="TextBox 11"/>
          <p:cNvSpPr txBox="1"/>
          <p:nvPr/>
        </p:nvSpPr>
        <p:spPr>
          <a:xfrm>
            <a:off x="5989319" y="1188720"/>
            <a:ext cx="182880" cy="868680"/>
          </a:xfrm>
          <a:prstGeom prst="rect">
            <a:avLst/>
          </a:prstGeom>
          <a:noFill/>
        </p:spPr>
        <p:txBody>
          <a:bodyPr wrap="square" anchor="ctr" lIns="0" rIns="0" tIns="0" bIns="0">
            <a:spAutoFit/>
          </a:bodyPr>
          <a:lstStyle/>
          <a:p>
            <a:pPr algn="ctr"/>
            <a:r>
              <a:rPr sz="1600" b="1" i="0">
                <a:solidFill>
                  <a:srgbClr val="6B7785"/>
                </a:solidFill>
              </a:rPr>
              <a:t>→</a:t>
            </a:r>
          </a:p>
        </p:txBody>
      </p:sp>
      <p:sp>
        <p:nvSpPr>
          <p:cNvPr id="13" name="Rectangle 12"/>
          <p:cNvSpPr/>
          <p:nvPr/>
        </p:nvSpPr>
        <p:spPr>
          <a:xfrm>
            <a:off x="6172199"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3" y="1188720"/>
            <a:ext cx="1581912" cy="868680"/>
          </a:xfrm>
          <a:prstGeom prst="rect">
            <a:avLst/>
          </a:prstGeom>
          <a:noFill/>
        </p:spPr>
        <p:txBody>
          <a:bodyPr wrap="square" anchor="ctr" lIns="0" rIns="0" tIns="0" bIns="0">
            <a:spAutoFit/>
          </a:bodyPr>
          <a:lstStyle/>
          <a:p>
            <a:pPr algn="ctr"/>
            <a:r>
              <a:rPr sz="1200" b="1" i="0">
                <a:solidFill>
                  <a:srgbClr val="FFFFFF"/>
                </a:solidFill>
              </a:rPr>
              <a:t>Chronological</a:t>
            </a:r>
          </a:p>
          <a:p>
            <a:pPr algn="ctr"/>
            <a:r>
              <a:rPr sz="1200" b="1" i="0">
                <a:solidFill>
                  <a:srgbClr val="FFFFFF"/>
                </a:solidFill>
              </a:rPr>
              <a:t>split (not random)</a:t>
            </a:r>
          </a:p>
        </p:txBody>
      </p:sp>
      <p:sp>
        <p:nvSpPr>
          <p:cNvPr id="15" name="TextBox 14"/>
          <p:cNvSpPr txBox="1"/>
          <p:nvPr/>
        </p:nvSpPr>
        <p:spPr>
          <a:xfrm>
            <a:off x="7863840" y="1188720"/>
            <a:ext cx="182880" cy="868680"/>
          </a:xfrm>
          <a:prstGeom prst="rect">
            <a:avLst/>
          </a:prstGeom>
          <a:noFill/>
        </p:spPr>
        <p:txBody>
          <a:bodyPr wrap="square" anchor="ctr" lIns="0" rIns="0" tIns="0" bIns="0">
            <a:spAutoFit/>
          </a:bodyPr>
          <a:lstStyle/>
          <a:p>
            <a:pPr algn="ctr"/>
            <a:r>
              <a:rPr sz="1600" b="1" i="0">
                <a:solidFill>
                  <a:srgbClr val="6B7785"/>
                </a:solidFill>
              </a:rPr>
              <a:t>→</a:t>
            </a:r>
          </a:p>
        </p:txBody>
      </p:sp>
      <p:sp>
        <p:nvSpPr>
          <p:cNvPr id="16" name="Rectangle 15"/>
          <p:cNvSpPr/>
          <p:nvPr/>
        </p:nvSpPr>
        <p:spPr>
          <a:xfrm>
            <a:off x="8046719" y="1188720"/>
            <a:ext cx="1691640" cy="86868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01583" y="1188720"/>
            <a:ext cx="1581912" cy="868680"/>
          </a:xfrm>
          <a:prstGeom prst="rect">
            <a:avLst/>
          </a:prstGeom>
          <a:noFill/>
        </p:spPr>
        <p:txBody>
          <a:bodyPr wrap="square" anchor="ctr" lIns="0" rIns="0" tIns="0" bIns="0">
            <a:spAutoFit/>
          </a:bodyPr>
          <a:lstStyle/>
          <a:p>
            <a:pPr algn="ctr"/>
            <a:r>
              <a:rPr sz="1200" b="1" i="0">
                <a:solidFill>
                  <a:srgbClr val="FFFFFF"/>
                </a:solidFill>
              </a:rPr>
              <a:t>GBTRegressor</a:t>
            </a:r>
          </a:p>
          <a:p>
            <a:pPr algn="ctr"/>
            <a:r>
              <a:rPr sz="1200" b="1" i="0">
                <a:solidFill>
                  <a:srgbClr val="FFFFFF"/>
                </a:solidFill>
              </a:rPr>
              <a:t>300 trees</a:t>
            </a:r>
          </a:p>
        </p:txBody>
      </p:sp>
      <p:sp>
        <p:nvSpPr>
          <p:cNvPr id="18" name="TextBox 17"/>
          <p:cNvSpPr txBox="1"/>
          <p:nvPr/>
        </p:nvSpPr>
        <p:spPr>
          <a:xfrm>
            <a:off x="9738359" y="1188720"/>
            <a:ext cx="182880" cy="868680"/>
          </a:xfrm>
          <a:prstGeom prst="rect">
            <a:avLst/>
          </a:prstGeom>
          <a:noFill/>
        </p:spPr>
        <p:txBody>
          <a:bodyPr wrap="square" anchor="ctr" lIns="0" rIns="0" tIns="0" bIns="0">
            <a:spAutoFit/>
          </a:bodyPr>
          <a:lstStyle/>
          <a:p>
            <a:pPr algn="ctr"/>
            <a:r>
              <a:rPr sz="1600" b="1" i="0">
                <a:solidFill>
                  <a:srgbClr val="6B7785"/>
                </a:solidFill>
              </a:rPr>
              <a:t>→</a:t>
            </a:r>
          </a:p>
        </p:txBody>
      </p:sp>
      <p:sp>
        <p:nvSpPr>
          <p:cNvPr id="19" name="Rectangle 18"/>
          <p:cNvSpPr/>
          <p:nvPr/>
        </p:nvSpPr>
        <p:spPr>
          <a:xfrm>
            <a:off x="9921240" y="1188720"/>
            <a:ext cx="1691640" cy="8686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76104" y="1188720"/>
            <a:ext cx="1581912" cy="868680"/>
          </a:xfrm>
          <a:prstGeom prst="rect">
            <a:avLst/>
          </a:prstGeom>
          <a:noFill/>
        </p:spPr>
        <p:txBody>
          <a:bodyPr wrap="square" anchor="ctr" lIns="0" rIns="0" tIns="0" bIns="0">
            <a:spAutoFit/>
          </a:bodyPr>
          <a:lstStyle/>
          <a:p>
            <a:pPr algn="ctr"/>
            <a:r>
              <a:rPr sz="1200" b="1" i="0">
                <a:solidFill>
                  <a:srgbClr val="FFFFFF"/>
                </a:solidFill>
              </a:rPr>
              <a:t>Model on HDFS</a:t>
            </a:r>
          </a:p>
          <a:p>
            <a:pPr algn="ctr"/>
            <a:r>
              <a:rPr sz="1200" b="1" i="0">
                <a:solidFill>
                  <a:srgbClr val="FFFFFF"/>
                </a:solidFill>
              </a:rPr>
              <a:t>→ stream</a:t>
            </a:r>
          </a:p>
        </p:txBody>
      </p:sp>
      <p:sp>
        <p:nvSpPr>
          <p:cNvPr id="21" name="Rectangle 20"/>
          <p:cNvSpPr/>
          <p:nvPr/>
        </p:nvSpPr>
        <p:spPr>
          <a:xfrm>
            <a:off x="548640" y="2286000"/>
            <a:ext cx="3749039"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286000"/>
            <a:ext cx="3749039"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2286000"/>
            <a:ext cx="3474720" cy="384048"/>
          </a:xfrm>
          <a:prstGeom prst="rect">
            <a:avLst/>
          </a:prstGeom>
          <a:noFill/>
        </p:spPr>
        <p:txBody>
          <a:bodyPr wrap="square" anchor="ctr" lIns="0" rIns="0" tIns="0" bIns="0">
            <a:spAutoFit/>
          </a:bodyPr>
          <a:lstStyle/>
          <a:p>
            <a:r>
              <a:rPr sz="1400" b="1" i="0">
                <a:solidFill>
                  <a:srgbClr val="FFFFFF"/>
                </a:solidFill>
              </a:rPr>
              <a:t>Features (86)</a:t>
            </a:r>
          </a:p>
        </p:txBody>
      </p:sp>
      <p:sp>
        <p:nvSpPr>
          <p:cNvPr id="24" name="TextBox 23"/>
          <p:cNvSpPr txBox="1"/>
          <p:nvPr/>
        </p:nvSpPr>
        <p:spPr>
          <a:xfrm>
            <a:off x="685800" y="2743200"/>
            <a:ext cx="3520440" cy="3520440"/>
          </a:xfrm>
          <a:prstGeom prst="rect">
            <a:avLst/>
          </a:prstGeom>
          <a:noFill/>
        </p:spPr>
        <p:txBody>
          <a:bodyPr wrap="square" lIns="0" rIns="0" tIns="0" bIns="0">
            <a:spAutoFit/>
          </a:bodyPr>
          <a:lstStyle/>
          <a:p>
            <a:pPr>
              <a:spcAft>
                <a:spcPts val="400"/>
              </a:spcAft>
            </a:pPr>
            <a:r>
              <a:rPr sz="1150">
                <a:solidFill>
                  <a:srgbClr val="1A1A1A"/>
                </a:solidFill>
              </a:rPr>
              <a:t>•  Current: pm25, pm10, no2, so2, co, o3, nh3</a:t>
            </a:r>
          </a:p>
          <a:p>
            <a:pPr>
              <a:spcAft>
                <a:spcPts val="400"/>
              </a:spcAft>
            </a:pPr>
            <a:r>
              <a:rPr sz="1150">
                <a:solidFill>
                  <a:srgbClr val="1A1A1A"/>
                </a:solidFill>
              </a:rPr>
              <a:t>•  History: lag_1h, rolling 3/6/24 h means, std_6h, delta_1h, surge_ratio</a:t>
            </a:r>
          </a:p>
          <a:p>
            <a:pPr>
              <a:spcAft>
                <a:spcPts val="400"/>
              </a:spcAft>
            </a:pPr>
            <a:r>
              <a:rPr sz="1150">
                <a:solidFill>
                  <a:srgbClr val="1A1A1A"/>
                </a:solidFill>
              </a:rPr>
              <a:t>•  CPCB AQI sub-indices, AQI rolling</a:t>
            </a:r>
          </a:p>
          <a:p>
            <a:pPr>
              <a:spcAft>
                <a:spcPts val="400"/>
              </a:spcAft>
            </a:pPr>
            <a:r>
              <a:rPr sz="1150">
                <a:solidFill>
                  <a:srgbClr val="1A1A1A"/>
                </a:solidFill>
              </a:rPr>
              <a:t>•  Weather: temperature, humidity, wind, pressure, rain, solar</a:t>
            </a:r>
          </a:p>
          <a:p>
            <a:pPr>
              <a:spcAft>
                <a:spcPts val="400"/>
              </a:spcAft>
            </a:pPr>
            <a:r>
              <a:rPr sz="1150">
                <a:solidFill>
                  <a:srgbClr val="1A1A1A"/>
                </a:solidFill>
              </a:rPr>
              <a:t>•  Time: hour_sin / hour_cos, rush hour</a:t>
            </a:r>
          </a:p>
          <a:p>
            <a:pPr>
              <a:spcAft>
                <a:spcPts val="400"/>
              </a:spcAft>
            </a:pPr>
            <a:r>
              <a:rPr sz="1150">
                <a:solidFill>
                  <a:srgbClr val="1A1A1A"/>
                </a:solidFill>
              </a:rPr>
              <a:t>•  Context: traffic, urbanization, climate (one-hot)</a:t>
            </a:r>
          </a:p>
          <a:p>
            <a:pPr>
              <a:spcAft>
                <a:spcPts val="400"/>
              </a:spcAft>
            </a:pPr>
            <a:r>
              <a:rPr sz="1150">
                <a:solidFill>
                  <a:srgbClr val="1A1A1A"/>
                </a:solidFill>
              </a:rPr>
              <a:t>•  Provenance: *_was_imputed flags</a:t>
            </a:r>
          </a:p>
        </p:txBody>
      </p:sp>
      <p:sp>
        <p:nvSpPr>
          <p:cNvPr id="25" name="Rectangle 24"/>
          <p:cNvSpPr/>
          <p:nvPr/>
        </p:nvSpPr>
        <p:spPr>
          <a:xfrm>
            <a:off x="4434840" y="2286000"/>
            <a:ext cx="3566160"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2286000"/>
            <a:ext cx="356616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2286000"/>
            <a:ext cx="3291840" cy="384048"/>
          </a:xfrm>
          <a:prstGeom prst="rect">
            <a:avLst/>
          </a:prstGeom>
          <a:noFill/>
        </p:spPr>
        <p:txBody>
          <a:bodyPr wrap="square" anchor="ctr" lIns="0" rIns="0" tIns="0" bIns="0">
            <a:spAutoFit/>
          </a:bodyPr>
          <a:lstStyle/>
          <a:p>
            <a:r>
              <a:rPr sz="1400" b="1" i="0">
                <a:solidFill>
                  <a:srgbClr val="FFFFFF"/>
                </a:solidFill>
              </a:rPr>
              <a:t>Algorithm — GBTRegressor</a:t>
            </a:r>
          </a:p>
        </p:txBody>
      </p:sp>
      <p:graphicFrame>
        <p:nvGraphicFramePr>
          <p:cNvPr id="28" name="Table 27"/>
          <p:cNvGraphicFramePr>
            <a:graphicFrameLocks noGrp="1"/>
          </p:cNvGraphicFramePr>
          <p:nvPr/>
        </p:nvGraphicFramePr>
        <p:xfrm>
          <a:off x="4572000" y="2743200"/>
          <a:ext cx="3291840" cy="2779776"/>
        </p:xfrm>
        <a:graphic>
          <a:graphicData uri="http://schemas.openxmlformats.org/drawingml/2006/table">
            <a:tbl>
              <a:tblPr firstRow="0" bandRow="0">
                <a:tableStyleId>{5C22544A-7EE6-4342-B048-85BDC9FD1C3A}</a:tableStyleId>
              </a:tblPr>
              <a:tblGrid>
                <a:gridCol w="1645920"/>
                <a:gridCol w="1645920"/>
              </a:tblGrid>
              <a:tr h="347472">
                <a:tc>
                  <a:txBody>
                    <a:bodyPr/>
                    <a:lstStyle/>
                    <a:p>
                      <a:r>
                        <a:rPr sz="1150" b="1">
                          <a:solidFill>
                            <a:srgbClr val="FFFFFF"/>
                          </a:solidFill>
                        </a:rPr>
                        <a:t>Parameter</a:t>
                      </a:r>
                    </a:p>
                  </a:txBody>
                  <a:tcPr anchor="ctr">
                    <a:solidFill>
                      <a:srgbClr val="0B5F8A"/>
                    </a:solidFill>
                  </a:tcPr>
                </a:tc>
                <a:tc>
                  <a:txBody>
                    <a:bodyPr/>
                    <a:lstStyle/>
                    <a:p>
                      <a:r>
                        <a:rPr sz="1150" b="1">
                          <a:solidFill>
                            <a:srgbClr val="FFFFFF"/>
                          </a:solidFill>
                        </a:rPr>
                        <a:t>Value</a:t>
                      </a:r>
                    </a:p>
                  </a:txBody>
                  <a:tcPr anchor="ctr">
                    <a:solidFill>
                      <a:srgbClr val="0B5F8A"/>
                    </a:solidFill>
                  </a:tcPr>
                </a:tc>
              </a:tr>
              <a:tr h="347472">
                <a:tc>
                  <a:txBody>
                    <a:bodyPr/>
                    <a:lstStyle/>
                    <a:p>
                      <a:r>
                        <a:rPr sz="1150" b="0">
                          <a:solidFill>
                            <a:srgbClr val="1A1A1A"/>
                          </a:solidFill>
                        </a:rPr>
                        <a:t>maxIter</a:t>
                      </a:r>
                    </a:p>
                  </a:txBody>
                  <a:tcPr anchor="ctr">
                    <a:solidFill>
                      <a:srgbClr val="FFFFFF"/>
                    </a:solidFill>
                  </a:tcPr>
                </a:tc>
                <a:tc>
                  <a:txBody>
                    <a:bodyPr/>
                    <a:lstStyle/>
                    <a:p>
                      <a:r>
                        <a:rPr sz="1150" b="0">
                          <a:solidFill>
                            <a:srgbClr val="1A1A1A"/>
                          </a:solidFill>
                        </a:rPr>
                        <a:t>300</a:t>
                      </a:r>
                    </a:p>
                  </a:txBody>
                  <a:tcPr anchor="ctr">
                    <a:solidFill>
                      <a:srgbClr val="FFFFFF"/>
                    </a:solidFill>
                  </a:tcPr>
                </a:tc>
              </a:tr>
              <a:tr h="347472">
                <a:tc>
                  <a:txBody>
                    <a:bodyPr/>
                    <a:lstStyle/>
                    <a:p>
                      <a:r>
                        <a:rPr sz="1150" b="0">
                          <a:solidFill>
                            <a:srgbClr val="1A1A1A"/>
                          </a:solidFill>
                        </a:rPr>
                        <a:t>maxDepth</a:t>
                      </a:r>
                    </a:p>
                  </a:txBody>
                  <a:tcPr anchor="ctr">
                    <a:solidFill>
                      <a:srgbClr val="F7F9FB"/>
                    </a:solidFill>
                  </a:tcPr>
                </a:tc>
                <a:tc>
                  <a:txBody>
                    <a:bodyPr/>
                    <a:lstStyle/>
                    <a:p>
                      <a:r>
                        <a:rPr sz="1150" b="0">
                          <a:solidFill>
                            <a:srgbClr val="1A1A1A"/>
                          </a:solidFill>
                        </a:rPr>
                        <a:t>6</a:t>
                      </a:r>
                    </a:p>
                  </a:txBody>
                  <a:tcPr anchor="ctr">
                    <a:solidFill>
                      <a:srgbClr val="F7F9FB"/>
                    </a:solidFill>
                  </a:tcPr>
                </a:tc>
              </a:tr>
              <a:tr h="347472">
                <a:tc>
                  <a:txBody>
                    <a:bodyPr/>
                    <a:lstStyle/>
                    <a:p>
                      <a:r>
                        <a:rPr sz="1150" b="0">
                          <a:solidFill>
                            <a:srgbClr val="1A1A1A"/>
                          </a:solidFill>
                        </a:rPr>
                        <a:t>stepSize η</a:t>
                      </a:r>
                    </a:p>
                  </a:txBody>
                  <a:tcPr anchor="ctr">
                    <a:solidFill>
                      <a:srgbClr val="FFFFFF"/>
                    </a:solidFill>
                  </a:tcPr>
                </a:tc>
                <a:tc>
                  <a:txBody>
                    <a:bodyPr/>
                    <a:lstStyle/>
                    <a:p>
                      <a:r>
                        <a:rPr sz="1150" b="0">
                          <a:solidFill>
                            <a:srgbClr val="1A1A1A"/>
                          </a:solidFill>
                        </a:rPr>
                        <a:t>0.08</a:t>
                      </a:r>
                    </a:p>
                  </a:txBody>
                  <a:tcPr anchor="ctr">
                    <a:solidFill>
                      <a:srgbClr val="FFFFFF"/>
                    </a:solidFill>
                  </a:tcPr>
                </a:tc>
              </a:tr>
              <a:tr h="347472">
                <a:tc>
                  <a:txBody>
                    <a:bodyPr/>
                    <a:lstStyle/>
                    <a:p>
                      <a:r>
                        <a:rPr sz="1150" b="0">
                          <a:solidFill>
                            <a:srgbClr val="1A1A1A"/>
                          </a:solidFill>
                        </a:rPr>
                        <a:t>subsamplingRate</a:t>
                      </a:r>
                    </a:p>
                  </a:txBody>
                  <a:tcPr anchor="ctr">
                    <a:solidFill>
                      <a:srgbClr val="F7F9FB"/>
                    </a:solidFill>
                  </a:tcPr>
                </a:tc>
                <a:tc>
                  <a:txBody>
                    <a:bodyPr/>
                    <a:lstStyle/>
                    <a:p>
                      <a:r>
                        <a:rPr sz="1150" b="0">
                          <a:solidFill>
                            <a:srgbClr val="1A1A1A"/>
                          </a:solidFill>
                        </a:rPr>
                        <a:t>0.8</a:t>
                      </a:r>
                    </a:p>
                  </a:txBody>
                  <a:tcPr anchor="ctr">
                    <a:solidFill>
                      <a:srgbClr val="F7F9FB"/>
                    </a:solidFill>
                  </a:tcPr>
                </a:tc>
              </a:tr>
              <a:tr h="347472">
                <a:tc>
                  <a:txBody>
                    <a:bodyPr/>
                    <a:lstStyle/>
                    <a:p>
                      <a:r>
                        <a:rPr sz="1150" b="0">
                          <a:solidFill>
                            <a:srgbClr val="1A1A1A"/>
                          </a:solidFill>
                        </a:rPr>
                        <a:t>featureSubset</a:t>
                      </a:r>
                    </a:p>
                  </a:txBody>
                  <a:tcPr anchor="ctr">
                    <a:solidFill>
                      <a:srgbClr val="FFFFFF"/>
                    </a:solidFill>
                  </a:tcPr>
                </a:tc>
                <a:tc>
                  <a:txBody>
                    <a:bodyPr/>
                    <a:lstStyle/>
                    <a:p>
                      <a:r>
                        <a:rPr sz="1150" b="0">
                          <a:solidFill>
                            <a:srgbClr val="1A1A1A"/>
                          </a:solidFill>
                        </a:rPr>
                        <a:t>sqrt</a:t>
                      </a:r>
                    </a:p>
                  </a:txBody>
                  <a:tcPr anchor="ctr">
                    <a:solidFill>
                      <a:srgbClr val="FFFFFF"/>
                    </a:solidFill>
                  </a:tcPr>
                </a:tc>
              </a:tr>
              <a:tr h="347472">
                <a:tc>
                  <a:txBody>
                    <a:bodyPr/>
                    <a:lstStyle/>
                    <a:p>
                      <a:r>
                        <a:rPr sz="1150" b="0">
                          <a:solidFill>
                            <a:srgbClr val="1A1A1A"/>
                          </a:solidFill>
                        </a:rPr>
                        <a:t>maxBins</a:t>
                      </a:r>
                    </a:p>
                  </a:txBody>
                  <a:tcPr anchor="ctr">
                    <a:solidFill>
                      <a:srgbClr val="F7F9FB"/>
                    </a:solidFill>
                  </a:tcPr>
                </a:tc>
                <a:tc>
                  <a:txBody>
                    <a:bodyPr/>
                    <a:lstStyle/>
                    <a:p>
                      <a:r>
                        <a:rPr sz="1150" b="0">
                          <a:solidFill>
                            <a:srgbClr val="1A1A1A"/>
                          </a:solidFill>
                        </a:rPr>
                        <a:t>64</a:t>
                      </a:r>
                    </a:p>
                  </a:txBody>
                  <a:tcPr anchor="ctr">
                    <a:solidFill>
                      <a:srgbClr val="F7F9FB"/>
                    </a:solidFill>
                  </a:tcPr>
                </a:tc>
              </a:tr>
              <a:tr h="347472">
                <a:tc>
                  <a:txBody>
                    <a:bodyPr/>
                    <a:lstStyle/>
                    <a:p>
                      <a:r>
                        <a:rPr sz="1150" b="0">
                          <a:solidFill>
                            <a:srgbClr val="1A1A1A"/>
                          </a:solidFill>
                        </a:rPr>
                        <a:t>Target</a:t>
                      </a:r>
                    </a:p>
                  </a:txBody>
                  <a:tcPr anchor="ctr">
                    <a:solidFill>
                      <a:srgbClr val="FFFFFF"/>
                    </a:solidFill>
                  </a:tcPr>
                </a:tc>
                <a:tc>
                  <a:txBody>
                    <a:bodyPr/>
                    <a:lstStyle/>
                    <a:p>
                      <a:r>
                        <a:rPr sz="1150" b="0">
                          <a:solidFill>
                            <a:srgbClr val="1A1A1A"/>
                          </a:solidFill>
                        </a:rPr>
                        <a:t>PM₂.₅(t+1) − PM₂.₅(t)</a:t>
                      </a:r>
                    </a:p>
                  </a:txBody>
                  <a:tcPr anchor="ctr">
                    <a:solidFill>
                      <a:srgbClr val="FFFFFF"/>
                    </a:solidFill>
                  </a:tcPr>
                </a:tc>
              </a:tr>
            </a:tbl>
          </a:graphicData>
        </a:graphic>
      </p:graphicFrame>
      <p:sp>
        <p:nvSpPr>
          <p:cNvPr id="29" name="TextBox 28"/>
          <p:cNvSpPr txBox="1"/>
          <p:nvPr/>
        </p:nvSpPr>
        <p:spPr>
          <a:xfrm>
            <a:off x="4572000" y="5623560"/>
            <a:ext cx="3291840" cy="594360"/>
          </a:xfrm>
          <a:prstGeom prst="rect">
            <a:avLst/>
          </a:prstGeom>
          <a:noFill/>
        </p:spPr>
        <p:txBody>
          <a:bodyPr wrap="square" anchor="t" lIns="0" rIns="0" tIns="0" bIns="0">
            <a:spAutoFit/>
          </a:bodyPr>
          <a:lstStyle/>
          <a:p>
            <a:r>
              <a:rPr sz="1050" b="0" i="1">
                <a:solidFill>
                  <a:srgbClr val="5A6673"/>
                </a:solidFill>
              </a:rPr>
              <a:t>Trained on 10 M rows (seeded sample; RAM ceiling), tested on all 18.7 M hold-out rows.</a:t>
            </a:r>
          </a:p>
        </p:txBody>
      </p:sp>
      <p:sp>
        <p:nvSpPr>
          <p:cNvPr id="30" name="Rectangle 29"/>
          <p:cNvSpPr/>
          <p:nvPr/>
        </p:nvSpPr>
        <p:spPr>
          <a:xfrm>
            <a:off x="8138160" y="2286000"/>
            <a:ext cx="3520440"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2286000"/>
            <a:ext cx="352044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2286000"/>
            <a:ext cx="3246120" cy="384048"/>
          </a:xfrm>
          <a:prstGeom prst="rect">
            <a:avLst/>
          </a:prstGeom>
          <a:noFill/>
        </p:spPr>
        <p:txBody>
          <a:bodyPr wrap="square" anchor="ctr" lIns="0" rIns="0" tIns="0" bIns="0">
            <a:spAutoFit/>
          </a:bodyPr>
          <a:lstStyle/>
          <a:p>
            <a:r>
              <a:rPr sz="1400" b="1" i="0">
                <a:solidFill>
                  <a:srgbClr val="FFFFFF"/>
                </a:solidFill>
              </a:rPr>
              <a:t>Tuning — controlled experiments</a:t>
            </a:r>
          </a:p>
        </p:txBody>
      </p:sp>
      <p:graphicFrame>
        <p:nvGraphicFramePr>
          <p:cNvPr id="33" name="Table 32"/>
          <p:cNvGraphicFramePr>
            <a:graphicFrameLocks noGrp="1"/>
          </p:cNvGraphicFramePr>
          <p:nvPr/>
        </p:nvGraphicFramePr>
        <p:xfrm>
          <a:off x="8229600" y="2743200"/>
          <a:ext cx="3337560" cy="2304288"/>
        </p:xfrm>
        <a:graphic>
          <a:graphicData uri="http://schemas.openxmlformats.org/drawingml/2006/table">
            <a:tbl>
              <a:tblPr firstRow="0" bandRow="0">
                <a:tableStyleId>{5C22544A-7EE6-4342-B048-85BDC9FD1C3A}</a:tableStyleId>
              </a:tblPr>
              <a:tblGrid>
                <a:gridCol w="1828800"/>
                <a:gridCol w="1508760"/>
              </a:tblGrid>
              <a:tr h="384048">
                <a:tc>
                  <a:txBody>
                    <a:bodyPr/>
                    <a:lstStyle/>
                    <a:p>
                      <a:r>
                        <a:rPr sz="1100" b="1">
                          <a:solidFill>
                            <a:srgbClr val="FFFFFF"/>
                          </a:solidFill>
                        </a:rPr>
                        <a:t>Experiment</a:t>
                      </a:r>
                    </a:p>
                  </a:txBody>
                  <a:tcPr anchor="ctr">
                    <a:solidFill>
                      <a:srgbClr val="0B5F8A"/>
                    </a:solidFill>
                  </a:tcPr>
                </a:tc>
                <a:tc>
                  <a:txBody>
                    <a:bodyPr/>
                    <a:lstStyle/>
                    <a:p>
                      <a:r>
                        <a:rPr sz="1100" b="1">
                          <a:solidFill>
                            <a:srgbClr val="FFFFFF"/>
                          </a:solidFill>
                        </a:rPr>
                        <a:t>RMSE gain vs persistence</a:t>
                      </a:r>
                    </a:p>
                  </a:txBody>
                  <a:tcPr anchor="ctr">
                    <a:solidFill>
                      <a:srgbClr val="0B5F8A"/>
                    </a:solidFill>
                  </a:tcPr>
                </a:tc>
              </a:tr>
              <a:tr h="384048">
                <a:tc>
                  <a:txBody>
                    <a:bodyPr/>
                    <a:lstStyle/>
                    <a:p>
                      <a:r>
                        <a:rPr sz="1100" b="0">
                          <a:solidFill>
                            <a:srgbClr val="1A1A1A"/>
                          </a:solidFill>
                        </a:rPr>
                        <a:t>20 trees (plan default)</a:t>
                      </a:r>
                    </a:p>
                  </a:txBody>
                  <a:tcPr anchor="ctr">
                    <a:solidFill>
                      <a:srgbClr val="FFFFFF"/>
                    </a:solidFill>
                  </a:tcPr>
                </a:tc>
                <a:tc>
                  <a:txBody>
                    <a:bodyPr/>
                    <a:lstStyle/>
                    <a:p>
                      <a:r>
                        <a:rPr sz="1100" b="0">
                          <a:solidFill>
                            <a:srgbClr val="1A1A1A"/>
                          </a:solidFill>
                        </a:rPr>
                        <a:t>too few</a:t>
                      </a:r>
                    </a:p>
                  </a:txBody>
                  <a:tcPr anchor="ctr">
                    <a:solidFill>
                      <a:srgbClr val="FFFFFF"/>
                    </a:solidFill>
                  </a:tcPr>
                </a:tc>
              </a:tr>
              <a:tr h="384048">
                <a:tc>
                  <a:txBody>
                    <a:bodyPr/>
                    <a:lstStyle/>
                    <a:p>
                      <a:r>
                        <a:rPr sz="1100" b="0">
                          <a:solidFill>
                            <a:srgbClr val="1A1A1A"/>
                          </a:solidFill>
                        </a:rPr>
                        <a:t>19 cities, 120 trees</a:t>
                      </a:r>
                    </a:p>
                  </a:txBody>
                  <a:tcPr anchor="ctr">
                    <a:solidFill>
                      <a:srgbClr val="F7F9FB"/>
                    </a:solidFill>
                  </a:tcPr>
                </a:tc>
                <a:tc>
                  <a:txBody>
                    <a:bodyPr/>
                    <a:lstStyle/>
                    <a:p>
                      <a:r>
                        <a:rPr sz="1100" b="0">
                          <a:solidFill>
                            <a:srgbClr val="1A1A1A"/>
                          </a:solidFill>
                        </a:rPr>
                        <a:t>5.67 %</a:t>
                      </a:r>
                    </a:p>
                  </a:txBody>
                  <a:tcPr anchor="ctr">
                    <a:solidFill>
                      <a:srgbClr val="F7F9FB"/>
                    </a:solidFill>
                  </a:tcPr>
                </a:tc>
              </a:tr>
              <a:tr h="384048">
                <a:tc>
                  <a:txBody>
                    <a:bodyPr/>
                    <a:lstStyle/>
                    <a:p>
                      <a:r>
                        <a:rPr sz="1100" b="0">
                          <a:solidFill>
                            <a:srgbClr val="1A1A1A"/>
                          </a:solidFill>
                        </a:rPr>
                        <a:t>Level target (local repro)</a:t>
                      </a:r>
                    </a:p>
                  </a:txBody>
                  <a:tcPr anchor="ctr">
                    <a:solidFill>
                      <a:srgbClr val="FFFFFF"/>
                    </a:solidFill>
                  </a:tcPr>
                </a:tc>
                <a:tc>
                  <a:txBody>
                    <a:bodyPr/>
                    <a:lstStyle/>
                    <a:p>
                      <a:r>
                        <a:rPr sz="1100" b="0">
                          <a:solidFill>
                            <a:srgbClr val="1A1A1A"/>
                          </a:solidFill>
                        </a:rPr>
                        <a:t>5.6 %</a:t>
                      </a:r>
                    </a:p>
                  </a:txBody>
                  <a:tcPr anchor="ctr">
                    <a:solidFill>
                      <a:srgbClr val="FFFFFF"/>
                    </a:solidFill>
                  </a:tcPr>
                </a:tc>
              </a:tr>
              <a:tr h="384048">
                <a:tc>
                  <a:txBody>
                    <a:bodyPr/>
                    <a:lstStyle/>
                    <a:p>
                      <a:r>
                        <a:rPr sz="1100" b="0">
                          <a:solidFill>
                            <a:srgbClr val="1A1A1A"/>
                          </a:solidFill>
                        </a:rPr>
                        <a:t>Delta target (local repro)</a:t>
                      </a:r>
                    </a:p>
                  </a:txBody>
                  <a:tcPr anchor="ctr">
                    <a:solidFill>
                      <a:srgbClr val="F7F9FB"/>
                    </a:solidFill>
                  </a:tcPr>
                </a:tc>
                <a:tc>
                  <a:txBody>
                    <a:bodyPr/>
                    <a:lstStyle/>
                    <a:p>
                      <a:r>
                        <a:rPr sz="1100" b="0">
                          <a:solidFill>
                            <a:srgbClr val="1A1A1A"/>
                          </a:solidFill>
                        </a:rPr>
                        <a:t>11.3 %</a:t>
                      </a:r>
                    </a:p>
                  </a:txBody>
                  <a:tcPr anchor="ctr">
                    <a:solidFill>
                      <a:srgbClr val="F7F9FB"/>
                    </a:solidFill>
                  </a:tcPr>
                </a:tc>
              </a:tr>
              <a:tr h="384048">
                <a:tc>
                  <a:txBody>
                    <a:bodyPr/>
                    <a:lstStyle/>
                    <a:p>
                      <a:r>
                        <a:rPr sz="1100" b="0">
                          <a:solidFill>
                            <a:srgbClr val="1A1A1A"/>
                          </a:solidFill>
                        </a:rPr>
                        <a:t>241 cities, 300 trees</a:t>
                      </a:r>
                    </a:p>
                  </a:txBody>
                  <a:tcPr anchor="ctr">
                    <a:solidFill>
                      <a:srgbClr val="FFFFFF"/>
                    </a:solidFill>
                  </a:tcPr>
                </a:tc>
                <a:tc>
                  <a:txBody>
                    <a:bodyPr/>
                    <a:lstStyle/>
                    <a:p>
                      <a:r>
                        <a:rPr sz="1100" b="0">
                          <a:solidFill>
                            <a:srgbClr val="1A1A1A"/>
                          </a:solidFill>
                        </a:rPr>
                        <a:t>12.18 %</a:t>
                      </a:r>
                    </a:p>
                  </a:txBody>
                  <a:tcPr anchor="ctr">
                    <a:solidFill>
                      <a:srgbClr val="FFFFFF"/>
                    </a:solidFill>
                  </a:tcPr>
                </a:tc>
              </a:tr>
            </a:tbl>
          </a:graphicData>
        </a:graphic>
      </p:graphicFrame>
      <p:sp>
        <p:nvSpPr>
          <p:cNvPr id="34" name="TextBox 33"/>
          <p:cNvSpPr txBox="1"/>
          <p:nvPr/>
        </p:nvSpPr>
        <p:spPr>
          <a:xfrm>
            <a:off x="8229600" y="5257800"/>
            <a:ext cx="3337560" cy="914400"/>
          </a:xfrm>
          <a:prstGeom prst="rect">
            <a:avLst/>
          </a:prstGeom>
          <a:noFill/>
        </p:spPr>
        <p:txBody>
          <a:bodyPr wrap="square" anchor="t" lIns="0" rIns="0" tIns="0" bIns="0">
            <a:spAutoFit/>
          </a:bodyPr>
          <a:lstStyle/>
          <a:p>
            <a:r>
              <a:rPr sz="1050" b="0" i="1">
                <a:solidFill>
                  <a:srgbClr val="5A6673"/>
                </a:solidFill>
              </a:rPr>
              <a:t>Split by time, never at random: consecutive hours correlate ≈ 0.81 → a random split leaks the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Results — Metrics, Model Comparison, Business Insight</a:t>
            </a:r>
          </a:p>
        </p:txBody>
      </p:sp>
      <p:graphicFrame>
        <p:nvGraphicFramePr>
          <p:cNvPr id="4" name="Chart 3"/>
          <p:cNvGraphicFramePr>
            <a:graphicFrameLocks noGrp="1"/>
          </p:cNvGraphicFramePr>
          <p:nvPr/>
        </p:nvGraphicFramePr>
        <p:xfrm>
          <a:off x="548640" y="1143000"/>
          <a:ext cx="3383280" cy="3017520"/>
        </p:xfrm>
        <a:graphic>
          <a:graphicData uri="http://schemas.openxmlformats.org/drawingml/2006/chart">
            <c:chart xmlns:c="http://schemas.openxmlformats.org/drawingml/2006/chart" r:id="rId3"/>
          </a:graphicData>
        </a:graphic>
      </p:graphicFrame>
      <p:sp>
        <p:nvSpPr>
          <p:cNvPr id="5" name="TextBox 4"/>
          <p:cNvSpPr txBox="1"/>
          <p:nvPr/>
        </p:nvSpPr>
        <p:spPr>
          <a:xfrm>
            <a:off x="548640" y="4160520"/>
            <a:ext cx="3383280" cy="457200"/>
          </a:xfrm>
          <a:prstGeom prst="rect">
            <a:avLst/>
          </a:prstGeom>
          <a:noFill/>
        </p:spPr>
        <p:txBody>
          <a:bodyPr wrap="square" anchor="t" lIns="0" rIns="0" tIns="0" bIns="0">
            <a:spAutoFit/>
          </a:bodyPr>
          <a:lstStyle/>
          <a:p>
            <a:r>
              <a:rPr sz="1100" b="0" i="1">
                <a:solidFill>
                  <a:srgbClr val="6B7785"/>
                </a:solidFill>
              </a:rPr>
              <a:t>RMSE µg/m³ (lower is better), real rows n = 2,074,569</a:t>
            </a:r>
          </a:p>
        </p:txBody>
      </p:sp>
      <p:graphicFrame>
        <p:nvGraphicFramePr>
          <p:cNvPr id="6" name="Table 5"/>
          <p:cNvGraphicFramePr>
            <a:graphicFrameLocks noGrp="1"/>
          </p:cNvGraphicFramePr>
          <p:nvPr/>
        </p:nvGraphicFramePr>
        <p:xfrm>
          <a:off x="4114800" y="1143000"/>
          <a:ext cx="3931920" cy="2304288"/>
        </p:xfrm>
        <a:graphic>
          <a:graphicData uri="http://schemas.openxmlformats.org/drawingml/2006/table">
            <a:tbl>
              <a:tblPr firstRow="0" bandRow="0">
                <a:tableStyleId>{5C22544A-7EE6-4342-B048-85BDC9FD1C3A}</a:tableStyleId>
              </a:tblPr>
              <a:tblGrid>
                <a:gridCol w="1371600"/>
                <a:gridCol w="914400"/>
                <a:gridCol w="731520"/>
                <a:gridCol w="914400"/>
              </a:tblGrid>
              <a:tr h="384048">
                <a:tc>
                  <a:txBody>
                    <a:bodyPr/>
                    <a:lstStyle/>
                    <a:p>
                      <a:r>
                        <a:rPr sz="1100" b="1">
                          <a:solidFill>
                            <a:srgbClr val="FFFFFF"/>
                          </a:solidFill>
                        </a:rPr>
                        <a:t>Metric table</a:t>
                      </a:r>
                    </a:p>
                  </a:txBody>
                  <a:tcPr anchor="ctr">
                    <a:solidFill>
                      <a:srgbClr val="0B5F8A"/>
                    </a:solidFill>
                  </a:tcPr>
                </a:tc>
                <a:tc>
                  <a:txBody>
                    <a:bodyPr/>
                    <a:lstStyle/>
                    <a:p>
                      <a:r>
                        <a:rPr sz="1100" b="1">
                          <a:solidFill>
                            <a:srgbClr val="FFFFFF"/>
                          </a:solidFill>
                        </a:rPr>
                        <a:t>Persistence</a:t>
                      </a:r>
                    </a:p>
                  </a:txBody>
                  <a:tcPr anchor="ctr">
                    <a:solidFill>
                      <a:srgbClr val="0B5F8A"/>
                    </a:solidFill>
                  </a:tcPr>
                </a:tc>
                <a:tc>
                  <a:txBody>
                    <a:bodyPr/>
                    <a:lstStyle/>
                    <a:p>
                      <a:r>
                        <a:rPr sz="1100" b="1">
                          <a:solidFill>
                            <a:srgbClr val="FFFFFF"/>
                          </a:solidFill>
                        </a:rPr>
                        <a:t>GBT</a:t>
                      </a:r>
                    </a:p>
                  </a:txBody>
                  <a:tcPr anchor="ctr">
                    <a:solidFill>
                      <a:srgbClr val="0B5F8A"/>
                    </a:solidFill>
                  </a:tcPr>
                </a:tc>
                <a:tc>
                  <a:txBody>
                    <a:bodyPr/>
                    <a:lstStyle/>
                    <a:p>
                      <a:r>
                        <a:rPr sz="1100" b="1">
                          <a:solidFill>
                            <a:srgbClr val="FFFFFF"/>
                          </a:solidFill>
                        </a:rPr>
                        <a:t>Gain</a:t>
                      </a:r>
                    </a:p>
                  </a:txBody>
                  <a:tcPr anchor="ctr">
                    <a:solidFill>
                      <a:srgbClr val="0B5F8A"/>
                    </a:solidFill>
                  </a:tcPr>
                </a:tc>
              </a:tr>
              <a:tr h="384048">
                <a:tc>
                  <a:txBody>
                    <a:bodyPr/>
                    <a:lstStyle/>
                    <a:p>
                      <a:r>
                        <a:rPr sz="1100" b="0">
                          <a:solidFill>
                            <a:srgbClr val="1A1A1A"/>
                          </a:solidFill>
                        </a:rPr>
                        <a:t>R² (real rows)</a:t>
                      </a:r>
                    </a:p>
                  </a:txBody>
                  <a:tcPr anchor="ctr">
                    <a:solidFill>
                      <a:srgbClr val="FFFFFF"/>
                    </a:solidFill>
                  </a:tcPr>
                </a:tc>
                <a:tc>
                  <a:txBody>
                    <a:bodyPr/>
                    <a:lstStyle/>
                    <a:p>
                      <a:r>
                        <a:rPr sz="1100" b="0">
                          <a:solidFill>
                            <a:srgbClr val="1A1A1A"/>
                          </a:solidFill>
                        </a:rPr>
                        <a:t>0.8587</a:t>
                      </a:r>
                    </a:p>
                  </a:txBody>
                  <a:tcPr anchor="ctr">
                    <a:solidFill>
                      <a:srgbClr val="FFFFFF"/>
                    </a:solidFill>
                  </a:tcPr>
                </a:tc>
                <a:tc>
                  <a:txBody>
                    <a:bodyPr/>
                    <a:lstStyle/>
                    <a:p>
                      <a:r>
                        <a:rPr sz="1100" b="0">
                          <a:solidFill>
                            <a:srgbClr val="1B7A3D"/>
                          </a:solidFill>
                        </a:rPr>
                        <a:t>0.8910</a:t>
                      </a:r>
                    </a:p>
                  </a:txBody>
                  <a:tcPr anchor="ctr">
                    <a:solidFill>
                      <a:srgbClr val="FFFFFF"/>
                    </a:solidFill>
                  </a:tcPr>
                </a:tc>
                <a:tc>
                  <a:txBody>
                    <a:bodyPr/>
                    <a:lstStyle/>
                    <a:p>
                      <a:r>
                        <a:rPr sz="1100" b="0">
                          <a:solidFill>
                            <a:srgbClr val="1A1A1A"/>
                          </a:solidFill>
                        </a:rPr>
                        <a:t>+ 0.0323</a:t>
                      </a:r>
                    </a:p>
                  </a:txBody>
                  <a:tcPr anchor="ctr">
                    <a:solidFill>
                      <a:srgbClr val="FFFFFF"/>
                    </a:solidFill>
                  </a:tcPr>
                </a:tc>
              </a:tr>
              <a:tr h="384048">
                <a:tc>
                  <a:txBody>
                    <a:bodyPr/>
                    <a:lstStyle/>
                    <a:p>
                      <a:r>
                        <a:rPr sz="1100" b="0">
                          <a:solidFill>
                            <a:srgbClr val="1A1A1A"/>
                          </a:solidFill>
                        </a:rPr>
                        <a:t>RMSE (real)</a:t>
                      </a:r>
                    </a:p>
                  </a:txBody>
                  <a:tcPr anchor="ctr">
                    <a:solidFill>
                      <a:srgbClr val="F7F9FB"/>
                    </a:solidFill>
                  </a:tcPr>
                </a:tc>
                <a:tc>
                  <a:txBody>
                    <a:bodyPr/>
                    <a:lstStyle/>
                    <a:p>
                      <a:r>
                        <a:rPr sz="1100" b="0">
                          <a:solidFill>
                            <a:srgbClr val="1A1A1A"/>
                          </a:solidFill>
                        </a:rPr>
                        <a:t>24.831</a:t>
                      </a:r>
                    </a:p>
                  </a:txBody>
                  <a:tcPr anchor="ctr">
                    <a:solidFill>
                      <a:srgbClr val="F7F9FB"/>
                    </a:solidFill>
                  </a:tcPr>
                </a:tc>
                <a:tc>
                  <a:txBody>
                    <a:bodyPr/>
                    <a:lstStyle/>
                    <a:p>
                      <a:r>
                        <a:rPr sz="1100" b="0">
                          <a:solidFill>
                            <a:srgbClr val="1B7A3D"/>
                          </a:solidFill>
                        </a:rPr>
                        <a:t>21.806</a:t>
                      </a:r>
                    </a:p>
                  </a:txBody>
                  <a:tcPr anchor="ctr">
                    <a:solidFill>
                      <a:srgbClr val="F7F9FB"/>
                    </a:solidFill>
                  </a:tcPr>
                </a:tc>
                <a:tc>
                  <a:txBody>
                    <a:bodyPr/>
                    <a:lstStyle/>
                    <a:p>
                      <a:r>
                        <a:rPr sz="1100" b="0">
                          <a:solidFill>
                            <a:srgbClr val="1A1A1A"/>
                          </a:solidFill>
                        </a:rPr>
                        <a:t>− 12.18 %</a:t>
                      </a:r>
                    </a:p>
                  </a:txBody>
                  <a:tcPr anchor="ctr">
                    <a:solidFill>
                      <a:srgbClr val="F7F9FB"/>
                    </a:solidFill>
                  </a:tcPr>
                </a:tc>
              </a:tr>
              <a:tr h="384048">
                <a:tc>
                  <a:txBody>
                    <a:bodyPr/>
                    <a:lstStyle/>
                    <a:p>
                      <a:r>
                        <a:rPr sz="1100" b="0">
                          <a:solidFill>
                            <a:srgbClr val="1A1A1A"/>
                          </a:solidFill>
                        </a:rPr>
                        <a:t>MAE (real)</a:t>
                      </a:r>
                    </a:p>
                  </a:txBody>
                  <a:tcPr anchor="ctr">
                    <a:solidFill>
                      <a:srgbClr val="FFFFFF"/>
                    </a:solidFill>
                  </a:tcPr>
                </a:tc>
                <a:tc>
                  <a:txBody>
                    <a:bodyPr/>
                    <a:lstStyle/>
                    <a:p>
                      <a:r>
                        <a:rPr sz="1100" b="0">
                          <a:solidFill>
                            <a:srgbClr val="1A1A1A"/>
                          </a:solidFill>
                        </a:rPr>
                        <a:t>9.937</a:t>
                      </a:r>
                    </a:p>
                  </a:txBody>
                  <a:tcPr anchor="ctr">
                    <a:solidFill>
                      <a:srgbClr val="FFFFFF"/>
                    </a:solidFill>
                  </a:tcPr>
                </a:tc>
                <a:tc>
                  <a:txBody>
                    <a:bodyPr/>
                    <a:lstStyle/>
                    <a:p>
                      <a:r>
                        <a:rPr sz="1100" b="0">
                          <a:solidFill>
                            <a:srgbClr val="1B7A3D"/>
                          </a:solidFill>
                        </a:rPr>
                        <a:t>8.926</a:t>
                      </a:r>
                    </a:p>
                  </a:txBody>
                  <a:tcPr anchor="ctr">
                    <a:solidFill>
                      <a:srgbClr val="FFFFFF"/>
                    </a:solidFill>
                  </a:tcPr>
                </a:tc>
                <a:tc>
                  <a:txBody>
                    <a:bodyPr/>
                    <a:lstStyle/>
                    <a:p>
                      <a:r>
                        <a:rPr sz="1100" b="0">
                          <a:solidFill>
                            <a:srgbClr val="1A1A1A"/>
                          </a:solidFill>
                        </a:rPr>
                        <a:t>− 1.011</a:t>
                      </a:r>
                    </a:p>
                  </a:txBody>
                  <a:tcPr anchor="ctr">
                    <a:solidFill>
                      <a:srgbClr val="FFFFFF"/>
                    </a:solidFill>
                  </a:tcPr>
                </a:tc>
              </a:tr>
              <a:tr h="384048">
                <a:tc>
                  <a:txBody>
                    <a:bodyPr/>
                    <a:lstStyle/>
                    <a:p>
                      <a:r>
                        <a:rPr sz="1100" b="0">
                          <a:solidFill>
                            <a:srgbClr val="1A1A1A"/>
                          </a:solidFill>
                        </a:rPr>
                        <a:t>R² (all 18.7 M)</a:t>
                      </a:r>
                    </a:p>
                  </a:txBody>
                  <a:tcPr anchor="ctr">
                    <a:solidFill>
                      <a:srgbClr val="F7F9FB"/>
                    </a:solidFill>
                  </a:tcPr>
                </a:tc>
                <a:tc>
                  <a:txBody>
                    <a:bodyPr/>
                    <a:lstStyle/>
                    <a:p>
                      <a:r>
                        <a:rPr sz="1100" b="0">
                          <a:solidFill>
                            <a:srgbClr val="1A1A1A"/>
                          </a:solidFill>
                        </a:rPr>
                        <a:t>0.8563</a:t>
                      </a:r>
                    </a:p>
                  </a:txBody>
                  <a:tcPr anchor="ctr">
                    <a:solidFill>
                      <a:srgbClr val="F7F9FB"/>
                    </a:solidFill>
                  </a:tcPr>
                </a:tc>
                <a:tc>
                  <a:txBody>
                    <a:bodyPr/>
                    <a:lstStyle/>
                    <a:p>
                      <a:r>
                        <a:rPr sz="1100" b="0">
                          <a:solidFill>
                            <a:srgbClr val="1A1A1A"/>
                          </a:solidFill>
                        </a:rPr>
                        <a:t>0.8884</a:t>
                      </a:r>
                    </a:p>
                  </a:txBody>
                  <a:tcPr anchor="ctr">
                    <a:solidFill>
                      <a:srgbClr val="F7F9FB"/>
                    </a:solidFill>
                  </a:tcPr>
                </a:tc>
                <a:tc>
                  <a:txBody>
                    <a:bodyPr/>
                    <a:lstStyle/>
                    <a:p>
                      <a:r>
                        <a:rPr sz="1100" b="0">
                          <a:solidFill>
                            <a:srgbClr val="1A1A1A"/>
                          </a:solidFill>
                        </a:rPr>
                        <a:t>+ 0.0321</a:t>
                      </a:r>
                    </a:p>
                  </a:txBody>
                  <a:tcPr anchor="ctr">
                    <a:solidFill>
                      <a:srgbClr val="F7F9FB"/>
                    </a:solidFill>
                  </a:tcPr>
                </a:tc>
              </a:tr>
              <a:tr h="384048">
                <a:tc>
                  <a:txBody>
                    <a:bodyPr/>
                    <a:lstStyle/>
                    <a:p>
                      <a:r>
                        <a:rPr sz="1100" b="0">
                          <a:solidFill>
                            <a:srgbClr val="1A1A1A"/>
                          </a:solidFill>
                        </a:rPr>
                        <a:t>RMSE (all)</a:t>
                      </a:r>
                    </a:p>
                  </a:txBody>
                  <a:tcPr anchor="ctr">
                    <a:solidFill>
                      <a:srgbClr val="FFFFFF"/>
                    </a:solidFill>
                  </a:tcPr>
                </a:tc>
                <a:tc>
                  <a:txBody>
                    <a:bodyPr/>
                    <a:lstStyle/>
                    <a:p>
                      <a:r>
                        <a:rPr sz="1100" b="0">
                          <a:solidFill>
                            <a:srgbClr val="1A1A1A"/>
                          </a:solidFill>
                        </a:rPr>
                        <a:t>25.443</a:t>
                      </a:r>
                    </a:p>
                  </a:txBody>
                  <a:tcPr anchor="ctr">
                    <a:solidFill>
                      <a:srgbClr val="FFFFFF"/>
                    </a:solidFill>
                  </a:tcPr>
                </a:tc>
                <a:tc>
                  <a:txBody>
                    <a:bodyPr/>
                    <a:lstStyle/>
                    <a:p>
                      <a:r>
                        <a:rPr sz="1100" b="0">
                          <a:solidFill>
                            <a:srgbClr val="1A1A1A"/>
                          </a:solidFill>
                        </a:rPr>
                        <a:t>22.429</a:t>
                      </a:r>
                    </a:p>
                  </a:txBody>
                  <a:tcPr anchor="ctr">
                    <a:solidFill>
                      <a:srgbClr val="FFFFFF"/>
                    </a:solidFill>
                  </a:tcPr>
                </a:tc>
                <a:tc>
                  <a:txBody>
                    <a:bodyPr/>
                    <a:lstStyle/>
                    <a:p>
                      <a:r>
                        <a:rPr sz="1100" b="0">
                          <a:solidFill>
                            <a:srgbClr val="1A1A1A"/>
                          </a:solidFill>
                        </a:rPr>
                        <a:t>− 11.85 %</a:t>
                      </a:r>
                    </a:p>
                  </a:txBody>
                  <a:tcPr anchor="ctr">
                    <a:solidFill>
                      <a:srgbClr val="FFFFFF"/>
                    </a:solidFill>
                  </a:tcPr>
                </a:tc>
              </a:tr>
            </a:tbl>
          </a:graphicData>
        </a:graphic>
      </p:graphicFrame>
      <p:graphicFrame>
        <p:nvGraphicFramePr>
          <p:cNvPr id="7" name="Table 6"/>
          <p:cNvGraphicFramePr>
            <a:graphicFrameLocks noGrp="1"/>
          </p:cNvGraphicFramePr>
          <p:nvPr/>
        </p:nvGraphicFramePr>
        <p:xfrm>
          <a:off x="4114800" y="3566160"/>
          <a:ext cx="3931920" cy="2029968"/>
        </p:xfrm>
        <a:graphic>
          <a:graphicData uri="http://schemas.openxmlformats.org/drawingml/2006/table">
            <a:tbl>
              <a:tblPr firstRow="0" bandRow="0">
                <a:tableStyleId>{5C22544A-7EE6-4342-B048-85BDC9FD1C3A}</a:tableStyleId>
              </a:tblPr>
              <a:tblGrid>
                <a:gridCol w="2651760"/>
                <a:gridCol w="1280160"/>
              </a:tblGrid>
              <a:tr h="338328">
                <a:tc>
                  <a:txBody>
                    <a:bodyPr/>
                    <a:lstStyle/>
                    <a:p>
                      <a:r>
                        <a:rPr sz="1100" b="1">
                          <a:solidFill>
                            <a:srgbClr val="FFFFFF"/>
                          </a:solidFill>
                        </a:rPr>
                        <a:t>Model comparison</a:t>
                      </a:r>
                    </a:p>
                  </a:txBody>
                  <a:tcPr anchor="ctr">
                    <a:solidFill>
                      <a:srgbClr val="0B5F8A"/>
                    </a:solidFill>
                  </a:tcPr>
                </a:tc>
                <a:tc>
                  <a:txBody>
                    <a:bodyPr/>
                    <a:lstStyle/>
                    <a:p>
                      <a:r>
                        <a:rPr sz="1100" b="1">
                          <a:solidFill>
                            <a:srgbClr val="FFFFFF"/>
                          </a:solidFill>
                        </a:rPr>
                        <a:t>RMSE gain</a:t>
                      </a:r>
                    </a:p>
                  </a:txBody>
                  <a:tcPr anchor="ctr">
                    <a:solidFill>
                      <a:srgbClr val="0B5F8A"/>
                    </a:solidFill>
                  </a:tcPr>
                </a:tc>
              </a:tr>
              <a:tr h="338328">
                <a:tc>
                  <a:txBody>
                    <a:bodyPr/>
                    <a:lstStyle/>
                    <a:p>
                      <a:r>
                        <a:rPr sz="1100" b="0">
                          <a:solidFill>
                            <a:srgbClr val="1A1A1A"/>
                          </a:solidFill>
                        </a:rPr>
                        <a:t>Persistence (next hr = this hr)</a:t>
                      </a:r>
                    </a:p>
                  </a:txBody>
                  <a:tcPr anchor="ctr">
                    <a:solidFill>
                      <a:srgbClr val="FFFFFF"/>
                    </a:solidFill>
                  </a:tcPr>
                </a:tc>
                <a:tc>
                  <a:txBody>
                    <a:bodyPr/>
                    <a:lstStyle/>
                    <a:p>
                      <a:r>
                        <a:rPr sz="1100" b="0">
                          <a:solidFill>
                            <a:srgbClr val="1A1A1A"/>
                          </a:solidFill>
                        </a:rPr>
                        <a:t>baseline</a:t>
                      </a:r>
                    </a:p>
                  </a:txBody>
                  <a:tcPr anchor="ctr">
                    <a:solidFill>
                      <a:srgbClr val="FFFFFF"/>
                    </a:solidFill>
                  </a:tcPr>
                </a:tc>
              </a:tr>
              <a:tr h="338328">
                <a:tc>
                  <a:txBody>
                    <a:bodyPr/>
                    <a:lstStyle/>
                    <a:p>
                      <a:r>
                        <a:rPr sz="1100" b="0">
                          <a:solidFill>
                            <a:srgbClr val="1A1A1A"/>
                          </a:solidFill>
                        </a:rPr>
                        <a:t>GBT pilot (19 cities, 120 trees)</a:t>
                      </a:r>
                    </a:p>
                  </a:txBody>
                  <a:tcPr anchor="ctr">
                    <a:solidFill>
                      <a:srgbClr val="F7F9FB"/>
                    </a:solidFill>
                  </a:tcPr>
                </a:tc>
                <a:tc>
                  <a:txBody>
                    <a:bodyPr/>
                    <a:lstStyle/>
                    <a:p>
                      <a:r>
                        <a:rPr sz="1100" b="0">
                          <a:solidFill>
                            <a:srgbClr val="1A1A1A"/>
                          </a:solidFill>
                        </a:rPr>
                        <a:t>5.67 %</a:t>
                      </a:r>
                    </a:p>
                  </a:txBody>
                  <a:tcPr anchor="ctr">
                    <a:solidFill>
                      <a:srgbClr val="F7F9FB"/>
                    </a:solidFill>
                  </a:tcPr>
                </a:tc>
              </a:tr>
              <a:tr h="338328">
                <a:tc>
                  <a:txBody>
                    <a:bodyPr/>
                    <a:lstStyle/>
                    <a:p>
                      <a:r>
                        <a:rPr sz="1100" b="0">
                          <a:solidFill>
                            <a:srgbClr val="1A1A1A"/>
                          </a:solidFill>
                        </a:rPr>
                        <a:t>GBT, level target (local)</a:t>
                      </a:r>
                    </a:p>
                  </a:txBody>
                  <a:tcPr anchor="ctr">
                    <a:solidFill>
                      <a:srgbClr val="FFFFFF"/>
                    </a:solidFill>
                  </a:tcPr>
                </a:tc>
                <a:tc>
                  <a:txBody>
                    <a:bodyPr/>
                    <a:lstStyle/>
                    <a:p>
                      <a:r>
                        <a:rPr sz="1100" b="0">
                          <a:solidFill>
                            <a:srgbClr val="1A1A1A"/>
                          </a:solidFill>
                        </a:rPr>
                        <a:t>5.6 %</a:t>
                      </a:r>
                    </a:p>
                  </a:txBody>
                  <a:tcPr anchor="ctr">
                    <a:solidFill>
                      <a:srgbClr val="FFFFFF"/>
                    </a:solidFill>
                  </a:tcPr>
                </a:tc>
              </a:tr>
              <a:tr h="338328">
                <a:tc>
                  <a:txBody>
                    <a:bodyPr/>
                    <a:lstStyle/>
                    <a:p>
                      <a:r>
                        <a:rPr sz="1100" b="0">
                          <a:solidFill>
                            <a:srgbClr val="1A1A1A"/>
                          </a:solidFill>
                        </a:rPr>
                        <a:t>GBT, delta target (local)</a:t>
                      </a:r>
                    </a:p>
                  </a:txBody>
                  <a:tcPr anchor="ctr">
                    <a:solidFill>
                      <a:srgbClr val="F7F9FB"/>
                    </a:solidFill>
                  </a:tcPr>
                </a:tc>
                <a:tc>
                  <a:txBody>
                    <a:bodyPr/>
                    <a:lstStyle/>
                    <a:p>
                      <a:r>
                        <a:rPr sz="1100" b="0">
                          <a:solidFill>
                            <a:srgbClr val="1A1A1A"/>
                          </a:solidFill>
                        </a:rPr>
                        <a:t>11.3 %</a:t>
                      </a:r>
                    </a:p>
                  </a:txBody>
                  <a:tcPr anchor="ctr">
                    <a:solidFill>
                      <a:srgbClr val="F7F9FB"/>
                    </a:solidFill>
                  </a:tcPr>
                </a:tc>
              </a:tr>
              <a:tr h="338328">
                <a:tc>
                  <a:txBody>
                    <a:bodyPr/>
                    <a:lstStyle/>
                    <a:p>
                      <a:r>
                        <a:rPr sz="1100" b="0">
                          <a:solidFill>
                            <a:srgbClr val="1B7A3D"/>
                          </a:solidFill>
                        </a:rPr>
                        <a:t>GBT full (241 cities, 300 trees)</a:t>
                      </a:r>
                    </a:p>
                  </a:txBody>
                  <a:tcPr anchor="ctr">
                    <a:solidFill>
                      <a:srgbClr val="FFFFFF"/>
                    </a:solidFill>
                  </a:tcPr>
                </a:tc>
                <a:tc>
                  <a:txBody>
                    <a:bodyPr/>
                    <a:lstStyle/>
                    <a:p>
                      <a:r>
                        <a:rPr sz="1100" b="0">
                          <a:solidFill>
                            <a:srgbClr val="1B7A3D"/>
                          </a:solidFill>
                        </a:rPr>
                        <a:t>12.18 %</a:t>
                      </a:r>
                    </a:p>
                  </a:txBody>
                  <a:tcPr anchor="ctr">
                    <a:solidFill>
                      <a:srgbClr val="FFFFFF"/>
                    </a:solidFill>
                  </a:tcPr>
                </a:tc>
              </a:tr>
            </a:tbl>
          </a:graphicData>
        </a:graphic>
      </p:graphicFrame>
      <p:sp>
        <p:nvSpPr>
          <p:cNvPr id="8" name="TextBox 7"/>
          <p:cNvSpPr txBox="1"/>
          <p:nvPr/>
        </p:nvSpPr>
        <p:spPr>
          <a:xfrm>
            <a:off x="4114800" y="5760720"/>
            <a:ext cx="3931920" cy="640080"/>
          </a:xfrm>
          <a:prstGeom prst="rect">
            <a:avLst/>
          </a:prstGeom>
          <a:noFill/>
        </p:spPr>
        <p:txBody>
          <a:bodyPr wrap="square" anchor="t" lIns="0" rIns="0" tIns="0" bIns="0">
            <a:spAutoFit/>
          </a:bodyPr>
          <a:lstStyle/>
          <a:p>
            <a:r>
              <a:rPr sz="950" b="0" i="1">
                <a:solidFill>
                  <a:srgbClr val="5A6673"/>
                </a:solidFill>
              </a:rPr>
              <a:t>Top features: pm25, pm25_delta_1h, pm25_surge_ratio — and pm25_was_imputed ranks 6th of 86: the model learned to distrust filled-in values.</a:t>
            </a:r>
          </a:p>
        </p:txBody>
      </p:sp>
      <p:sp>
        <p:nvSpPr>
          <p:cNvPr id="9" name="Rectangle 8"/>
          <p:cNvSpPr/>
          <p:nvPr/>
        </p:nvSpPr>
        <p:spPr>
          <a:xfrm>
            <a:off x="8229600" y="1143000"/>
            <a:ext cx="3429000" cy="51663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143000"/>
            <a:ext cx="3429000" cy="384048"/>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143000"/>
            <a:ext cx="3154680" cy="384048"/>
          </a:xfrm>
          <a:prstGeom prst="rect">
            <a:avLst/>
          </a:prstGeom>
          <a:noFill/>
        </p:spPr>
        <p:txBody>
          <a:bodyPr wrap="square" anchor="ctr" lIns="0" rIns="0" tIns="0" bIns="0">
            <a:spAutoFit/>
          </a:bodyPr>
          <a:lstStyle/>
          <a:p>
            <a:r>
              <a:rPr sz="1400" b="1" i="0">
                <a:solidFill>
                  <a:srgbClr val="FFFFFF"/>
                </a:solidFill>
              </a:rPr>
              <a:t>Business insight — Oct 2026 live run</a:t>
            </a:r>
          </a:p>
        </p:txBody>
      </p:sp>
      <p:sp>
        <p:nvSpPr>
          <p:cNvPr id="12" name="Rectangle 11"/>
          <p:cNvSpPr/>
          <p:nvPr/>
        </p:nvSpPr>
        <p:spPr>
          <a:xfrm>
            <a:off x="8366760" y="1645920"/>
            <a:ext cx="1554480" cy="914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76488" y="1719072"/>
            <a:ext cx="1335024" cy="502920"/>
          </a:xfrm>
          <a:prstGeom prst="rect">
            <a:avLst/>
          </a:prstGeom>
          <a:noFill/>
        </p:spPr>
        <p:txBody>
          <a:bodyPr wrap="square" anchor="ctr" lIns="0" rIns="0" tIns="0" bIns="0">
            <a:spAutoFit/>
          </a:bodyPr>
          <a:lstStyle/>
          <a:p>
            <a:r>
              <a:rPr sz="2000" b="1" i="0">
                <a:solidFill>
                  <a:srgbClr val="C9342B"/>
                </a:solidFill>
              </a:rPr>
              <a:t>27,543</a:t>
            </a:r>
          </a:p>
        </p:txBody>
      </p:sp>
      <p:sp>
        <p:nvSpPr>
          <p:cNvPr id="14" name="TextBox 13"/>
          <p:cNvSpPr txBox="1"/>
          <p:nvPr/>
        </p:nvSpPr>
        <p:spPr>
          <a:xfrm>
            <a:off x="8476488" y="2212848"/>
            <a:ext cx="1335024" cy="329184"/>
          </a:xfrm>
          <a:prstGeom prst="rect">
            <a:avLst/>
          </a:prstGeom>
          <a:noFill/>
        </p:spPr>
        <p:txBody>
          <a:bodyPr wrap="square" anchor="t" lIns="0" rIns="0" tIns="0" bIns="0">
            <a:spAutoFit/>
          </a:bodyPr>
          <a:lstStyle/>
          <a:p>
            <a:r>
              <a:rPr sz="1200" b="0" i="0">
                <a:solidFill>
                  <a:srgbClr val="5A6673"/>
                </a:solidFill>
              </a:rPr>
              <a:t>warnings</a:t>
            </a:r>
          </a:p>
        </p:txBody>
      </p:sp>
      <p:sp>
        <p:nvSpPr>
          <p:cNvPr id="15" name="Rectangle 14"/>
          <p:cNvSpPr/>
          <p:nvPr/>
        </p:nvSpPr>
        <p:spPr>
          <a:xfrm>
            <a:off x="9966960" y="1645920"/>
            <a:ext cx="1554480" cy="914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76688" y="1719072"/>
            <a:ext cx="1335024" cy="502920"/>
          </a:xfrm>
          <a:prstGeom prst="rect">
            <a:avLst/>
          </a:prstGeom>
          <a:noFill/>
        </p:spPr>
        <p:txBody>
          <a:bodyPr wrap="square" anchor="ctr" lIns="0" rIns="0" tIns="0" bIns="0">
            <a:spAutoFit/>
          </a:bodyPr>
          <a:lstStyle/>
          <a:p>
            <a:r>
              <a:rPr sz="2000" b="1" i="0">
                <a:solidFill>
                  <a:srgbClr val="C9342B"/>
                </a:solidFill>
              </a:rPr>
              <a:t>221/230</a:t>
            </a:r>
          </a:p>
        </p:txBody>
      </p:sp>
      <p:sp>
        <p:nvSpPr>
          <p:cNvPr id="17" name="TextBox 16"/>
          <p:cNvSpPr txBox="1"/>
          <p:nvPr/>
        </p:nvSpPr>
        <p:spPr>
          <a:xfrm>
            <a:off x="10076688" y="2212848"/>
            <a:ext cx="1335024" cy="329184"/>
          </a:xfrm>
          <a:prstGeom prst="rect">
            <a:avLst/>
          </a:prstGeom>
          <a:noFill/>
        </p:spPr>
        <p:txBody>
          <a:bodyPr wrap="square" anchor="t" lIns="0" rIns="0" tIns="0" bIns="0">
            <a:spAutoFit/>
          </a:bodyPr>
          <a:lstStyle/>
          <a:p>
            <a:r>
              <a:rPr sz="1200" b="0" i="0">
                <a:solidFill>
                  <a:srgbClr val="5A6673"/>
                </a:solidFill>
              </a:rPr>
              <a:t>cities warned</a:t>
            </a:r>
          </a:p>
        </p:txBody>
      </p:sp>
      <p:sp>
        <p:nvSpPr>
          <p:cNvPr id="18" name="TextBox 17"/>
          <p:cNvSpPr txBox="1"/>
          <p:nvPr/>
        </p:nvSpPr>
        <p:spPr>
          <a:xfrm>
            <a:off x="8366760" y="2697480"/>
            <a:ext cx="3200400" cy="3611880"/>
          </a:xfrm>
          <a:prstGeom prst="rect">
            <a:avLst/>
          </a:prstGeom>
          <a:noFill/>
        </p:spPr>
        <p:txBody>
          <a:bodyPr wrap="square" lIns="0" rIns="0" tIns="0" bIns="0">
            <a:spAutoFit/>
          </a:bodyPr>
          <a:lstStyle/>
          <a:p>
            <a:pPr>
              <a:spcAft>
                <a:spcPts val="600"/>
              </a:spcAft>
            </a:pPr>
            <a:r>
              <a:rPr sz="1150">
                <a:solidFill>
                  <a:srgbClr val="1A1A1A"/>
                </a:solidFill>
              </a:rPr>
              <a:t>•  32 cities forecast Severe (AQI &gt; 400); worst: Hisar, Bhiwani, Fatehabad — the Haryana–Punjab dust belt</a:t>
            </a:r>
          </a:p>
          <a:p>
            <a:pPr>
              <a:spcAft>
                <a:spcPts val="600"/>
              </a:spcAft>
            </a:pPr>
            <a:r>
              <a:rPr sz="1150">
                <a:solidFill>
                  <a:srgbClr val="1A1A1A"/>
                </a:solidFill>
              </a:rPr>
              <a:t>•  Cause mix: ozone 44 %, coarse dust 36 % → different advice: avoid midday exertion vs wear a mask</a:t>
            </a:r>
          </a:p>
          <a:p>
            <a:pPr>
              <a:spcAft>
                <a:spcPts val="600"/>
              </a:spcAft>
            </a:pPr>
            <a:r>
              <a:rPr sz="1150">
                <a:solidFill>
                  <a:srgbClr val="1A1A1A"/>
                </a:solidFill>
              </a:rPr>
              <a:t>•  A warning reaches residents one hour ahead, with CPCB health advice</a:t>
            </a:r>
          </a:p>
          <a:p>
            <a:pPr>
              <a:spcAft>
                <a:spcPts val="600"/>
              </a:spcAft>
            </a:pPr>
            <a:r>
              <a:rPr sz="1150">
                <a:solidFill>
                  <a:srgbClr val="1A1A1A"/>
                </a:solidFill>
              </a:rPr>
              <a:t>•  Delhi PM₂.₅ swings 5.5× (Aug 38.8 → Nov 213.6) — why 13 years of history matters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Challenges, Limitations, Conclusion and Future Work</a:t>
            </a:r>
          </a:p>
        </p:txBody>
      </p:sp>
      <p:sp>
        <p:nvSpPr>
          <p:cNvPr id="4" name="Rectangle 3"/>
          <p:cNvSpPr/>
          <p:nvPr/>
        </p:nvSpPr>
        <p:spPr>
          <a:xfrm>
            <a:off x="548640" y="1143000"/>
            <a:ext cx="5486400" cy="25146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43000"/>
            <a:ext cx="54864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43000"/>
            <a:ext cx="5212080" cy="384048"/>
          </a:xfrm>
          <a:prstGeom prst="rect">
            <a:avLst/>
          </a:prstGeom>
          <a:noFill/>
        </p:spPr>
        <p:txBody>
          <a:bodyPr wrap="square" anchor="ctr" lIns="0" rIns="0" tIns="0" bIns="0">
            <a:spAutoFit/>
          </a:bodyPr>
          <a:lstStyle/>
          <a:p>
            <a:r>
              <a:rPr sz="1400" b="1" i="0">
                <a:solidFill>
                  <a:srgbClr val="FFFFFF"/>
                </a:solidFill>
              </a:rPr>
              <a:t>Challenges (found by running, then fixed)</a:t>
            </a:r>
          </a:p>
        </p:txBody>
      </p:sp>
      <p:sp>
        <p:nvSpPr>
          <p:cNvPr id="7" name="TextBox 6"/>
          <p:cNvSpPr txBox="1"/>
          <p:nvPr/>
        </p:nvSpPr>
        <p:spPr>
          <a:xfrm>
            <a:off x="685800" y="1600200"/>
            <a:ext cx="5257800" cy="2057400"/>
          </a:xfrm>
          <a:prstGeom prst="rect">
            <a:avLst/>
          </a:prstGeom>
          <a:noFill/>
        </p:spPr>
        <p:txBody>
          <a:bodyPr wrap="square" lIns="0" rIns="0" tIns="0" bIns="0">
            <a:spAutoFit/>
          </a:bodyPr>
          <a:lstStyle/>
          <a:p>
            <a:pPr>
              <a:spcAft>
                <a:spcPts val="500"/>
              </a:spcAft>
            </a:pPr>
            <a:r>
              <a:rPr sz="1250">
                <a:solidFill>
                  <a:srgbClr val="1A1A1A"/>
                </a:solidFill>
              </a:rPr>
              <a:t>•  Spark could not write to HDFS from the host → run Spark inside the cluster network</a:t>
            </a:r>
          </a:p>
          <a:p>
            <a:pPr>
              <a:spcAft>
                <a:spcPts val="500"/>
              </a:spcAft>
            </a:pPr>
            <a:r>
              <a:rPr sz="1250">
                <a:solidFill>
                  <a:srgbClr val="1A1A1A"/>
                </a:solidFill>
              </a:rPr>
              <a:t>•  Full-scale write died: DataNodes starved → driver 7→5 GB, replication 2, timeouts</a:t>
            </a:r>
          </a:p>
          <a:p>
            <a:pPr>
              <a:spcAft>
                <a:spcPts val="500"/>
              </a:spcAft>
            </a:pPr>
            <a:r>
              <a:rPr sz="1250">
                <a:solidFill>
                  <a:srgbClr val="1A1A1A"/>
                </a:solidFill>
              </a:rPr>
              <a:t>•  YARN executors OOM-killed (exit 137) on a 15.7 GB host → Phase 4 local mode; YARN proven by enrichment job</a:t>
            </a:r>
          </a:p>
          <a:p>
            <a:pPr>
              <a:spcAft>
                <a:spcPts val="500"/>
              </a:spcAft>
            </a:pPr>
            <a:r>
              <a:rPr sz="1250">
                <a:solidFill>
                  <a:srgbClr val="1A1A1A"/>
                </a:solidFill>
              </a:rPr>
              <a:t>•  11 defects found (2 silent wrong answers) → reconcile every count</a:t>
            </a:r>
          </a:p>
        </p:txBody>
      </p:sp>
      <p:sp>
        <p:nvSpPr>
          <p:cNvPr id="8" name="Rectangle 7"/>
          <p:cNvSpPr/>
          <p:nvPr/>
        </p:nvSpPr>
        <p:spPr>
          <a:xfrm>
            <a:off x="6172200" y="1143000"/>
            <a:ext cx="5486400" cy="25146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143000"/>
            <a:ext cx="5486400" cy="384048"/>
          </a:xfrm>
          <a:prstGeom prst="rect">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143000"/>
            <a:ext cx="5212080" cy="384048"/>
          </a:xfrm>
          <a:prstGeom prst="rect">
            <a:avLst/>
          </a:prstGeom>
          <a:noFill/>
        </p:spPr>
        <p:txBody>
          <a:bodyPr wrap="square" anchor="ctr" lIns="0" rIns="0" tIns="0" bIns="0">
            <a:spAutoFit/>
          </a:bodyPr>
          <a:lstStyle/>
          <a:p>
            <a:r>
              <a:rPr sz="1400" b="1" i="0">
                <a:solidFill>
                  <a:srgbClr val="FFFFFF"/>
                </a:solidFill>
              </a:rPr>
              <a:t>Limitations</a:t>
            </a:r>
          </a:p>
        </p:txBody>
      </p:sp>
      <p:sp>
        <p:nvSpPr>
          <p:cNvPr id="11" name="TextBox 10"/>
          <p:cNvSpPr txBox="1"/>
          <p:nvPr/>
        </p:nvSpPr>
        <p:spPr>
          <a:xfrm>
            <a:off x="6309360" y="1600200"/>
            <a:ext cx="5257800" cy="2057400"/>
          </a:xfrm>
          <a:prstGeom prst="rect">
            <a:avLst/>
          </a:prstGeom>
          <a:noFill/>
        </p:spPr>
        <p:txBody>
          <a:bodyPr wrap="square" lIns="0" rIns="0" tIns="0" bIns="0">
            <a:spAutoFit/>
          </a:bodyPr>
          <a:lstStyle/>
          <a:p>
            <a:pPr>
              <a:spcAft>
                <a:spcPts val="500"/>
              </a:spcAft>
            </a:pPr>
            <a:r>
              <a:rPr sz="1250">
                <a:solidFill>
                  <a:srgbClr val="1A1A1A"/>
                </a:solidFill>
              </a:rPr>
              <a:t>•  88.9 % of structured rows synthetic — results quoted on real rows only</a:t>
            </a:r>
          </a:p>
          <a:p>
            <a:pPr>
              <a:spcAft>
                <a:spcPts val="500"/>
              </a:spcAft>
            </a:pPr>
            <a:r>
              <a:rPr sz="1250">
                <a:solidFill>
                  <a:srgbClr val="1A1A1A"/>
                </a:solidFill>
              </a:rPr>
              <a:t>•  Trained on a 10 M-row sample of 74.5 M (RAM); evaluation not sampled</a:t>
            </a:r>
          </a:p>
          <a:p>
            <a:pPr>
              <a:spcAft>
                <a:spcPts val="500"/>
              </a:spcAft>
            </a:pPr>
            <a:r>
              <a:rPr sz="1250">
                <a:solidFill>
                  <a:srgbClr val="1A1A1A"/>
                </a:solidFill>
              </a:rPr>
              <a:t>•  CAMS is a model product, not a sensor feed; SO₂ agreement with CAMS is poor (0.083)</a:t>
            </a:r>
          </a:p>
          <a:p>
            <a:pPr>
              <a:spcAft>
                <a:spcPts val="500"/>
              </a:spcAft>
            </a:pPr>
            <a:r>
              <a:rPr sz="1250">
                <a:solidFill>
                  <a:srgbClr val="1A1A1A"/>
                </a:solidFill>
              </a:rPr>
              <a:t>•  October page is a snapshot; SMS needs a paid gateway; 230 of 241 cities</a:t>
            </a:r>
          </a:p>
        </p:txBody>
      </p:sp>
      <p:sp>
        <p:nvSpPr>
          <p:cNvPr id="12" name="Rectangle 11"/>
          <p:cNvSpPr/>
          <p:nvPr/>
        </p:nvSpPr>
        <p:spPr>
          <a:xfrm>
            <a:off x="548640" y="3794760"/>
            <a:ext cx="5486400" cy="24688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94760"/>
            <a:ext cx="5486400" cy="384048"/>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94760"/>
            <a:ext cx="5212080" cy="384048"/>
          </a:xfrm>
          <a:prstGeom prst="rect">
            <a:avLst/>
          </a:prstGeom>
          <a:noFill/>
        </p:spPr>
        <p:txBody>
          <a:bodyPr wrap="square" anchor="ctr" lIns="0" rIns="0" tIns="0" bIns="0">
            <a:spAutoFit/>
          </a:bodyPr>
          <a:lstStyle/>
          <a:p>
            <a:r>
              <a:rPr sz="1400" b="1" i="0">
                <a:solidFill>
                  <a:srgbClr val="FFFFFF"/>
                </a:solidFill>
              </a:rPr>
              <a:t>Conclusion</a:t>
            </a:r>
          </a:p>
        </p:txBody>
      </p:sp>
      <p:sp>
        <p:nvSpPr>
          <p:cNvPr id="15" name="TextBox 14"/>
          <p:cNvSpPr txBox="1"/>
          <p:nvPr/>
        </p:nvSpPr>
        <p:spPr>
          <a:xfrm>
            <a:off x="685800" y="4251960"/>
            <a:ext cx="5257800" cy="2011680"/>
          </a:xfrm>
          <a:prstGeom prst="rect">
            <a:avLst/>
          </a:prstGeom>
          <a:noFill/>
        </p:spPr>
        <p:txBody>
          <a:bodyPr wrap="square" lIns="0" rIns="0" tIns="0" bIns="0">
            <a:spAutoFit/>
          </a:bodyPr>
          <a:lstStyle/>
          <a:p>
            <a:pPr>
              <a:spcAft>
                <a:spcPts val="800"/>
              </a:spcAft>
            </a:pPr>
            <a:r>
              <a:rPr sz="1400">
                <a:solidFill>
                  <a:srgbClr val="1A1A1A"/>
                </a:solidFill>
              </a:rPr>
              <a:t>•  A fault-tolerant 4-node HDFS + YARN + Spark platform processing 154.6 M rows</a:t>
            </a:r>
          </a:p>
          <a:p>
            <a:pPr>
              <a:spcAft>
                <a:spcPts val="800"/>
              </a:spcAft>
            </a:pPr>
            <a:r>
              <a:rPr sz="1400">
                <a:solidFill>
                  <a:srgbClr val="1A1A1A"/>
                </a:solidFill>
              </a:rPr>
              <a:t>•  GBT forecaster 12.18 % better than the honest baseline on real rows</a:t>
            </a:r>
          </a:p>
          <a:p>
            <a:pPr>
              <a:spcAft>
                <a:spcPts val="800"/>
              </a:spcAft>
            </a:pPr>
            <a:r>
              <a:rPr sz="1400">
                <a:solidFill>
                  <a:srgbClr val="1A1A1A"/>
                </a:solidFill>
              </a:rPr>
              <a:t>•  Live data scored in the stream and turned into 27,543 warnings with health advice</a:t>
            </a:r>
          </a:p>
          <a:p>
            <a:pPr>
              <a:spcAft>
                <a:spcPts val="800"/>
              </a:spcAft>
            </a:pPr>
            <a:r>
              <a:rPr sz="1400">
                <a:solidFill>
                  <a:srgbClr val="1A1A1A"/>
                </a:solidFill>
              </a:rPr>
              <a:t>•  Hive serving, public warning board, de-duplicated Telegram alert loop</a:t>
            </a:r>
          </a:p>
        </p:txBody>
      </p:sp>
      <p:sp>
        <p:nvSpPr>
          <p:cNvPr id="16" name="Rectangle 15"/>
          <p:cNvSpPr/>
          <p:nvPr/>
        </p:nvSpPr>
        <p:spPr>
          <a:xfrm>
            <a:off x="6172200" y="3794760"/>
            <a:ext cx="5486400" cy="24688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3794760"/>
            <a:ext cx="54864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794760"/>
            <a:ext cx="5212080" cy="384048"/>
          </a:xfrm>
          <a:prstGeom prst="rect">
            <a:avLst/>
          </a:prstGeom>
          <a:noFill/>
        </p:spPr>
        <p:txBody>
          <a:bodyPr wrap="square" anchor="ctr" lIns="0" rIns="0" tIns="0" bIns="0">
            <a:spAutoFit/>
          </a:bodyPr>
          <a:lstStyle/>
          <a:p>
            <a:r>
              <a:rPr sz="1400" b="1" i="0">
                <a:solidFill>
                  <a:srgbClr val="FFFFFF"/>
                </a:solidFill>
              </a:rPr>
              <a:t>Future work</a:t>
            </a:r>
          </a:p>
        </p:txBody>
      </p:sp>
      <p:sp>
        <p:nvSpPr>
          <p:cNvPr id="19" name="TextBox 18"/>
          <p:cNvSpPr txBox="1"/>
          <p:nvPr/>
        </p:nvSpPr>
        <p:spPr>
          <a:xfrm>
            <a:off x="6309360" y="4251960"/>
            <a:ext cx="5257800" cy="2011680"/>
          </a:xfrm>
          <a:prstGeom prst="rect">
            <a:avLst/>
          </a:prstGeom>
          <a:noFill/>
        </p:spPr>
        <p:txBody>
          <a:bodyPr wrap="square" lIns="0" rIns="0" tIns="0" bIns="0">
            <a:spAutoFit/>
          </a:bodyPr>
          <a:lstStyle/>
          <a:p>
            <a:pPr>
              <a:spcAft>
                <a:spcPts val="800"/>
              </a:spcAft>
            </a:pPr>
            <a:r>
              <a:rPr sz="1400">
                <a:solidFill>
                  <a:srgbClr val="1A1A1A"/>
                </a:solidFill>
              </a:rPr>
              <a:t>•  Hourly scheduler + SMS gateway; push via Telegram bot at scale</a:t>
            </a:r>
          </a:p>
          <a:p>
            <a:pPr>
              <a:spcAft>
                <a:spcPts val="800"/>
              </a:spcAft>
            </a:pPr>
            <a:r>
              <a:rPr sz="1400">
                <a:solidFill>
                  <a:srgbClr val="1A1A1A"/>
                </a:solidFill>
              </a:rPr>
              <a:t>•  Random Forest / XGBoost comparison</a:t>
            </a:r>
          </a:p>
          <a:p>
            <a:pPr>
              <a:spcAft>
                <a:spcPts val="800"/>
              </a:spcAft>
            </a:pPr>
            <a:r>
              <a:rPr sz="1400">
                <a:solidFill>
                  <a:srgbClr val="1A1A1A"/>
                </a:solidFill>
              </a:rPr>
              <a:t>•  Neighbour-station features (GraphX station network)</a:t>
            </a:r>
          </a:p>
          <a:p>
            <a:pPr>
              <a:spcAft>
                <a:spcPts val="800"/>
              </a:spcAft>
            </a:pPr>
            <a:r>
              <a:rPr sz="1400">
                <a:solidFill>
                  <a:srgbClr val="1A1A1A"/>
                </a:solidFill>
              </a:rPr>
              <a:t>•  Multi-host cluster to train on all 74.5 M rows; real-time CPCB feed with an API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References and GitHub</a:t>
            </a:r>
          </a:p>
        </p:txBody>
      </p:sp>
      <p:sp>
        <p:nvSpPr>
          <p:cNvPr id="4" name="TextBox 3"/>
          <p:cNvSpPr txBox="1"/>
          <p:nvPr/>
        </p:nvSpPr>
        <p:spPr>
          <a:xfrm>
            <a:off x="548640" y="1188720"/>
            <a:ext cx="11109960" cy="3566160"/>
          </a:xfrm>
          <a:prstGeom prst="rect">
            <a:avLst/>
          </a:prstGeom>
          <a:noFill/>
        </p:spPr>
        <p:txBody>
          <a:bodyPr wrap="square" anchor="t" lIns="0" rIns="0" tIns="0" bIns="0">
            <a:spAutoFit/>
          </a:bodyPr>
          <a:lstStyle/>
          <a:p>
            <a:pPr>
              <a:spcAft>
                <a:spcPts val="800"/>
              </a:spcAft>
            </a:pPr>
            <a:r>
              <a:rPr sz="1450" b="0" i="0">
                <a:solidFill>
                  <a:srgbClr val="1A1A1A"/>
                </a:solidFill>
              </a:rPr>
              <a:t>[1] Air Quality Prediction using Multi-Source Remote Sensing Data Integration with Hybrid Deep Learning Framework (MAST-Net). Nature, Scientific Reports, Dec 2025.</a:t>
            </a:r>
          </a:p>
          <a:p>
            <a:pPr>
              <a:spcAft>
                <a:spcPts val="800"/>
              </a:spcAft>
            </a:pPr>
            <a:r>
              <a:rPr sz="1450" b="0" i="0">
                <a:solidFill>
                  <a:srgbClr val="1A1A1A"/>
                </a:solidFill>
              </a:rPr>
              <a:t>[2] Apache Hadoop 3.3.6 Documentation. hadoop.apache.org/docs/r3.3.6/</a:t>
            </a:r>
          </a:p>
          <a:p>
            <a:pPr>
              <a:spcAft>
                <a:spcPts val="800"/>
              </a:spcAft>
            </a:pPr>
            <a:r>
              <a:rPr sz="1450" b="0" i="0">
                <a:solidFill>
                  <a:srgbClr val="1A1A1A"/>
                </a:solidFill>
              </a:rPr>
              <a:t>[3] Apache Spark 3.5.6 Documentation (SQL, MLlib, Structured Streaming). spark.apache.org/docs/3.5.6/</a:t>
            </a:r>
          </a:p>
          <a:p>
            <a:pPr>
              <a:spcAft>
                <a:spcPts val="800"/>
              </a:spcAft>
            </a:pPr>
            <a:r>
              <a:rPr sz="1450" b="0" i="0">
                <a:solidFill>
                  <a:srgbClr val="1A1A1A"/>
                </a:solidFill>
              </a:rPr>
              <a:t>[4] Central Pollution Control Board. National Air Quality Index — Report of the Expert Group, 2014.</a:t>
            </a:r>
          </a:p>
          <a:p>
            <a:pPr>
              <a:spcAft>
                <a:spcPts val="800"/>
              </a:spcAft>
            </a:pPr>
            <a:r>
              <a:rPr sz="1450" b="0" i="0">
                <a:solidFill>
                  <a:srgbClr val="1A1A1A"/>
                </a:solidFill>
              </a:rPr>
              <a:t>[5] Zaharia, M. et al. Resilient Distributed Datasets. NSDI, 2012.</a:t>
            </a:r>
          </a:p>
          <a:p>
            <a:pPr>
              <a:spcAft>
                <a:spcPts val="800"/>
              </a:spcAft>
            </a:pPr>
            <a:r>
              <a:rPr sz="1450" b="0" i="0">
                <a:solidFill>
                  <a:srgbClr val="1A1A1A"/>
                </a:solidFill>
              </a:rPr>
              <a:t>[6] Shvachko, K. et al. The Hadoop Distributed File System. IEEE MSST, 2010.</a:t>
            </a:r>
          </a:p>
          <a:p>
            <a:pPr>
              <a:spcAft>
                <a:spcPts val="800"/>
              </a:spcAft>
            </a:pPr>
            <a:r>
              <a:rPr sz="1450" b="0" i="0">
                <a:solidFill>
                  <a:srgbClr val="1A1A1A"/>
                </a:solidFill>
              </a:rPr>
              <a:t>[7] Friedman, J. H. Greedy Function Approximation: A Gradient Boosting Machine. Annals of Statistics 29(5), 2001.</a:t>
            </a:r>
          </a:p>
          <a:p>
            <a:pPr>
              <a:spcAft>
                <a:spcPts val="800"/>
              </a:spcAft>
            </a:pPr>
            <a:r>
              <a:rPr sz="1450" b="0" i="0">
                <a:solidFill>
                  <a:srgbClr val="1A1A1A"/>
                </a:solidFill>
              </a:rPr>
              <a:t>[8] Copernicus Atmosphere Monitoring Service (CAMS), via Open-Meteo Air Quality API (CC-BY 4.0). open-meteo.com</a:t>
            </a:r>
          </a:p>
          <a:p>
            <a:pPr>
              <a:spcAft>
                <a:spcPts val="800"/>
              </a:spcAft>
            </a:pPr>
            <a:r>
              <a:rPr sz="1450" b="0" i="0">
                <a:solidFill>
                  <a:srgbClr val="1A1A1A"/>
                </a:solidFill>
              </a:rPr>
              <a:t>[9] Apache Hive and Apache Parquet Documentation. hive.apache.org, parquet.apache.org</a:t>
            </a:r>
          </a:p>
        </p:txBody>
      </p:sp>
      <p:sp>
        <p:nvSpPr>
          <p:cNvPr id="5" name="Rectangle 4"/>
          <p:cNvSpPr/>
          <p:nvPr/>
        </p:nvSpPr>
        <p:spPr>
          <a:xfrm>
            <a:off x="548640" y="4846320"/>
            <a:ext cx="11109960" cy="13258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937760"/>
            <a:ext cx="3657600" cy="320040"/>
          </a:xfrm>
          <a:prstGeom prst="rect">
            <a:avLst/>
          </a:prstGeom>
          <a:noFill/>
        </p:spPr>
        <p:txBody>
          <a:bodyPr wrap="square" anchor="t" lIns="0" rIns="0" tIns="0" bIns="0">
            <a:spAutoFit/>
          </a:bodyPr>
          <a:lstStyle/>
          <a:p>
            <a:r>
              <a:rPr sz="1400" b="1" i="0">
                <a:solidFill>
                  <a:srgbClr val="0B5F8A"/>
                </a:solidFill>
              </a:rPr>
              <a:t>GitHub repository</a:t>
            </a:r>
          </a:p>
        </p:txBody>
      </p:sp>
      <p:sp>
        <p:nvSpPr>
          <p:cNvPr id="7" name="TextBox 6"/>
          <p:cNvSpPr txBox="1"/>
          <p:nvPr/>
        </p:nvSpPr>
        <p:spPr>
          <a:xfrm>
            <a:off x="731520" y="5303520"/>
            <a:ext cx="10698480" cy="365760"/>
          </a:xfrm>
          <a:prstGeom prst="rect">
            <a:avLst/>
          </a:prstGeom>
          <a:noFill/>
        </p:spPr>
        <p:txBody>
          <a:bodyPr wrap="square" anchor="t" lIns="0" rIns="0" tIns="0" bIns="0">
            <a:spAutoFit/>
          </a:bodyPr>
          <a:lstStyle/>
          <a:p>
            <a:r>
              <a:rPr sz="1300" b="1" i="0">
                <a:solidFill>
                  <a:srgbClr val="1A1A1A"/>
                </a:solidFill>
              </a:rPr>
              <a:t>https://github.com/jaganath010/A-Scalable-Big-Data-Platform-for-Real-Time-Urban-Air-Quality-Tracking-and-Public-Safety-Alerting</a:t>
            </a:r>
          </a:p>
        </p:txBody>
      </p:sp>
      <p:sp>
        <p:nvSpPr>
          <p:cNvPr id="8" name="TextBox 7"/>
          <p:cNvSpPr txBox="1"/>
          <p:nvPr/>
        </p:nvSpPr>
        <p:spPr>
          <a:xfrm>
            <a:off x="731520" y="5715000"/>
            <a:ext cx="10698480" cy="365760"/>
          </a:xfrm>
          <a:prstGeom prst="rect">
            <a:avLst/>
          </a:prstGeom>
          <a:noFill/>
        </p:spPr>
        <p:txBody>
          <a:bodyPr wrap="square" anchor="t" lIns="0" rIns="0" tIns="0" bIns="0">
            <a:spAutoFit/>
          </a:bodyPr>
          <a:lstStyle/>
          <a:p>
            <a:r>
              <a:rPr sz="1200" b="0" i="0">
                <a:solidFill>
                  <a:srgbClr val="5A6673"/>
                </a:solidFill>
              </a:rPr>
              <a:t>Uploaded: this PPT (presentation/) + PROJECT_REPORT.pdf (docs/), code (scala/, scripts/, hive/, dashboard/), run logs (docs/run_logs/)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Evidence: HDFS Cluster</a:t>
            </a:r>
          </a:p>
        </p:txBody>
      </p:sp>
      <p:pic>
        <p:nvPicPr>
          <p:cNvPr id="4" name="Picture 3" descr="s7_1.png"/>
          <p:cNvPicPr>
            <a:picLocks noChangeAspect="1"/>
          </p:cNvPicPr>
          <p:nvPr/>
        </p:nvPicPr>
        <p:blipFill>
          <a:blip r:embed="rId3"/>
          <a:stretch>
            <a:fillRect/>
          </a:stretch>
        </p:blipFill>
        <p:spPr>
          <a:xfrm>
            <a:off x="548640" y="1203924"/>
            <a:ext cx="6675119" cy="1706951"/>
          </a:xfrm>
          <a:prstGeom prst="rect">
            <a:avLst/>
          </a:prstGeom>
        </p:spPr>
      </p:pic>
      <p:sp>
        <p:nvSpPr>
          <p:cNvPr id="5" name="TextBox 4"/>
          <p:cNvSpPr txBox="1"/>
          <p:nvPr/>
        </p:nvSpPr>
        <p:spPr>
          <a:xfrm>
            <a:off x="548640" y="2926080"/>
            <a:ext cx="6675120" cy="365760"/>
          </a:xfrm>
          <a:prstGeom prst="rect">
            <a:avLst/>
          </a:prstGeom>
          <a:noFill/>
        </p:spPr>
        <p:txBody>
          <a:bodyPr wrap="square" anchor="t" lIns="0" rIns="0" tIns="0" bIns="0">
            <a:spAutoFit/>
          </a:bodyPr>
          <a:lstStyle/>
          <a:p>
            <a:r>
              <a:rPr sz="1100" b="1" i="0">
                <a:solidFill>
                  <a:srgbClr val="0B5F8A"/>
                </a:solidFill>
              </a:rPr>
              <a:t>dfsadmin -report: Live datanodes (4), 4 DataNodes each holding ≈ 24–28 GB</a:t>
            </a:r>
          </a:p>
        </p:txBody>
      </p:sp>
      <p:pic>
        <p:nvPicPr>
          <p:cNvPr id="6" name="Picture 5" descr="hdfs_dn_crop.png"/>
          <p:cNvPicPr>
            <a:picLocks noChangeAspect="1"/>
          </p:cNvPicPr>
          <p:nvPr/>
        </p:nvPicPr>
        <p:blipFill>
          <a:blip r:embed="rId4"/>
          <a:stretch>
            <a:fillRect/>
          </a:stretch>
        </p:blipFill>
        <p:spPr>
          <a:xfrm>
            <a:off x="548640" y="3485861"/>
            <a:ext cx="3291840" cy="1715076"/>
          </a:xfrm>
          <a:prstGeom prst="rect">
            <a:avLst/>
          </a:prstGeom>
        </p:spPr>
      </p:pic>
      <p:sp>
        <p:nvSpPr>
          <p:cNvPr id="7" name="TextBox 6"/>
          <p:cNvSpPr txBox="1"/>
          <p:nvPr/>
        </p:nvSpPr>
        <p:spPr>
          <a:xfrm>
            <a:off x="548640" y="5349240"/>
            <a:ext cx="3291840" cy="365760"/>
          </a:xfrm>
          <a:prstGeom prst="rect">
            <a:avLst/>
          </a:prstGeom>
          <a:noFill/>
        </p:spPr>
        <p:txBody>
          <a:bodyPr wrap="square" anchor="t" lIns="0" rIns="0" tIns="0" bIns="0">
            <a:spAutoFit/>
          </a:bodyPr>
          <a:lstStyle/>
          <a:p>
            <a:r>
              <a:rPr sz="1100" b="1" i="0">
                <a:solidFill>
                  <a:srgbClr val="0B5F8A"/>
                </a:solidFill>
              </a:rPr>
              <a:t>NameNode UI — DataNodes in service</a:t>
            </a:r>
          </a:p>
        </p:txBody>
      </p:sp>
      <p:pic>
        <p:nvPicPr>
          <p:cNvPr id="8" name="Picture 7" descr="s11_2.png"/>
          <p:cNvPicPr>
            <a:picLocks noChangeAspect="1"/>
          </p:cNvPicPr>
          <p:nvPr/>
        </p:nvPicPr>
        <p:blipFill>
          <a:blip r:embed="rId5"/>
          <a:stretch>
            <a:fillRect/>
          </a:stretch>
        </p:blipFill>
        <p:spPr>
          <a:xfrm>
            <a:off x="3931920" y="3632998"/>
            <a:ext cx="3291840" cy="323522"/>
          </a:xfrm>
          <a:prstGeom prst="rect">
            <a:avLst/>
          </a:prstGeom>
        </p:spPr>
      </p:pic>
      <p:sp>
        <p:nvSpPr>
          <p:cNvPr id="9" name="TextBox 8"/>
          <p:cNvSpPr txBox="1"/>
          <p:nvPr/>
        </p:nvSpPr>
        <p:spPr>
          <a:xfrm>
            <a:off x="3931920" y="4114800"/>
            <a:ext cx="3291840" cy="822960"/>
          </a:xfrm>
          <a:prstGeom prst="rect">
            <a:avLst/>
          </a:prstGeom>
          <a:noFill/>
        </p:spPr>
        <p:txBody>
          <a:bodyPr wrap="square" anchor="t" lIns="0" rIns="0" tIns="0" bIns="0">
            <a:spAutoFit/>
          </a:bodyPr>
          <a:lstStyle/>
          <a:p>
            <a:r>
              <a:rPr sz="1100" b="0" i="0">
                <a:solidFill>
                  <a:srgbClr val="5A6673"/>
                </a:solidFill>
              </a:rPr>
              <a:t>hdfs dfs -du -h: raw 27.5 GB → 82.4 GB on disk (3×); clean_scala 10.0 GB → 20.0 GB (2×)</a:t>
            </a:r>
          </a:p>
        </p:txBody>
      </p:sp>
      <p:pic>
        <p:nvPicPr>
          <p:cNvPr id="10" name="Picture 9" descr="s8_1.png"/>
          <p:cNvPicPr>
            <a:picLocks noChangeAspect="1"/>
          </p:cNvPicPr>
          <p:nvPr/>
        </p:nvPicPr>
        <p:blipFill>
          <a:blip r:embed="rId6"/>
          <a:stretch>
            <a:fillRect/>
          </a:stretch>
        </p:blipFill>
        <p:spPr>
          <a:xfrm>
            <a:off x="7406640" y="1887571"/>
            <a:ext cx="4251960" cy="3082857"/>
          </a:xfrm>
          <a:prstGeom prst="rect">
            <a:avLst/>
          </a:prstGeom>
        </p:spPr>
      </p:pic>
      <p:sp>
        <p:nvSpPr>
          <p:cNvPr id="11" name="TextBox 10"/>
          <p:cNvSpPr txBox="1"/>
          <p:nvPr/>
        </p:nvSpPr>
        <p:spPr>
          <a:xfrm>
            <a:off x="7406640" y="5715000"/>
            <a:ext cx="4251960" cy="548640"/>
          </a:xfrm>
          <a:prstGeom prst="rect">
            <a:avLst/>
          </a:prstGeom>
          <a:noFill/>
        </p:spPr>
        <p:txBody>
          <a:bodyPr wrap="square" anchor="t" lIns="0" rIns="0" tIns="0" bIns="0">
            <a:spAutoFit/>
          </a:bodyPr>
          <a:lstStyle/>
          <a:p>
            <a:r>
              <a:rPr sz="1050" b="1" i="0">
                <a:solidFill>
                  <a:srgbClr val="0B5F8A"/>
                </a:solidFill>
              </a:rPr>
              <a:t>hdfs fsck /lakehouse/raw: HEALTHY — 232 blocks, replication 3.0, 0 missing / corrupt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Evidence: YARN and Spark on the Cluster</a:t>
            </a:r>
          </a:p>
        </p:txBody>
      </p:sp>
      <p:pic>
        <p:nvPicPr>
          <p:cNvPr id="4" name="Picture 3" descr="yarn_nodes_crop.png"/>
          <p:cNvPicPr>
            <a:picLocks noChangeAspect="1"/>
          </p:cNvPicPr>
          <p:nvPr/>
        </p:nvPicPr>
        <p:blipFill>
          <a:blip r:embed="rId3"/>
          <a:stretch>
            <a:fillRect/>
          </a:stretch>
        </p:blipFill>
        <p:spPr>
          <a:xfrm>
            <a:off x="800753" y="1188720"/>
            <a:ext cx="4890733" cy="2377440"/>
          </a:xfrm>
          <a:prstGeom prst="rect">
            <a:avLst/>
          </a:prstGeom>
        </p:spPr>
      </p:pic>
      <p:sp>
        <p:nvSpPr>
          <p:cNvPr id="5" name="TextBox 4"/>
          <p:cNvSpPr txBox="1"/>
          <p:nvPr/>
        </p:nvSpPr>
        <p:spPr>
          <a:xfrm>
            <a:off x="548640" y="3566160"/>
            <a:ext cx="5394960" cy="365760"/>
          </a:xfrm>
          <a:prstGeom prst="rect">
            <a:avLst/>
          </a:prstGeom>
          <a:noFill/>
        </p:spPr>
        <p:txBody>
          <a:bodyPr wrap="square" anchor="t" lIns="0" rIns="0" tIns="0" bIns="0">
            <a:spAutoFit/>
          </a:bodyPr>
          <a:lstStyle/>
          <a:p>
            <a:r>
              <a:rPr sz="1100" b="1" i="0">
                <a:solidFill>
                  <a:srgbClr val="0B5F8A"/>
                </a:solidFill>
              </a:rPr>
              <a:t>YARN ResourceManager — 4 NodeManagers, RUNNING</a:t>
            </a:r>
          </a:p>
        </p:txBody>
      </p:sp>
      <p:pic>
        <p:nvPicPr>
          <p:cNvPr id="6" name="Picture 5" descr="yarn_apps.png"/>
          <p:cNvPicPr>
            <a:picLocks noChangeAspect="1"/>
          </p:cNvPicPr>
          <p:nvPr/>
        </p:nvPicPr>
        <p:blipFill>
          <a:blip r:embed="rId4"/>
          <a:stretch>
            <a:fillRect/>
          </a:stretch>
        </p:blipFill>
        <p:spPr>
          <a:xfrm>
            <a:off x="6126480" y="1214323"/>
            <a:ext cx="5532120" cy="1548993"/>
          </a:xfrm>
          <a:prstGeom prst="rect">
            <a:avLst/>
          </a:prstGeom>
        </p:spPr>
      </p:pic>
      <p:sp>
        <p:nvSpPr>
          <p:cNvPr id="7" name="TextBox 6"/>
          <p:cNvSpPr txBox="1"/>
          <p:nvPr/>
        </p:nvSpPr>
        <p:spPr>
          <a:xfrm>
            <a:off x="6126480" y="2788920"/>
            <a:ext cx="5532120" cy="365760"/>
          </a:xfrm>
          <a:prstGeom prst="rect">
            <a:avLst/>
          </a:prstGeom>
          <a:noFill/>
        </p:spPr>
        <p:txBody>
          <a:bodyPr wrap="square" anchor="t" lIns="0" rIns="0" tIns="0" bIns="0">
            <a:spAutoFit/>
          </a:bodyPr>
          <a:lstStyle/>
          <a:p>
            <a:r>
              <a:rPr sz="1100" b="1" i="0">
                <a:solidFill>
                  <a:srgbClr val="0B5F8A"/>
                </a:solidFill>
              </a:rPr>
              <a:t>Applications: AirQuality_Review_Demo → FINISHED / SUCCEEDED</a:t>
            </a:r>
          </a:p>
        </p:txBody>
      </p:sp>
      <p:pic>
        <p:nvPicPr>
          <p:cNvPr id="8" name="Picture 7" descr="s13_1.png"/>
          <p:cNvPicPr>
            <a:picLocks noChangeAspect="1"/>
          </p:cNvPicPr>
          <p:nvPr/>
        </p:nvPicPr>
        <p:blipFill>
          <a:blip r:embed="rId5"/>
          <a:stretch>
            <a:fillRect/>
          </a:stretch>
        </p:blipFill>
        <p:spPr>
          <a:xfrm>
            <a:off x="6176196" y="3200400"/>
            <a:ext cx="5432686" cy="2194560"/>
          </a:xfrm>
          <a:prstGeom prst="rect">
            <a:avLst/>
          </a:prstGeom>
        </p:spPr>
      </p:pic>
      <p:sp>
        <p:nvSpPr>
          <p:cNvPr id="9" name="TextBox 8"/>
          <p:cNvSpPr txBox="1"/>
          <p:nvPr/>
        </p:nvSpPr>
        <p:spPr>
          <a:xfrm>
            <a:off x="6126480" y="5440680"/>
            <a:ext cx="5532120" cy="548640"/>
          </a:xfrm>
          <a:prstGeom prst="rect">
            <a:avLst/>
          </a:prstGeom>
          <a:noFill/>
        </p:spPr>
        <p:txBody>
          <a:bodyPr wrap="square" anchor="t" lIns="0" rIns="0" tIns="0" bIns="0">
            <a:spAutoFit/>
          </a:bodyPr>
          <a:lstStyle/>
          <a:p>
            <a:r>
              <a:rPr sz="1050" b="1" i="0">
                <a:solidFill>
                  <a:srgbClr val="0B5F8A"/>
                </a:solidFill>
              </a:rPr>
              <a:t>First Spark job on YARN: Spark 3.5.6 / Scala 2.12.18, state ACCEPTED → RUNNING → SUCCEEDED</a:t>
            </a:r>
          </a:p>
        </p:txBody>
      </p:sp>
      <p:sp>
        <p:nvSpPr>
          <p:cNvPr id="10" name="Rectangle 9"/>
          <p:cNvSpPr/>
          <p:nvPr/>
        </p:nvSpPr>
        <p:spPr>
          <a:xfrm>
            <a:off x="548640" y="4023360"/>
            <a:ext cx="5394960" cy="18288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114800"/>
            <a:ext cx="5175504" cy="1645920"/>
          </a:xfrm>
          <a:prstGeom prst="rect">
            <a:avLst/>
          </a:prstGeom>
          <a:noFill/>
        </p:spPr>
        <p:txBody>
          <a:bodyPr wrap="square" anchor="t" lIns="0" rIns="0" tIns="0" bIns="0">
            <a:spAutoFit/>
          </a:bodyPr>
          <a:lstStyle/>
          <a:p>
            <a:r>
              <a:rPr sz="1000" b="0" i="0">
                <a:solidFill>
                  <a:srgbClr val="D7E2EA"/>
                </a:solidFill>
                <a:latin typeface="Courier New"/>
              </a:rPr>
              <a:t>master     : yarn</a:t>
            </a:r>
          </a:p>
          <a:p>
            <a:r>
              <a:rPr sz="1000" b="0" i="0">
                <a:solidFill>
                  <a:srgbClr val="D7E2EA"/>
                </a:solidFill>
                <a:latin typeface="Courier New"/>
              </a:rPr>
              <a:t>app id     : application_1792046046524_0001</a:t>
            </a:r>
          </a:p>
          <a:p>
            <a:r>
              <a:rPr sz="1000" b="0" i="0">
                <a:solidFill>
                  <a:srgbClr val="D7E2EA"/>
                </a:solidFill>
                <a:latin typeface="Courier New"/>
              </a:rPr>
              <a:t>|semistructured_json|cams_history|8263440  |230</a:t>
            </a:r>
          </a:p>
          <a:p>
            <a:r>
              <a:rPr sz="1000" b="0" i="0">
                <a:solidFill>
                  <a:srgbClr val="D7E2EA"/>
                </a:solidFill>
                <a:latin typeface="Courier New"/>
              </a:rPr>
              <a:t>|semistructured_json|live_api    |44160    |230</a:t>
            </a:r>
          </a:p>
          <a:p>
            <a:r>
              <a:rPr sz="1000" b="0" i="0">
                <a:solidFill>
                  <a:srgbClr val="D7E2EA"/>
                </a:solidFill>
                <a:latin typeface="Courier New"/>
              </a:rPr>
              <a:t>|structured_csv     |real        |16252931 |241</a:t>
            </a:r>
          </a:p>
          <a:p>
            <a:r>
              <a:rPr sz="1000" b="0" i="0">
                <a:solidFill>
                  <a:srgbClr val="D7E2EA"/>
                </a:solidFill>
                <a:latin typeface="Courier New"/>
              </a:rPr>
              <a:t>|structured_csv     |synthetic   |130023448|241</a:t>
            </a:r>
          </a:p>
          <a:p>
            <a:r>
              <a:rPr sz="1000" b="0" i="0">
                <a:solidFill>
                  <a:srgbClr val="D7E2EA"/>
                </a:solidFill>
                <a:latin typeface="Courier New"/>
              </a:rPr>
              <a:t>TOTAL rows: 154,583,979   (expected 154,583,979 -&gt; True)</a:t>
            </a:r>
          </a:p>
        </p:txBody>
      </p:sp>
      <p:sp>
        <p:nvSpPr>
          <p:cNvPr id="12" name="TextBox 11"/>
          <p:cNvSpPr txBox="1"/>
          <p:nvPr/>
        </p:nvSpPr>
        <p:spPr>
          <a:xfrm>
            <a:off x="548640" y="5888736"/>
            <a:ext cx="5394960" cy="256032"/>
          </a:xfrm>
          <a:prstGeom prst="rect">
            <a:avLst/>
          </a:prstGeom>
          <a:noFill/>
        </p:spPr>
        <p:txBody>
          <a:bodyPr wrap="square" anchor="t" lIns="0" rIns="0" tIns="0" bIns="0">
            <a:spAutoFit/>
          </a:bodyPr>
          <a:lstStyle/>
          <a:p>
            <a:r>
              <a:rPr sz="1100" b="0" i="1">
                <a:solidFill>
                  <a:srgbClr val="6B7785"/>
                </a:solidFill>
              </a:rPr>
              <a:t>spark_on_yarn_demo.log — distributed count over the unified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Evidence: Scala Processing and Feature Engineering</a:t>
            </a:r>
          </a:p>
        </p:txBody>
      </p:sp>
      <p:pic>
        <p:nvPicPr>
          <p:cNvPr id="4" name="Picture 3" descr="s9_1.png"/>
          <p:cNvPicPr>
            <a:picLocks noChangeAspect="1"/>
          </p:cNvPicPr>
          <p:nvPr/>
        </p:nvPicPr>
        <p:blipFill>
          <a:blip r:embed="rId3"/>
          <a:stretch>
            <a:fillRect/>
          </a:stretch>
        </p:blipFill>
        <p:spPr>
          <a:xfrm>
            <a:off x="548640" y="1244964"/>
            <a:ext cx="3657600" cy="3545110"/>
          </a:xfrm>
          <a:prstGeom prst="rect">
            <a:avLst/>
          </a:prstGeom>
        </p:spPr>
      </p:pic>
      <p:sp>
        <p:nvSpPr>
          <p:cNvPr id="5" name="TextBox 4"/>
          <p:cNvSpPr txBox="1"/>
          <p:nvPr/>
        </p:nvSpPr>
        <p:spPr>
          <a:xfrm>
            <a:off x="548640" y="4846320"/>
            <a:ext cx="3657600" cy="365760"/>
          </a:xfrm>
          <a:prstGeom prst="rect">
            <a:avLst/>
          </a:prstGeom>
          <a:noFill/>
        </p:spPr>
        <p:txBody>
          <a:bodyPr wrap="square" anchor="t" lIns="0" rIns="0" tIns="0" bIns="0">
            <a:spAutoFit/>
          </a:bodyPr>
          <a:lstStyle/>
          <a:p>
            <a:r>
              <a:rPr sz="1100" b="1" i="0">
                <a:solidFill>
                  <a:srgbClr val="0B5F8A"/>
                </a:solidFill>
              </a:rPr>
              <a:t>CleanSelect.scala (source)</a:t>
            </a:r>
          </a:p>
        </p:txBody>
      </p:sp>
      <p:pic>
        <p:nvPicPr>
          <p:cNvPr id="6" name="Picture 5" descr="s10_1.png"/>
          <p:cNvPicPr>
            <a:picLocks noChangeAspect="1"/>
          </p:cNvPicPr>
          <p:nvPr/>
        </p:nvPicPr>
        <p:blipFill>
          <a:blip r:embed="rId4"/>
          <a:stretch>
            <a:fillRect/>
          </a:stretch>
        </p:blipFill>
        <p:spPr>
          <a:xfrm>
            <a:off x="4496938" y="1188720"/>
            <a:ext cx="3716282" cy="2103120"/>
          </a:xfrm>
          <a:prstGeom prst="rect">
            <a:avLst/>
          </a:prstGeom>
        </p:spPr>
      </p:pic>
      <p:sp>
        <p:nvSpPr>
          <p:cNvPr id="7" name="TextBox 6"/>
          <p:cNvSpPr txBox="1"/>
          <p:nvPr/>
        </p:nvSpPr>
        <p:spPr>
          <a:xfrm>
            <a:off x="4389120" y="3291840"/>
            <a:ext cx="3931920" cy="365760"/>
          </a:xfrm>
          <a:prstGeom prst="rect">
            <a:avLst/>
          </a:prstGeom>
          <a:noFill/>
        </p:spPr>
        <p:txBody>
          <a:bodyPr wrap="square" anchor="t" lIns="0" rIns="0" tIns="0" bIns="0">
            <a:spAutoFit/>
          </a:bodyPr>
          <a:lstStyle/>
          <a:p>
            <a:r>
              <a:rPr sz="1100" b="1" i="0">
                <a:solidFill>
                  <a:srgbClr val="0B5F8A"/>
                </a:solidFill>
              </a:rPr>
              <a:t>CleanSelect at full scale: 146,276,379 rows in → out</a:t>
            </a:r>
          </a:p>
        </p:txBody>
      </p:sp>
      <p:pic>
        <p:nvPicPr>
          <p:cNvPr id="8" name="Picture 7" descr="s11_1.png"/>
          <p:cNvPicPr>
            <a:picLocks noChangeAspect="1"/>
          </p:cNvPicPr>
          <p:nvPr/>
        </p:nvPicPr>
        <p:blipFill>
          <a:blip r:embed="rId5"/>
          <a:stretch>
            <a:fillRect/>
          </a:stretch>
        </p:blipFill>
        <p:spPr>
          <a:xfrm>
            <a:off x="8503920" y="1208818"/>
            <a:ext cx="3154680" cy="2885882"/>
          </a:xfrm>
          <a:prstGeom prst="rect">
            <a:avLst/>
          </a:prstGeom>
        </p:spPr>
      </p:pic>
      <p:sp>
        <p:nvSpPr>
          <p:cNvPr id="9" name="TextBox 8"/>
          <p:cNvSpPr txBox="1"/>
          <p:nvPr/>
        </p:nvSpPr>
        <p:spPr>
          <a:xfrm>
            <a:off x="8503920" y="4114800"/>
            <a:ext cx="3154680" cy="365760"/>
          </a:xfrm>
          <a:prstGeom prst="rect">
            <a:avLst/>
          </a:prstGeom>
          <a:noFill/>
        </p:spPr>
        <p:txBody>
          <a:bodyPr wrap="square" anchor="t" lIns="0" rIns="0" tIns="0" bIns="0">
            <a:spAutoFit/>
          </a:bodyPr>
          <a:lstStyle/>
          <a:p>
            <a:r>
              <a:rPr sz="1100" b="1" i="0">
                <a:solidFill>
                  <a:srgbClr val="0B5F8A"/>
                </a:solidFill>
              </a:rPr>
              <a:t>HDFS clean_scala: city=… partitions (241)</a:t>
            </a:r>
          </a:p>
        </p:txBody>
      </p:sp>
      <p:sp>
        <p:nvSpPr>
          <p:cNvPr id="10" name="Rectangle 9"/>
          <p:cNvSpPr/>
          <p:nvPr/>
        </p:nvSpPr>
        <p:spPr>
          <a:xfrm>
            <a:off x="4389120" y="3703320"/>
            <a:ext cx="3931920" cy="20116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3794759"/>
            <a:ext cx="3712463" cy="1828800"/>
          </a:xfrm>
          <a:prstGeom prst="rect">
            <a:avLst/>
          </a:prstGeom>
          <a:noFill/>
        </p:spPr>
        <p:txBody>
          <a:bodyPr wrap="square" anchor="t" lIns="0" rIns="0" tIns="0" bIns="0">
            <a:spAutoFit/>
          </a:bodyPr>
          <a:lstStyle/>
          <a:p>
            <a:r>
              <a:rPr sz="950" b="0" i="0">
                <a:solidFill>
                  <a:srgbClr val="D7E2EA"/>
                </a:solidFill>
                <a:latin typeface="Courier New"/>
              </a:rPr>
              <a:t>rows in            : 146,276,379</a:t>
            </a:r>
          </a:p>
          <a:p>
            <a:r>
              <a:rPr sz="950" b="0" i="0">
                <a:solidFill>
                  <a:srgbClr val="D7E2EA"/>
                </a:solidFill>
                <a:latin typeface="Courier New"/>
              </a:rPr>
              <a:t>rows after dedupe  : 128,660,967</a:t>
            </a:r>
          </a:p>
          <a:p>
            <a:r>
              <a:rPr sz="950" b="0" i="0">
                <a:solidFill>
                  <a:srgbClr val="D7E2EA"/>
                </a:solidFill>
                <a:latin typeface="Courier New"/>
              </a:rPr>
              <a:t>rows with T+1 label: 93,216,105</a:t>
            </a:r>
          </a:p>
          <a:p>
            <a:r>
              <a:rPr sz="950" b="0" i="0">
                <a:solidFill>
                  <a:srgbClr val="D7E2EA"/>
                </a:solidFill>
                <a:latin typeface="Courier New"/>
              </a:rPr>
              <a:t>rows assemblable   : 93,216,105</a:t>
            </a:r>
          </a:p>
          <a:p>
            <a:r>
              <a:rPr sz="950" b="0" i="0">
                <a:solidFill>
                  <a:srgbClr val="D7E2EA"/>
                </a:solidFill>
                <a:latin typeface="Courier New"/>
              </a:rPr>
              <a:t>numeric features   : 54    one-hot width : 32</a:t>
            </a:r>
          </a:p>
          <a:p>
            <a:r>
              <a:rPr sz="950" b="0" i="0">
                <a:solidFill>
                  <a:srgbClr val="D7E2EA"/>
                </a:solidFill>
                <a:latin typeface="Courier New"/>
              </a:rPr>
              <a:t>FEATURE VECTOR DIM : 86    partitioned by: city</a:t>
            </a:r>
          </a:p>
          <a:p>
            <a:r>
              <a:rPr sz="950" b="0" i="0">
                <a:solidFill>
                  <a:srgbClr val="D7E2EA"/>
                </a:solidFill>
                <a:latin typeface="Courier New"/>
              </a:rPr>
              <a:t>elapsed            : 4411.0 s (73.5 min)</a:t>
            </a:r>
          </a:p>
        </p:txBody>
      </p:sp>
      <p:sp>
        <p:nvSpPr>
          <p:cNvPr id="12" name="TextBox 11"/>
          <p:cNvSpPr txBox="1"/>
          <p:nvPr/>
        </p:nvSpPr>
        <p:spPr>
          <a:xfrm>
            <a:off x="4389120" y="5751576"/>
            <a:ext cx="3931920" cy="256032"/>
          </a:xfrm>
          <a:prstGeom prst="rect">
            <a:avLst/>
          </a:prstGeom>
          <a:noFill/>
        </p:spPr>
        <p:txBody>
          <a:bodyPr wrap="square" anchor="t" lIns="0" rIns="0" tIns="0" bIns="0">
            <a:spAutoFit/>
          </a:bodyPr>
          <a:lstStyle/>
          <a:p>
            <a:r>
              <a:rPr sz="1100" b="0" i="1">
                <a:solidFill>
                  <a:srgbClr val="6B7785"/>
                </a:solidFill>
              </a:rPr>
              <a:t>phase4_fullscale.log</a:t>
            </a:r>
          </a:p>
        </p:txBody>
      </p:sp>
      <p:sp>
        <p:nvSpPr>
          <p:cNvPr id="13" name="Rectangle 12"/>
          <p:cNvSpPr/>
          <p:nvPr/>
        </p:nvSpPr>
        <p:spPr>
          <a:xfrm>
            <a:off x="8503920" y="4617720"/>
            <a:ext cx="315468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68512" y="4672583"/>
            <a:ext cx="2825496" cy="987552"/>
          </a:xfrm>
          <a:prstGeom prst="rect">
            <a:avLst/>
          </a:prstGeom>
          <a:noFill/>
        </p:spPr>
        <p:txBody>
          <a:bodyPr wrap="square" anchor="ctr" lIns="0" rIns="0" tIns="0" bIns="0">
            <a:spAutoFit/>
          </a:bodyPr>
          <a:lstStyle/>
          <a:p>
            <a:r>
              <a:rPr sz="1100" b="0" i="0">
                <a:solidFill>
                  <a:srgbClr val="1A1A1A"/>
                </a:solidFill>
              </a:rPr>
              <a:t>Preprocessing: 32 → 44 columns, 10 steps, 3-tier imputation, every fill flagged; Phase 4 output 19.7 GB in 241 city partitions.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Evidence: Model Training and Data Validation</a:t>
            </a:r>
          </a:p>
        </p:txBody>
      </p:sp>
      <p:sp>
        <p:nvSpPr>
          <p:cNvPr id="4" name="Rectangle 3"/>
          <p:cNvSpPr/>
          <p:nvPr/>
        </p:nvSpPr>
        <p:spPr>
          <a:xfrm>
            <a:off x="548640" y="1188720"/>
            <a:ext cx="5760720" cy="265176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80160"/>
            <a:ext cx="5541264" cy="2468879"/>
          </a:xfrm>
          <a:prstGeom prst="rect">
            <a:avLst/>
          </a:prstGeom>
          <a:noFill/>
        </p:spPr>
        <p:txBody>
          <a:bodyPr wrap="square" anchor="t" lIns="0" rIns="0" tIns="0" bIns="0">
            <a:spAutoFit/>
          </a:bodyPr>
          <a:lstStyle/>
          <a:p>
            <a:r>
              <a:rPr sz="1100" b="0" i="0">
                <a:solidFill>
                  <a:srgbClr val="D7E2EA"/>
                </a:solidFill>
                <a:latin typeface="Courier New"/>
              </a:rPr>
              <a:t>train 10,000,552 rows | test 18,671,121 rows</a:t>
            </a:r>
          </a:p>
          <a:p>
            <a:r>
              <a:rPr sz="1100" b="0" i="0">
                <a:solidFill>
                  <a:srgbClr val="D7E2EA"/>
                </a:solidFill>
                <a:latin typeface="Courier New"/>
              </a:rPr>
              <a:t>test window: 2022-07-01 -&gt; 2023-03-31</a:t>
            </a:r>
          </a:p>
          <a:p>
            <a:r>
              <a:rPr sz="1100" b="0" i="0">
                <a:solidFill>
                  <a:srgbClr val="D7E2EA"/>
                </a:solidFill>
                <a:latin typeface="Courier New"/>
              </a:rPr>
              <a:t>PERSISTENCE BASELINE  R2=0.8563 RMSE=25.443</a:t>
            </a:r>
          </a:p>
          <a:p>
            <a:r>
              <a:rPr sz="1100" b="0" i="0">
                <a:solidFill>
                  <a:srgbClr val="D7E2EA"/>
                </a:solidFill>
                <a:latin typeface="Courier New"/>
              </a:rPr>
              <a:t>trained on 10,000,552 rows, 300 trees</a:t>
            </a:r>
          </a:p>
          <a:p>
            <a:r>
              <a:rPr sz="1100" b="0" i="0">
                <a:solidFill>
                  <a:srgbClr val="D7E2EA"/>
                </a:solidFill>
                <a:latin typeface="Courier New"/>
              </a:rPr>
              <a:t>REAL ROWS ONLY (n=2,074,569)</a:t>
            </a:r>
          </a:p>
          <a:p>
            <a:r>
              <a:rPr sz="1100" b="0" i="0">
                <a:solidFill>
                  <a:srgbClr val="D7E2EA"/>
                </a:solidFill>
                <a:latin typeface="Courier New"/>
              </a:rPr>
              <a:t>  persistence baseline  0.8587  24.831  9.937</a:t>
            </a:r>
          </a:p>
          <a:p>
            <a:r>
              <a:rPr sz="1100" b="0" i="0">
                <a:solidFill>
                  <a:srgbClr val="D7E2EA"/>
                </a:solidFill>
                <a:latin typeface="Courier New"/>
              </a:rPr>
              <a:t>  GBT model             0.8910  21.806  8.926</a:t>
            </a:r>
          </a:p>
          <a:p>
            <a:r>
              <a:rPr sz="1100" b="0" i="0">
                <a:solidFill>
                  <a:srgbClr val="D7E2EA"/>
                </a:solidFill>
                <a:latin typeface="Courier New"/>
              </a:rPr>
              <a:t>  RMSE reduction        12.18%</a:t>
            </a:r>
          </a:p>
          <a:p>
            <a:r>
              <a:rPr sz="1100" b="0" i="0">
                <a:solidFill>
                  <a:srgbClr val="D7E2EA"/>
                </a:solidFill>
                <a:latin typeface="Courier New"/>
              </a:rPr>
              <a:t>PASS (real rows): beats persistence by 0.0323 R2</a:t>
            </a:r>
          </a:p>
        </p:txBody>
      </p:sp>
      <p:sp>
        <p:nvSpPr>
          <p:cNvPr id="6" name="TextBox 5"/>
          <p:cNvSpPr txBox="1"/>
          <p:nvPr/>
        </p:nvSpPr>
        <p:spPr>
          <a:xfrm>
            <a:off x="548640" y="3877056"/>
            <a:ext cx="5760720" cy="256032"/>
          </a:xfrm>
          <a:prstGeom prst="rect">
            <a:avLst/>
          </a:prstGeom>
          <a:noFill/>
        </p:spPr>
        <p:txBody>
          <a:bodyPr wrap="square" anchor="t" lIns="0" rIns="0" tIns="0" bIns="0">
            <a:spAutoFit/>
          </a:bodyPr>
          <a:lstStyle/>
          <a:p>
            <a:r>
              <a:rPr sz="1100" b="0" i="1">
                <a:solidFill>
                  <a:srgbClr val="6B7785"/>
                </a:solidFill>
              </a:rPr>
              <a:t>trackB_train_fullscale.summary.log — PHASE 6 evaluation (5 h 50 m on one host)</a:t>
            </a:r>
          </a:p>
        </p:txBody>
      </p:sp>
      <p:sp>
        <p:nvSpPr>
          <p:cNvPr id="7" name="TextBox 6"/>
          <p:cNvSpPr txBox="1"/>
          <p:nvPr/>
        </p:nvSpPr>
        <p:spPr>
          <a:xfrm>
            <a:off x="548640" y="4343400"/>
            <a:ext cx="5760720" cy="640080"/>
          </a:xfrm>
          <a:prstGeom prst="rect">
            <a:avLst/>
          </a:prstGeom>
          <a:noFill/>
        </p:spPr>
        <p:txBody>
          <a:bodyPr wrap="square" anchor="t" lIns="0" rIns="0" tIns="0" bIns="0">
            <a:spAutoFit/>
          </a:bodyPr>
          <a:lstStyle/>
          <a:p>
            <a:r>
              <a:rPr sz="1200" b="0" i="0">
                <a:solidFill>
                  <a:srgbClr val="5A6673"/>
                </a:solidFill>
              </a:rPr>
              <a:t>Persistence gate: the script prints *** FAIL *** if the model does not beat “next hour = this hour” on the same rows.</a:t>
            </a:r>
          </a:p>
        </p:txBody>
      </p:sp>
      <p:sp>
        <p:nvSpPr>
          <p:cNvPr id="8" name="TextBox 7"/>
          <p:cNvSpPr txBox="1"/>
          <p:nvPr/>
        </p:nvSpPr>
        <p:spPr>
          <a:xfrm>
            <a:off x="6583680" y="1188720"/>
            <a:ext cx="5029200" cy="320040"/>
          </a:xfrm>
          <a:prstGeom prst="rect">
            <a:avLst/>
          </a:prstGeom>
          <a:noFill/>
        </p:spPr>
        <p:txBody>
          <a:bodyPr wrap="square" anchor="t" lIns="0" rIns="0" tIns="0" bIns="0">
            <a:spAutoFit/>
          </a:bodyPr>
          <a:lstStyle/>
          <a:p>
            <a:r>
              <a:rPr sz="1300" b="1" i="0">
                <a:solidFill>
                  <a:srgbClr val="0B5F8A"/>
                </a:solidFill>
              </a:rPr>
              <a:t>Cross-validation: CPCB vs CAMS, 1,152,707 city-hours (Pearson r)</a:t>
            </a:r>
          </a:p>
        </p:txBody>
      </p:sp>
      <p:graphicFrame>
        <p:nvGraphicFramePr>
          <p:cNvPr id="9" name="Chart 8"/>
          <p:cNvGraphicFramePr>
            <a:graphicFrameLocks noGrp="1"/>
          </p:cNvGraphicFramePr>
          <p:nvPr/>
        </p:nvGraphicFramePr>
        <p:xfrm>
          <a:off x="6583680" y="1554480"/>
          <a:ext cx="5074920" cy="2560320"/>
        </p:xfrm>
        <a:graphic>
          <a:graphicData uri="http://schemas.openxmlformats.org/drawingml/2006/chart">
            <c:chart xmlns:c="http://schemas.openxmlformats.org/drawingml/2006/chart" r:id="rId3"/>
          </a:graphicData>
        </a:graphic>
      </p:graphicFrame>
      <p:sp>
        <p:nvSpPr>
          <p:cNvPr id="10" name="Rectangle 9"/>
          <p:cNvSpPr/>
          <p:nvPr/>
        </p:nvSpPr>
        <p:spPr>
          <a:xfrm>
            <a:off x="548640" y="5029200"/>
            <a:ext cx="274320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102352"/>
            <a:ext cx="2523744" cy="653796"/>
          </a:xfrm>
          <a:prstGeom prst="rect">
            <a:avLst/>
          </a:prstGeom>
          <a:noFill/>
        </p:spPr>
        <p:txBody>
          <a:bodyPr wrap="square" anchor="ctr" lIns="0" rIns="0" tIns="0" bIns="0">
            <a:spAutoFit/>
          </a:bodyPr>
          <a:lstStyle/>
          <a:p>
            <a:r>
              <a:rPr sz="3000" b="1" i="0">
                <a:solidFill>
                  <a:srgbClr val="1B7A3D"/>
                </a:solidFill>
              </a:rPr>
              <a:t>5 / 5</a:t>
            </a:r>
          </a:p>
        </p:txBody>
      </p:sp>
      <p:sp>
        <p:nvSpPr>
          <p:cNvPr id="12" name="TextBox 11"/>
          <p:cNvSpPr txBox="1"/>
          <p:nvPr/>
        </p:nvSpPr>
        <p:spPr>
          <a:xfrm>
            <a:off x="658368" y="5766206"/>
            <a:ext cx="2523744" cy="427939"/>
          </a:xfrm>
          <a:prstGeom prst="rect">
            <a:avLst/>
          </a:prstGeom>
          <a:noFill/>
        </p:spPr>
        <p:txBody>
          <a:bodyPr wrap="square" anchor="t" lIns="0" rIns="0" tIns="0" bIns="0">
            <a:spAutoFit/>
          </a:bodyPr>
          <a:lstStyle/>
          <a:p>
            <a:r>
              <a:rPr sz="1200" b="0" i="0">
                <a:solidFill>
                  <a:srgbClr val="5A6673"/>
                </a:solidFill>
              </a:rPr>
              <a:t>paired synthetic-vs-real tests pass (blocking)</a:t>
            </a:r>
          </a:p>
        </p:txBody>
      </p:sp>
      <p:sp>
        <p:nvSpPr>
          <p:cNvPr id="13" name="Rectangle 12"/>
          <p:cNvSpPr/>
          <p:nvPr/>
        </p:nvSpPr>
        <p:spPr>
          <a:xfrm>
            <a:off x="3474720" y="5029200"/>
            <a:ext cx="274320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5102352"/>
            <a:ext cx="2523744" cy="653796"/>
          </a:xfrm>
          <a:prstGeom prst="rect">
            <a:avLst/>
          </a:prstGeom>
          <a:noFill/>
        </p:spPr>
        <p:txBody>
          <a:bodyPr wrap="square" anchor="ctr" lIns="0" rIns="0" tIns="0" bIns="0">
            <a:spAutoFit/>
          </a:bodyPr>
          <a:lstStyle/>
          <a:p>
            <a:r>
              <a:rPr sz="3000" b="1" i="0">
                <a:solidFill>
                  <a:srgbClr val="0B5F8A"/>
                </a:solidFill>
              </a:rPr>
              <a:t>11</a:t>
            </a:r>
          </a:p>
        </p:txBody>
      </p:sp>
      <p:sp>
        <p:nvSpPr>
          <p:cNvPr id="15" name="TextBox 14"/>
          <p:cNvSpPr txBox="1"/>
          <p:nvPr/>
        </p:nvSpPr>
        <p:spPr>
          <a:xfrm>
            <a:off x="3584448" y="5766206"/>
            <a:ext cx="2523744" cy="427939"/>
          </a:xfrm>
          <a:prstGeom prst="rect">
            <a:avLst/>
          </a:prstGeom>
          <a:noFill/>
        </p:spPr>
        <p:txBody>
          <a:bodyPr wrap="square" anchor="t" lIns="0" rIns="0" tIns="0" bIns="0">
            <a:spAutoFit/>
          </a:bodyPr>
          <a:lstStyle/>
          <a:p>
            <a:r>
              <a:rPr sz="1200" b="0" i="0">
                <a:solidFill>
                  <a:srgbClr val="5A6673"/>
                </a:solidFill>
              </a:rPr>
              <a:t>defects found by running, all fixed</a:t>
            </a:r>
          </a:p>
        </p:txBody>
      </p:sp>
      <p:sp>
        <p:nvSpPr>
          <p:cNvPr id="16" name="Rectangle 15"/>
          <p:cNvSpPr/>
          <p:nvPr/>
        </p:nvSpPr>
        <p:spPr>
          <a:xfrm>
            <a:off x="6400800" y="5029200"/>
            <a:ext cx="265176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5102352"/>
            <a:ext cx="2432304" cy="653796"/>
          </a:xfrm>
          <a:prstGeom prst="rect">
            <a:avLst/>
          </a:prstGeom>
          <a:noFill/>
        </p:spPr>
        <p:txBody>
          <a:bodyPr wrap="square" anchor="ctr" lIns="0" rIns="0" tIns="0" bIns="0">
            <a:spAutoFit/>
          </a:bodyPr>
          <a:lstStyle/>
          <a:p>
            <a:r>
              <a:rPr sz="3000" b="1" i="0">
                <a:solidFill>
                  <a:srgbClr val="0B5F8A"/>
                </a:solidFill>
              </a:rPr>
              <a:t>6th / 86</a:t>
            </a:r>
          </a:p>
        </p:txBody>
      </p:sp>
      <p:sp>
        <p:nvSpPr>
          <p:cNvPr id="18" name="TextBox 17"/>
          <p:cNvSpPr txBox="1"/>
          <p:nvPr/>
        </p:nvSpPr>
        <p:spPr>
          <a:xfrm>
            <a:off x="6510528" y="5766206"/>
            <a:ext cx="2432304" cy="427939"/>
          </a:xfrm>
          <a:prstGeom prst="rect">
            <a:avLst/>
          </a:prstGeom>
          <a:noFill/>
        </p:spPr>
        <p:txBody>
          <a:bodyPr wrap="square" anchor="t" lIns="0" rIns="0" tIns="0" bIns="0">
            <a:spAutoFit/>
          </a:bodyPr>
          <a:lstStyle/>
          <a:p>
            <a:r>
              <a:rPr sz="1200" b="0" i="0">
                <a:solidFill>
                  <a:srgbClr val="5A6673"/>
                </a:solidFill>
              </a:rPr>
              <a:t>pm25_was_imputed importance</a:t>
            </a:r>
          </a:p>
        </p:txBody>
      </p:sp>
      <p:sp>
        <p:nvSpPr>
          <p:cNvPr id="19" name="Rectangle 18"/>
          <p:cNvSpPr/>
          <p:nvPr/>
        </p:nvSpPr>
        <p:spPr>
          <a:xfrm>
            <a:off x="9189720" y="5029200"/>
            <a:ext cx="2468880" cy="1188720"/>
          </a:xfrm>
          <a:prstGeom prst="rect">
            <a:avLst/>
          </a:prstGeom>
          <a:solidFill>
            <a:srgbClr val="FBE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54312" y="5084064"/>
            <a:ext cx="2139696" cy="1078992"/>
          </a:xfrm>
          <a:prstGeom prst="rect">
            <a:avLst/>
          </a:prstGeom>
          <a:noFill/>
        </p:spPr>
        <p:txBody>
          <a:bodyPr wrap="square" anchor="ctr" lIns="0" rIns="0" tIns="0" bIns="0">
            <a:spAutoFit/>
          </a:bodyPr>
          <a:lstStyle/>
          <a:p>
            <a:r>
              <a:rPr sz="1100" b="0" i="0">
                <a:solidFill>
                  <a:srgbClr val="1A1A1A"/>
                </a:solidFill>
              </a:rPr>
              <a:t>SO₂ agreement is essentially none (0.083) — published as a limitation, not hidden.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Evidence: October Live Run, Alerts and Website</a:t>
            </a:r>
          </a:p>
        </p:txBody>
      </p:sp>
      <p:sp>
        <p:nvSpPr>
          <p:cNvPr id="4" name="Rectangle 3"/>
          <p:cNvSpPr/>
          <p:nvPr/>
        </p:nvSpPr>
        <p:spPr>
          <a:xfrm>
            <a:off x="548640" y="1188720"/>
            <a:ext cx="3749039" cy="169164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80160"/>
            <a:ext cx="3529583" cy="1508760"/>
          </a:xfrm>
          <a:prstGeom prst="rect">
            <a:avLst/>
          </a:prstGeom>
          <a:noFill/>
        </p:spPr>
        <p:txBody>
          <a:bodyPr wrap="square" anchor="t" lIns="0" rIns="0" tIns="0" bIns="0">
            <a:spAutoFit/>
          </a:bodyPr>
          <a:lstStyle/>
          <a:p>
            <a:r>
              <a:rPr sz="950" b="0" i="0">
                <a:solidFill>
                  <a:srgbClr val="D7E2EA"/>
                </a:solidFill>
                <a:latin typeface="Courier New"/>
              </a:rPr>
              <a:t>cams window    : 2026-10-01 .. 2026-10-15 23:00</a:t>
            </a:r>
          </a:p>
          <a:p>
            <a:r>
              <a:rPr sz="950" b="0" i="0">
                <a:solidFill>
                  <a:srgbClr val="D7E2EA"/>
                </a:solidFill>
                <a:latin typeface="Courier New"/>
              </a:rPr>
              <a:t>weather window : 2026-10-01 .. 2026-10-15 23:00</a:t>
            </a:r>
          </a:p>
          <a:p>
            <a:r>
              <a:rPr sz="950" b="0" i="0">
                <a:solidFill>
                  <a:srgbClr val="D7E2EA"/>
                </a:solidFill>
                <a:latin typeface="Courier New"/>
              </a:rPr>
              <a:t>joined rows    : 82,800</a:t>
            </a:r>
          </a:p>
          <a:p>
            <a:r>
              <a:rPr sz="950" b="0" i="0">
                <a:solidFill>
                  <a:srgbClr val="D7E2EA"/>
                </a:solidFill>
                <a:latin typeface="Courier New"/>
              </a:rPr>
              <a:t>enriched rows  : 82,800 across 230 cities</a:t>
            </a:r>
          </a:p>
          <a:p>
            <a:r>
              <a:rPr sz="950" b="0" i="0">
                <a:solidFill>
                  <a:srgbClr val="D7E2EA"/>
                </a:solidFill>
                <a:latin typeface="Courier New"/>
              </a:rPr>
              <a:t>  pm25 nulls=0   temperature_c nulls=0</a:t>
            </a:r>
          </a:p>
          <a:p>
            <a:r>
              <a:rPr sz="950" b="0" i="0">
                <a:solidFill>
                  <a:srgbClr val="D7E2EA"/>
                </a:solidFill>
                <a:latin typeface="Courier New"/>
              </a:rPr>
              <a:t>  pressure nulls=0   traffic_index nulls=0</a:t>
            </a:r>
          </a:p>
        </p:txBody>
      </p:sp>
      <p:sp>
        <p:nvSpPr>
          <p:cNvPr id="6" name="TextBox 5"/>
          <p:cNvSpPr txBox="1"/>
          <p:nvPr/>
        </p:nvSpPr>
        <p:spPr>
          <a:xfrm>
            <a:off x="548640" y="2916936"/>
            <a:ext cx="3749039" cy="256032"/>
          </a:xfrm>
          <a:prstGeom prst="rect">
            <a:avLst/>
          </a:prstGeom>
          <a:noFill/>
        </p:spPr>
        <p:txBody>
          <a:bodyPr wrap="square" anchor="t" lIns="0" rIns="0" tIns="0" bIns="0">
            <a:spAutoFit/>
          </a:bodyPr>
          <a:lstStyle/>
          <a:p>
            <a:r>
              <a:rPr sz="1100" b="0" i="1">
                <a:solidFill>
                  <a:srgbClr val="6B7785"/>
                </a:solidFill>
              </a:rPr>
              <a:t>october_live_cycle.log (LiveEnrichment on YARN)</a:t>
            </a:r>
          </a:p>
        </p:txBody>
      </p:sp>
      <p:sp>
        <p:nvSpPr>
          <p:cNvPr id="7" name="Rectangle 6"/>
          <p:cNvSpPr/>
          <p:nvPr/>
        </p:nvSpPr>
        <p:spPr>
          <a:xfrm>
            <a:off x="548640" y="3200400"/>
            <a:ext cx="3749039" cy="169164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91840"/>
            <a:ext cx="3529583" cy="1508760"/>
          </a:xfrm>
          <a:prstGeom prst="rect">
            <a:avLst/>
          </a:prstGeom>
          <a:noFill/>
        </p:spPr>
        <p:txBody>
          <a:bodyPr wrap="square" anchor="t" lIns="0" rIns="0" tIns="0" bIns="0">
            <a:spAutoFit/>
          </a:bodyPr>
          <a:lstStyle/>
          <a:p>
            <a:r>
              <a:rPr sz="950" b="0" i="0">
                <a:solidFill>
                  <a:srgbClr val="D7E2EA"/>
                </a:solidFill>
                <a:latin typeface="Courier New"/>
              </a:rPr>
              <a:t>[batch 0] no history yet - first run</a:t>
            </a:r>
          </a:p>
          <a:p>
            <a:r>
              <a:rPr sz="950" b="0" i="0">
                <a:solidFill>
                  <a:srgbClr val="D7E2EA"/>
                </a:solidFill>
                <a:latin typeface="Courier New"/>
              </a:rPr>
              <a:t>[batch 0] *** 27543 ALERTS ***</a:t>
            </a:r>
          </a:p>
          <a:p>
            <a:r>
              <a:rPr sz="950" b="0" i="0">
                <a:solidFill>
                  <a:srgbClr val="D7E2EA"/>
                </a:solidFill>
                <a:latin typeface="Courier New"/>
              </a:rPr>
              <a:t>[batch 0] rows in=82,800  predicted=82,800</a:t>
            </a:r>
          </a:p>
          <a:p>
            <a:r>
              <a:rPr sz="950" b="0" i="0">
                <a:solidFill>
                  <a:srgbClr val="D7E2EA"/>
                </a:solidFill>
                <a:latin typeface="Courier New"/>
              </a:rPr>
              <a:t>  alerts=27,543  latency=57,820 ms</a:t>
            </a:r>
          </a:p>
          <a:p>
            <a:r>
              <a:rPr sz="950" b="0" i="0">
                <a:solidFill>
                  <a:srgbClr val="D7E2EA"/>
                </a:solidFill>
                <a:latin typeface="Courier New"/>
              </a:rPr>
              <a:t>Hive stream_alerts: 27543 rows, 221 cities,</a:t>
            </a:r>
          </a:p>
          <a:p>
            <a:r>
              <a:rPr sz="950" b="0" i="0">
                <a:solidFill>
                  <a:srgbClr val="D7E2EA"/>
                </a:solidFill>
                <a:latin typeface="Courier New"/>
              </a:rPr>
              <a:t>  2026-10-01 .. 2026-10-16 00:00</a:t>
            </a:r>
          </a:p>
        </p:txBody>
      </p:sp>
      <p:sp>
        <p:nvSpPr>
          <p:cNvPr id="9" name="TextBox 8"/>
          <p:cNvSpPr txBox="1"/>
          <p:nvPr/>
        </p:nvSpPr>
        <p:spPr>
          <a:xfrm>
            <a:off x="548640" y="4928616"/>
            <a:ext cx="3749039" cy="256032"/>
          </a:xfrm>
          <a:prstGeom prst="rect">
            <a:avLst/>
          </a:prstGeom>
          <a:noFill/>
        </p:spPr>
        <p:txBody>
          <a:bodyPr wrap="square" anchor="t" lIns="0" rIns="0" tIns="0" bIns="0">
            <a:spAutoFit/>
          </a:bodyPr>
          <a:lstStyle/>
          <a:p>
            <a:r>
              <a:rPr sz="1100" b="0" i="1">
                <a:solidFill>
                  <a:srgbClr val="6B7785"/>
                </a:solidFill>
              </a:rPr>
              <a:t>october_stream_scoring.log + Hive count</a:t>
            </a:r>
          </a:p>
        </p:txBody>
      </p:sp>
      <p:sp>
        <p:nvSpPr>
          <p:cNvPr id="10" name="Rectangle 9"/>
          <p:cNvSpPr/>
          <p:nvPr/>
        </p:nvSpPr>
        <p:spPr>
          <a:xfrm>
            <a:off x="548640" y="5212080"/>
            <a:ext cx="3749039" cy="11430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303520"/>
            <a:ext cx="3529583" cy="960120"/>
          </a:xfrm>
          <a:prstGeom prst="rect">
            <a:avLst/>
          </a:prstGeom>
          <a:noFill/>
        </p:spPr>
        <p:txBody>
          <a:bodyPr wrap="square" anchor="t" lIns="0" rIns="0" tIns="0" bIns="0">
            <a:spAutoFit/>
          </a:bodyPr>
          <a:lstStyle/>
          <a:p>
            <a:r>
              <a:rPr sz="900" b="0" i="0">
                <a:solidFill>
                  <a:srgbClr val="D7E2EA"/>
                </a:solidFill>
                <a:latin typeface="Courier New"/>
              </a:rPr>
              <a:t>clock 20:00  108 cities warned -&gt; 2 sent</a:t>
            </a:r>
          </a:p>
          <a:p>
            <a:r>
              <a:rPr sz="900" b="0" i="0">
                <a:solidFill>
                  <a:srgbClr val="D7E2EA"/>
                </a:solidFill>
                <a:latin typeface="Courier New"/>
              </a:rPr>
              <a:t>  Hisar new warning (AQI 463 Severe)</a:t>
            </a:r>
          </a:p>
          <a:p>
            <a:r>
              <a:rPr sz="900" b="0" i="0">
                <a:solidFill>
                  <a:srgbClr val="D7E2EA"/>
                </a:solidFill>
                <a:latin typeface="Courier New"/>
              </a:rPr>
              <a:t>  Fatehabad new warning (AQI 418)</a:t>
            </a:r>
          </a:p>
          <a:p>
            <a:r>
              <a:rPr sz="900" b="0" i="0">
                <a:solidFill>
                  <a:srgbClr val="D7E2EA"/>
                </a:solidFill>
                <a:latin typeface="Courier New"/>
              </a:rPr>
              <a:t>clock 21:00   93 warned -&gt; 2 sent, 2 suppressed</a:t>
            </a:r>
          </a:p>
          <a:p>
            <a:r>
              <a:rPr sz="900" b="0" i="0">
                <a:solidFill>
                  <a:srgbClr val="D7E2EA"/>
                </a:solidFill>
                <a:latin typeface="Courier New"/>
              </a:rPr>
              <a:t>  (already sent 1.0 h ago)</a:t>
            </a:r>
          </a:p>
          <a:p>
            <a:r>
              <a:rPr sz="900" b="0" i="0">
                <a:solidFill>
                  <a:srgbClr val="D7E2EA"/>
                </a:solidFill>
                <a:latin typeface="Courier New"/>
              </a:rPr>
              <a:t>clock 02:00   0 under warning, 0 sent</a:t>
            </a:r>
          </a:p>
        </p:txBody>
      </p:sp>
      <p:sp>
        <p:nvSpPr>
          <p:cNvPr id="12" name="TextBox 11"/>
          <p:cNvSpPr txBox="1"/>
          <p:nvPr/>
        </p:nvSpPr>
        <p:spPr>
          <a:xfrm>
            <a:off x="548640" y="6391656"/>
            <a:ext cx="3749039" cy="256032"/>
          </a:xfrm>
          <a:prstGeom prst="rect">
            <a:avLst/>
          </a:prstGeom>
          <a:noFill/>
        </p:spPr>
        <p:txBody>
          <a:bodyPr wrap="square" anchor="t" lIns="0" rIns="0" tIns="0" bIns="0">
            <a:spAutoFit/>
          </a:bodyPr>
          <a:lstStyle/>
          <a:p>
            <a:r>
              <a:rPr sz="1100" b="0" i="1">
                <a:solidFill>
                  <a:srgbClr val="6B7785"/>
                </a:solidFill>
              </a:rPr>
              <a:t>hourly_dedupe_demo.log — dry-run replay</a:t>
            </a:r>
          </a:p>
        </p:txBody>
      </p:sp>
      <p:pic>
        <p:nvPicPr>
          <p:cNvPr id="13" name="Picture 12" descr="site_top.png"/>
          <p:cNvPicPr>
            <a:picLocks noChangeAspect="1"/>
          </p:cNvPicPr>
          <p:nvPr/>
        </p:nvPicPr>
        <p:blipFill>
          <a:blip r:embed="rId3"/>
          <a:stretch>
            <a:fillRect/>
          </a:stretch>
        </p:blipFill>
        <p:spPr>
          <a:xfrm>
            <a:off x="4480560" y="1755140"/>
            <a:ext cx="4754880" cy="3896360"/>
          </a:xfrm>
          <a:prstGeom prst="rect">
            <a:avLst/>
          </a:prstGeom>
        </p:spPr>
      </p:pic>
      <p:sp>
        <p:nvSpPr>
          <p:cNvPr id="14" name="TextBox 13"/>
          <p:cNvSpPr txBox="1"/>
          <p:nvPr/>
        </p:nvSpPr>
        <p:spPr>
          <a:xfrm>
            <a:off x="9418320" y="1280160"/>
            <a:ext cx="2240280" cy="2377440"/>
          </a:xfrm>
          <a:prstGeom prst="rect">
            <a:avLst/>
          </a:prstGeom>
          <a:noFill/>
        </p:spPr>
        <p:txBody>
          <a:bodyPr wrap="square" anchor="t" lIns="0" rIns="0" tIns="0" bIns="0">
            <a:spAutoFit/>
          </a:bodyPr>
          <a:lstStyle/>
          <a:p>
            <a:r>
              <a:rPr sz="1150" b="0" i="0">
                <a:solidFill>
                  <a:srgbClr val="5A6673"/>
                </a:solidFill>
              </a:rPr>
              <a:t>Public warning board (AirWatch_India.html): 221 cities, worst forecast first; search, severity filter, WhatsApp share, “Alert me” notification.</a:t>
            </a:r>
          </a:p>
        </p:txBody>
      </p:sp>
      <p:sp>
        <p:nvSpPr>
          <p:cNvPr id="15" name="Rectangle 14"/>
          <p:cNvSpPr/>
          <p:nvPr/>
        </p:nvSpPr>
        <p:spPr>
          <a:xfrm>
            <a:off x="9418320" y="4023360"/>
            <a:ext cx="2240280" cy="1371600"/>
          </a:xfrm>
          <a:prstGeom prst="rect">
            <a:avLst/>
          </a:prstGeom>
          <a:solidFill>
            <a:srgbClr val="FBE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82912" y="4078224"/>
            <a:ext cx="1911096" cy="1261872"/>
          </a:xfrm>
          <a:prstGeom prst="rect">
            <a:avLst/>
          </a:prstGeom>
          <a:noFill/>
        </p:spPr>
        <p:txBody>
          <a:bodyPr wrap="square" anchor="ctr" lIns="0" rIns="0" tIns="0" bIns="0">
            <a:spAutoFit/>
          </a:bodyPr>
          <a:lstStyle/>
          <a:p>
            <a:r>
              <a:rPr sz="1100" b="0" i="0">
                <a:solidFill>
                  <a:srgbClr val="1A1A1A"/>
                </a:solidFill>
              </a:rPr>
              <a:t>Telegram delivery is built and dry-run tested; a live message needs the bot token.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85800"/>
          </a:xfrm>
          <a:prstGeom prst="rect">
            <a:avLst/>
          </a:prstGeom>
          <a:noFill/>
        </p:spPr>
        <p:txBody>
          <a:bodyPr wrap="square" anchor="t" lIns="0" rIns="0" tIns="0" bIns="0">
            <a:spAutoFit/>
          </a:bodyPr>
          <a:lstStyle/>
          <a:p>
            <a:r>
              <a:rPr sz="2800" b="1" i="0">
                <a:solidFill>
                  <a:srgbClr val="1A1A1A"/>
                </a:solidFill>
              </a:rPr>
              <a:t>Appendix — Claim to Evidence Index</a:t>
            </a:r>
          </a:p>
        </p:txBody>
      </p:sp>
      <p:graphicFrame>
        <p:nvGraphicFramePr>
          <p:cNvPr id="4" name="Table 3"/>
          <p:cNvGraphicFramePr>
            <a:graphicFrameLocks noGrp="1"/>
          </p:cNvGraphicFramePr>
          <p:nvPr/>
        </p:nvGraphicFramePr>
        <p:xfrm>
          <a:off x="548640" y="1188720"/>
          <a:ext cx="11109960" cy="5047488"/>
        </p:xfrm>
        <a:graphic>
          <a:graphicData uri="http://schemas.openxmlformats.org/drawingml/2006/table">
            <a:tbl>
              <a:tblPr firstRow="0" bandRow="0">
                <a:tableStyleId>{5C22544A-7EE6-4342-B048-85BDC9FD1C3A}</a:tableStyleId>
              </a:tblPr>
              <a:tblGrid>
                <a:gridCol w="4572000"/>
                <a:gridCol w="6537960"/>
              </a:tblGrid>
              <a:tr h="420624">
                <a:tc>
                  <a:txBody>
                    <a:bodyPr/>
                    <a:lstStyle/>
                    <a:p>
                      <a:r>
                        <a:rPr sz="1250" b="1">
                          <a:solidFill>
                            <a:srgbClr val="FFFFFF"/>
                          </a:solidFill>
                        </a:rPr>
                        <a:t>Claim</a:t>
                      </a:r>
                    </a:p>
                  </a:txBody>
                  <a:tcPr anchor="ctr">
                    <a:solidFill>
                      <a:srgbClr val="0B5F8A"/>
                    </a:solidFill>
                  </a:tcPr>
                </a:tc>
                <a:tc>
                  <a:txBody>
                    <a:bodyPr/>
                    <a:lstStyle/>
                    <a:p>
                      <a:r>
                        <a:rPr sz="1250" b="1">
                          <a:solidFill>
                            <a:srgbClr val="FFFFFF"/>
                          </a:solidFill>
                        </a:rPr>
                        <a:t>Where the proof is</a:t>
                      </a:r>
                    </a:p>
                  </a:txBody>
                  <a:tcPr anchor="ctr">
                    <a:solidFill>
                      <a:srgbClr val="0B5F8A"/>
                    </a:solidFill>
                  </a:tcPr>
                </a:tc>
              </a:tr>
              <a:tr h="420624">
                <a:tc>
                  <a:txBody>
                    <a:bodyPr/>
                    <a:lstStyle/>
                    <a:p>
                      <a:r>
                        <a:rPr sz="1250" b="0">
                          <a:solidFill>
                            <a:srgbClr val="1A1A1A"/>
                          </a:solidFill>
                        </a:rPr>
                        <a:t>154,583,979 rows, one schema</a:t>
                      </a:r>
                    </a:p>
                  </a:txBody>
                  <a:tcPr anchor="ctr">
                    <a:solidFill>
                      <a:srgbClr val="FFFFFF"/>
                    </a:solidFill>
                  </a:tcPr>
                </a:tc>
                <a:tc>
                  <a:txBody>
                    <a:bodyPr/>
                    <a:lstStyle/>
                    <a:p>
                      <a:r>
                        <a:rPr sz="1250" b="0">
                          <a:solidFill>
                            <a:srgbClr val="1A1A1A"/>
                          </a:solidFill>
                        </a:rPr>
                        <a:t>spark_on_yarn_demo.log, merge_run.log (A2)</a:t>
                      </a:r>
                    </a:p>
                  </a:txBody>
                  <a:tcPr anchor="ctr">
                    <a:solidFill>
                      <a:srgbClr val="FFFFFF"/>
                    </a:solidFill>
                  </a:tcPr>
                </a:tc>
              </a:tr>
              <a:tr h="420624">
                <a:tc>
                  <a:txBody>
                    <a:bodyPr/>
                    <a:lstStyle/>
                    <a:p>
                      <a:r>
                        <a:rPr sz="1250" b="0">
                          <a:solidFill>
                            <a:srgbClr val="1A1A1A"/>
                          </a:solidFill>
                        </a:rPr>
                        <a:t>4 DataNodes, replication 3, HEALTHY</a:t>
                      </a:r>
                    </a:p>
                  </a:txBody>
                  <a:tcPr anchor="ctr">
                    <a:solidFill>
                      <a:srgbClr val="F7F9FB"/>
                    </a:solidFill>
                  </a:tcPr>
                </a:tc>
                <a:tc>
                  <a:txBody>
                    <a:bodyPr/>
                    <a:lstStyle/>
                    <a:p>
                      <a:r>
                        <a:rPr sz="1250" b="0">
                          <a:solidFill>
                            <a:srgbClr val="1A1A1A"/>
                          </a:solidFill>
                        </a:rPr>
                        <a:t>dfsadmin + fsck screenshots (A1)</a:t>
                      </a:r>
                    </a:p>
                  </a:txBody>
                  <a:tcPr anchor="ctr">
                    <a:solidFill>
                      <a:srgbClr val="F7F9FB"/>
                    </a:solidFill>
                  </a:tcPr>
                </a:tc>
              </a:tr>
              <a:tr h="420624">
                <a:tc>
                  <a:txBody>
                    <a:bodyPr/>
                    <a:lstStyle/>
                    <a:p>
                      <a:r>
                        <a:rPr sz="1250" b="0">
                          <a:solidFill>
                            <a:srgbClr val="1A1A1A"/>
                          </a:solidFill>
                        </a:rPr>
                        <a:t>Spark job ran on YARN, read HDFS</a:t>
                      </a:r>
                    </a:p>
                  </a:txBody>
                  <a:tcPr anchor="ctr">
                    <a:solidFill>
                      <a:srgbClr val="FFFFFF"/>
                    </a:solidFill>
                  </a:tcPr>
                </a:tc>
                <a:tc>
                  <a:txBody>
                    <a:bodyPr/>
                    <a:lstStyle/>
                    <a:p>
                      <a:r>
                        <a:rPr sz="1250" b="0">
                          <a:solidFill>
                            <a:srgbClr val="1A1A1A"/>
                          </a:solidFill>
                        </a:rPr>
                        <a:t>YARN UI screenshots + spark_on_yarn_demo.log (A2)</a:t>
                      </a:r>
                    </a:p>
                  </a:txBody>
                  <a:tcPr anchor="ctr">
                    <a:solidFill>
                      <a:srgbClr val="FFFFFF"/>
                    </a:solidFill>
                  </a:tcPr>
                </a:tc>
              </a:tr>
              <a:tr h="420624">
                <a:tc>
                  <a:txBody>
                    <a:bodyPr/>
                    <a:lstStyle/>
                    <a:p>
                      <a:r>
                        <a:rPr sz="1250" b="0">
                          <a:solidFill>
                            <a:srgbClr val="1A1A1A"/>
                          </a:solidFill>
                        </a:rPr>
                        <a:t>146,276,379 rows cleaned, 241 city partitions</a:t>
                      </a:r>
                    </a:p>
                  </a:txBody>
                  <a:tcPr anchor="ctr">
                    <a:solidFill>
                      <a:srgbClr val="F7F9FB"/>
                    </a:solidFill>
                  </a:tcPr>
                </a:tc>
                <a:tc>
                  <a:txBody>
                    <a:bodyPr/>
                    <a:lstStyle/>
                    <a:p>
                      <a:r>
                        <a:rPr sz="1250" b="0">
                          <a:solidFill>
                            <a:srgbClr val="1A1A1A"/>
                          </a:solidFill>
                        </a:rPr>
                        <a:t>CleanSelect run + HDFS browse (A3)</a:t>
                      </a:r>
                    </a:p>
                  </a:txBody>
                  <a:tcPr anchor="ctr">
                    <a:solidFill>
                      <a:srgbClr val="F7F9FB"/>
                    </a:solidFill>
                  </a:tcPr>
                </a:tc>
              </a:tr>
              <a:tr h="420624">
                <a:tc>
                  <a:txBody>
                    <a:bodyPr/>
                    <a:lstStyle/>
                    <a:p>
                      <a:r>
                        <a:rPr sz="1250" b="0">
                          <a:solidFill>
                            <a:srgbClr val="1A1A1A"/>
                          </a:solidFill>
                        </a:rPr>
                        <a:t>93,216,105 labelled rows, 86 features</a:t>
                      </a:r>
                    </a:p>
                  </a:txBody>
                  <a:tcPr anchor="ctr">
                    <a:solidFill>
                      <a:srgbClr val="FFFFFF"/>
                    </a:solidFill>
                  </a:tcPr>
                </a:tc>
                <a:tc>
                  <a:txBody>
                    <a:bodyPr/>
                    <a:lstStyle/>
                    <a:p>
                      <a:r>
                        <a:rPr sz="1250" b="0">
                          <a:solidFill>
                            <a:srgbClr val="1A1A1A"/>
                          </a:solidFill>
                        </a:rPr>
                        <a:t>phase4_fullscale.log (A3)</a:t>
                      </a:r>
                    </a:p>
                  </a:txBody>
                  <a:tcPr anchor="ctr">
                    <a:solidFill>
                      <a:srgbClr val="FFFFFF"/>
                    </a:solidFill>
                  </a:tcPr>
                </a:tc>
              </a:tr>
              <a:tr h="420624">
                <a:tc>
                  <a:txBody>
                    <a:bodyPr/>
                    <a:lstStyle/>
                    <a:p>
                      <a:r>
                        <a:rPr sz="1250" b="0">
                          <a:solidFill>
                            <a:srgbClr val="1A1A1A"/>
                          </a:solidFill>
                        </a:rPr>
                        <a:t>R² 0.8910 vs 0.8587, RMSE − 12.18 %</a:t>
                      </a:r>
                    </a:p>
                  </a:txBody>
                  <a:tcPr anchor="ctr">
                    <a:solidFill>
                      <a:srgbClr val="F7F9FB"/>
                    </a:solidFill>
                  </a:tcPr>
                </a:tc>
                <a:tc>
                  <a:txBody>
                    <a:bodyPr/>
                    <a:lstStyle/>
                    <a:p>
                      <a:r>
                        <a:rPr sz="1250" b="0">
                          <a:solidFill>
                            <a:srgbClr val="1A1A1A"/>
                          </a:solidFill>
                        </a:rPr>
                        <a:t>trackB_train_fullscale.summary.log (A4)</a:t>
                      </a:r>
                    </a:p>
                  </a:txBody>
                  <a:tcPr anchor="ctr">
                    <a:solidFill>
                      <a:srgbClr val="F7F9FB"/>
                    </a:solidFill>
                  </a:tcPr>
                </a:tc>
              </a:tr>
              <a:tr h="420624">
                <a:tc>
                  <a:txBody>
                    <a:bodyPr/>
                    <a:lstStyle/>
                    <a:p>
                      <a:r>
                        <a:rPr sz="1250" b="0">
                          <a:solidFill>
                            <a:srgbClr val="1A1A1A"/>
                          </a:solidFill>
                        </a:rPr>
                        <a:t>CPCB vs CAMS cross-validation</a:t>
                      </a:r>
                    </a:p>
                  </a:txBody>
                  <a:tcPr anchor="ctr">
                    <a:solidFill>
                      <a:srgbClr val="FFFFFF"/>
                    </a:solidFill>
                  </a:tcPr>
                </a:tc>
                <a:tc>
                  <a:txBody>
                    <a:bodyPr/>
                    <a:lstStyle/>
                    <a:p>
                      <a:r>
                        <a:rPr sz="1250" b="0">
                          <a:solidFill>
                            <a:srgbClr val="1A1A1A"/>
                          </a:solidFill>
                        </a:rPr>
                        <a:t>crossval.log, scripts/04_cross_validate_overlap.py (A4)</a:t>
                      </a:r>
                    </a:p>
                  </a:txBody>
                  <a:tcPr anchor="ctr">
                    <a:solidFill>
                      <a:srgbClr val="FFFFFF"/>
                    </a:solidFill>
                  </a:tcPr>
                </a:tc>
              </a:tr>
              <a:tr h="420624">
                <a:tc>
                  <a:txBody>
                    <a:bodyPr/>
                    <a:lstStyle/>
                    <a:p>
                      <a:r>
                        <a:rPr sz="1250" b="0">
                          <a:solidFill>
                            <a:srgbClr val="1A1A1A"/>
                          </a:solidFill>
                        </a:rPr>
                        <a:t>Oct 2026: 82,800 rows → 27,543 alerts</a:t>
                      </a:r>
                    </a:p>
                  </a:txBody>
                  <a:tcPr anchor="ctr">
                    <a:solidFill>
                      <a:srgbClr val="F7F9FB"/>
                    </a:solidFill>
                  </a:tcPr>
                </a:tc>
                <a:tc>
                  <a:txBody>
                    <a:bodyPr/>
                    <a:lstStyle/>
                    <a:p>
                      <a:r>
                        <a:rPr sz="1250" b="0">
                          <a:solidFill>
                            <a:srgbClr val="1A1A1A"/>
                          </a:solidFill>
                        </a:rPr>
                        <a:t>october_live_cycle.log, october_stream_scoring.log (A5)</a:t>
                      </a:r>
                    </a:p>
                  </a:txBody>
                  <a:tcPr anchor="ctr">
                    <a:solidFill>
                      <a:srgbClr val="F7F9FB"/>
                    </a:solidFill>
                  </a:tcPr>
                </a:tc>
              </a:tr>
              <a:tr h="420624">
                <a:tc>
                  <a:txBody>
                    <a:bodyPr/>
                    <a:lstStyle/>
                    <a:p>
                      <a:r>
                        <a:rPr sz="1250" b="0">
                          <a:solidFill>
                            <a:srgbClr val="1A1A1A"/>
                          </a:solidFill>
                        </a:rPr>
                        <a:t>De-duplicated alert dispatch</a:t>
                      </a:r>
                    </a:p>
                  </a:txBody>
                  <a:tcPr anchor="ctr">
                    <a:solidFill>
                      <a:srgbClr val="FFFFFF"/>
                    </a:solidFill>
                  </a:tcPr>
                </a:tc>
                <a:tc>
                  <a:txBody>
                    <a:bodyPr/>
                    <a:lstStyle/>
                    <a:p>
                      <a:r>
                        <a:rPr sz="1250" b="0">
                          <a:solidFill>
                            <a:srgbClr val="1A1A1A"/>
                          </a:solidFill>
                        </a:rPr>
                        <a:t>hourly_dedupe_demo.log, scripts/send_alerts.py (A5)</a:t>
                      </a:r>
                    </a:p>
                  </a:txBody>
                  <a:tcPr anchor="ctr">
                    <a:solidFill>
                      <a:srgbClr val="FFFFFF"/>
                    </a:solidFill>
                  </a:tcPr>
                </a:tc>
              </a:tr>
              <a:tr h="420624">
                <a:tc>
                  <a:txBody>
                    <a:bodyPr/>
                    <a:lstStyle/>
                    <a:p>
                      <a:r>
                        <a:rPr sz="1250" b="0">
                          <a:solidFill>
                            <a:srgbClr val="1A1A1A"/>
                          </a:solidFill>
                        </a:rPr>
                        <a:t>Hive tables and Delhi seasonality</a:t>
                      </a:r>
                    </a:p>
                  </a:txBody>
                  <a:tcPr anchor="ctr">
                    <a:solidFill>
                      <a:srgbClr val="F7F9FB"/>
                    </a:solidFill>
                  </a:tcPr>
                </a:tc>
                <a:tc>
                  <a:txBody>
                    <a:bodyPr/>
                    <a:lstStyle/>
                    <a:p>
                      <a:r>
                        <a:rPr sz="1250" b="0">
                          <a:solidFill>
                            <a:srgbClr val="1A1A1A"/>
                          </a:solidFill>
                        </a:rPr>
                        <a:t>hive_create.log, hive_queries.log</a:t>
                      </a:r>
                    </a:p>
                  </a:txBody>
                  <a:tcPr anchor="ctr">
                    <a:solidFill>
                      <a:srgbClr val="F7F9FB"/>
                    </a:solidFill>
                  </a:tcPr>
                </a:tc>
              </a:tr>
              <a:tr h="420624">
                <a:tc>
                  <a:txBody>
                    <a:bodyPr/>
                    <a:lstStyle/>
                    <a:p>
                      <a:r>
                        <a:rPr sz="1250" b="0">
                          <a:solidFill>
                            <a:srgbClr val="1A1A1A"/>
                          </a:solidFill>
                        </a:rPr>
                        <a:t>Every number reproducible</a:t>
                      </a:r>
                    </a:p>
                  </a:txBody>
                  <a:tcPr anchor="ctr">
                    <a:solidFill>
                      <a:srgbClr val="FFFFFF"/>
                    </a:solidFill>
                  </a:tcPr>
                </a:tc>
                <a:tc>
                  <a:txBody>
                    <a:bodyPr/>
                    <a:lstStyle/>
                    <a:p>
                      <a:r>
                        <a:rPr sz="1250" b="0">
                          <a:solidFill>
                            <a:srgbClr val="1A1A1A"/>
                          </a:solidFill>
                        </a:rPr>
                        <a:t>scripts/_audit/ (15 scripts), docs/WORK_LOG.md, PROJECT_REPORT.pdf</a:t>
                      </a:r>
                    </a:p>
                  </a:txBody>
                  <a:tcPr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TotalTime>
  <Words>2044</Words>
  <Application>Microsoft Office PowerPoint</Application>
  <PresentationFormat>Widescreen</PresentationFormat>
  <Paragraphs>306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Jaganath R</cp:lastModifiedBy>
  <cp:revision>9</cp:revision>
  <dcterms:created xsi:type="dcterms:W3CDTF">2013-01-27T09:14:16Z</dcterms:created>
  <dcterms:modified xsi:type="dcterms:W3CDTF">2026-08-16T17:06:51Z</dcterms:modified>
  <cp:category/>
</cp:coreProperties>
</file>