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</a:rPr>
              <a:t>A Scalable Big Data Platform for Real-Time Urban Air Quality Tracking and Public Safety Alerting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0B5F8A"/>
                </a:solidFill>
              </a:rPr>
              <a:t>First Review  |  23AID302 — Big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977640"/>
            <a:ext cx="1096639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A1A1A"/>
                </a:solidFill>
                <a:latin typeface="Aptos" panose="020B0004020202020204" pitchFamily="34" charset="0"/>
              </a:rPr>
              <a:t>Team Members</a:t>
            </a:r>
            <a:r>
              <a:rPr lang="en-US" sz="1400" b="1" dirty="0">
                <a:solidFill>
                  <a:srgbClr val="1A1A1A"/>
                </a:solidFill>
                <a:latin typeface="Aptos" panose="020B0004020202020204" pitchFamily="34" charset="0"/>
              </a:rPr>
              <a:t>:</a:t>
            </a:r>
            <a:r>
              <a:rPr sz="1400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en-US" sz="1400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en-US" sz="1400" b="1" dirty="0">
                <a:latin typeface="Aptos" panose="020B0004020202020204" pitchFamily="34" charset="0"/>
              </a:rPr>
              <a:t>Sangeeth S (CB.AI.U4AID24050)</a:t>
            </a:r>
          </a:p>
          <a:p>
            <a:r>
              <a:rPr lang="en-US" sz="1400" b="1" dirty="0">
                <a:latin typeface="Aptos" panose="020B0004020202020204" pitchFamily="34" charset="0"/>
              </a:rPr>
              <a:t>                                     Jaganath R (CB.AI.U4AID24021)</a:t>
            </a:r>
          </a:p>
          <a:p>
            <a:r>
              <a:rPr lang="en-US" sz="1400" b="1" dirty="0">
                <a:latin typeface="Aptos" panose="020B0004020202020204" pitchFamily="34" charset="0"/>
              </a:rPr>
              <a:t>                                     Niranjan S (CB.AI.U4AID24035)</a:t>
            </a:r>
          </a:p>
          <a:p>
            <a:r>
              <a:rPr lang="en-US" sz="1400" b="1" dirty="0">
                <a:latin typeface="Aptos" panose="020B0004020202020204" pitchFamily="34" charset="0"/>
              </a:rPr>
              <a:t>                                     PL Kowshik (CB.AI.U4AID24036)</a:t>
            </a:r>
          </a:p>
          <a:p>
            <a:r>
              <a:rPr lang="en-US" sz="1400" b="1" dirty="0">
                <a:latin typeface="Aptos" panose="020B0004020202020204" pitchFamily="34" charset="0"/>
              </a:rPr>
              <a:t>                                                                                                                  </a:t>
            </a:r>
          </a:p>
          <a:p>
            <a:endParaRPr lang="en-US" sz="1400" b="1" dirty="0">
              <a:latin typeface="Aptos" panose="020B0004020202020204" pitchFamily="34" charset="0"/>
            </a:endParaRPr>
          </a:p>
          <a:p>
            <a:r>
              <a:rPr lang="en-US" sz="1400" b="1" dirty="0">
                <a:latin typeface="Aptos" panose="020B0004020202020204" pitchFamily="34" charset="0"/>
              </a:rPr>
              <a:t>                                                                                                                   Group - A14</a:t>
            </a:r>
            <a:r>
              <a:rPr sz="1400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endParaRPr sz="1300" b="1" dirty="0">
              <a:solidFill>
                <a:srgbClr val="1A1A1A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A1A1A"/>
                </a:solidFill>
              </a:rPr>
              <a:t>Abstract</a:t>
            </a:r>
          </a:p>
          <a:p>
            <a:endParaRPr sz="1250" dirty="0">
              <a:solidFill>
                <a:srgbClr val="5A5A5A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</a:rPr>
              <a:t>Urban air pollution is a public-health problem that needs low-latency analytics, not overnight batch reports. Recent machine-learning frameworks predict air quality accurately but run on single machines: they cannot scale horizontally across a city, and they raise no automated warnings.</a:t>
            </a:r>
          </a:p>
          <a:p>
            <a:pPr>
              <a:spcAft>
                <a:spcPts val="800"/>
              </a:spcAft>
            </a:pPr>
            <a:endParaRPr sz="1500" b="0" i="0">
              <a:solidFill>
                <a:srgbClr val="1A1A1A"/>
              </a:solidFill>
            </a:endParaRP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</a:rPr>
              <a:t>This project builds the distributed infrastructure those models lack.</a:t>
            </a:r>
          </a:p>
          <a:p>
            <a:pPr>
              <a:spcAft>
                <a:spcPts val="800"/>
              </a:spcAft>
            </a:pPr>
            <a:endParaRPr sz="1500" b="1" i="0">
              <a:solidFill>
                <a:srgbClr val="1A1A1A"/>
              </a:solidFill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</a:rPr>
              <a:t>• Hadoop HDFS stores a 27.5 GB air-quality lakehouse as 232 blocks, replicated three times across four DataNodes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</a:rPr>
              <a:t>• Apache Spark on YARN provides the distributed compute layer — one task per block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</a:rPr>
              <a:t>• Preprocessing is implemented in Scala for JVM-native execution; the analytics and ML layer is PySpark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</a:rPr>
              <a:t>• 146,276,379 hourly sensor readings across 4,077 monitoring stations and 241 cities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</a:rPr>
              <a:t>• A Gradient Boosted Tree regressor forecasts PM2.5 one hour ahead, feeding a closed-loop alert engine that fires when predicted AQI exceeds 150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99032"/>
            <a:ext cx="10911535" cy="2390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 dirty="0">
                <a:solidFill>
                  <a:srgbClr val="1A1A1A"/>
                </a:solidFill>
              </a:rPr>
              <a:t>Three gaps between what exists and what a city actually needs</a:t>
            </a:r>
          </a:p>
          <a:p>
            <a:pPr>
              <a:spcAft>
                <a:spcPts val="800"/>
              </a:spcAft>
            </a:pPr>
            <a:endParaRPr sz="1600" b="1" i="0" dirty="0">
              <a:solidFill>
                <a:srgbClr val="1A1A1A"/>
              </a:solidFill>
            </a:endParaRP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1A1A1A"/>
                </a:solidFill>
              </a:rPr>
              <a:t>• Scale.  Existing air-quality models run on a single machine. A city-wide deployment generates hundreds of millions of readings — more than one machine can hold in memory, let alone process repeatedly.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1A1A1A"/>
                </a:solidFill>
              </a:rPr>
              <a:t>• Latency.  Batch analytics produce reports after the fact. A pollution spike is a public-health event happening now; a warning delivered tomorrow has no value.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1A1A1A"/>
                </a:solidFill>
              </a:rPr>
              <a:t>• Automation.  Published frameworks stop at prediction. None close the loop by converting a forecast into an actionable public-safety alert.</a:t>
            </a:r>
          </a:p>
          <a:p>
            <a:pPr>
              <a:spcAft>
                <a:spcPts val="800"/>
              </a:spcAft>
            </a:pPr>
            <a:endParaRPr sz="1400" b="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Objectives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11535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9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Success criterion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Deploy a fault-tolerant HDFS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≥ 2 DataNodes, 3× replication, 0 corrupt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Activate distributed compute on the cluster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Spark running under YARN, not local mode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Ingest the dataset into distributed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Full dataset split into 128 MB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Implement preprocessing in Scala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Reads HDFS, cleans, writes back to HDFS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Engineer spatial-temporal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T+1 target, rolling history, CPCB AQI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Train a distributed GBT forecaster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Must beat the persistence baseline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Build a streaming speed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Structured Streaming micro-batches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Close the loop with an alert engine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Warning written when predicted AQI &gt; 150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</a:rPr>
              <a:t>Primary base paper</a:t>
            </a:r>
          </a:p>
          <a:p>
            <a:pPr>
              <a:spcAft>
                <a:spcPts val="800"/>
              </a:spcAft>
            </a:pPr>
            <a:r>
              <a:rPr sz="1400" b="0" i="1">
                <a:solidFill>
                  <a:srgbClr val="1A1A1A"/>
                </a:solidFill>
              </a:rPr>
              <a:t>“Air Quality Prediction using Multi-Source Remote Sensing Data Integration with Hybrid Deep Learning Framework (MAST-Net)” — Nature, Scientific Reports, December 2025</a:t>
            </a:r>
          </a:p>
          <a:p>
            <a:pPr>
              <a:spcAft>
                <a:spcPts val="800"/>
              </a:spcAft>
            </a:pPr>
            <a:endParaRPr sz="1400" b="0" i="1">
              <a:solidFill>
                <a:srgbClr val="1A1A1A"/>
              </a:solidFill>
            </a:endParaRP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</a:rPr>
              <a:t>Contribution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</a:rPr>
              <a:t>Demonstrates that fusing multiple environmental data streams — remote sensing, meteorology, ground sensors — improves predictive accuracy over single-source models.</a:t>
            </a:r>
          </a:p>
          <a:p>
            <a:pPr>
              <a:spcAft>
                <a:spcPts val="800"/>
              </a:spcAft>
            </a:pPr>
            <a:endParaRPr sz="1400" b="0" i="0">
              <a:solidFill>
                <a:srgbClr val="1A1A1A"/>
              </a:solidFill>
            </a:endParaRP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B5F8A"/>
                </a:solidFill>
              </a:rPr>
              <a:t>The architectural gap this project addresses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</a:rPr>
              <a:t>• MAST-Net is built entirely on a localised, single-machine framework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</a:rPr>
              <a:t>• It has no distributed infrastructure for high-volume, multi-city scaling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</a:rPr>
              <a:t>• It provides no streaming mechanism for immediate real-time warnings</a:t>
            </a:r>
          </a:p>
          <a:p>
            <a:pPr>
              <a:spcAft>
                <a:spcPts val="800"/>
              </a:spcAft>
            </a:pPr>
            <a:endParaRPr sz="1400" b="0">
              <a:solidFill>
                <a:srgbClr val="1A1A1A"/>
              </a:solidFill>
            </a:endParaRP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1A1A1A"/>
                </a:solidFill>
              </a:rPr>
              <a:t>This project ports the data-fusion concept into a Hadoop + Spark cluster, adding the distributed storage, parallel compute, streaming and alerting layers the original work explicitly lacks.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Proposed System / Methodology</a:t>
            </a:r>
          </a:p>
          <a:p>
            <a:r>
              <a:rPr sz="1250">
                <a:solidFill>
                  <a:srgbClr val="5A5A5A"/>
                </a:solidFill>
              </a:rPr>
              <a:t>Lambda-style architecture: batch layer + speed layer over a shared HDFS lakehouse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9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Hadoop HDFS 3.3.6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128 MB blocks, 3× replication across 4 DataNodes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Resource mgmt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Hadoop YARN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1 ResourceManager + 4 NodeManagers allocate containers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Preprocessing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Apache Spark + Scala 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Cleaning, imputation, Parquet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Feature engineering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Spark SQL (PySpark)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T+1 target, rolling windows, CPCB AQI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Batch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Spark MLlib (PySpark)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Gradient Boosted Tree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Speed layer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Structured Streaming (Scala)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Micro-batch ingestion, sub-second latency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Alerting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Scala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Closed loop: predicted AQI &gt; 150 → 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Serving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Apache Hive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External tables over Parquet for ad-hoc SQL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19963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B05000"/>
                </a:solidFill>
              </a:rPr>
              <a:t>Language split follows the project specification: PySpark for batch analytics and ML, Scala for the latency-critical speed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Implementation — Hadoop Cluster</a:t>
            </a:r>
          </a:p>
          <a:p>
            <a:r>
              <a:rPr sz="1250">
                <a:solidFill>
                  <a:srgbClr val="5A5A5A"/>
                </a:solidFill>
              </a:rPr>
              <a:t>1 NameNode + 4 DataNodes, containerised, with YARN resource management</a:t>
            </a:r>
          </a:p>
        </p:txBody>
      </p:sp>
      <p:pic>
        <p:nvPicPr>
          <p:cNvPr id="4" name="Picture 3" descr="Cluster, 4 Data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486400" cy="1402974"/>
          </a:xfrm>
          <a:prstGeom prst="rect">
            <a:avLst/>
          </a:prstGeom>
        </p:spPr>
      </p:pic>
      <p:pic>
        <p:nvPicPr>
          <p:cNvPr id="6" name="Picture 5" descr="Data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5212080" cy="38857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532120"/>
            <a:ext cx="109115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 i="1">
                <a:solidFill>
                  <a:srgbClr val="1A1A1A"/>
                </a:solidFill>
              </a:rPr>
              <a:t>Four DataNodes, not the minimum two: with three nodes at replication 3 every node must hold every block, so nothing distributes and a failed node has nowhere to re-replicate.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Implementation — Raw Dataset in HDFS</a:t>
            </a:r>
          </a:p>
          <a:p>
            <a:r>
              <a:rPr sz="1250">
                <a:solidFill>
                  <a:srgbClr val="5A5A5A"/>
                </a:solidFill>
              </a:rPr>
              <a:t>27.5 GB split into 232 blocks, replicated 3× to 82.4 GB</a:t>
            </a:r>
          </a:p>
        </p:txBody>
      </p:sp>
      <p:pic>
        <p:nvPicPr>
          <p:cNvPr id="4" name="Picture 3" descr="Raw dataset in HD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3" y="1463040"/>
            <a:ext cx="3890266" cy="33752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1463040"/>
            <a:ext cx="3492231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</a:rPr>
              <a:t>Block arithmetic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</a:rPr>
              <a:t>HDFS allocates blocks per FILE, not across the dataset as a whole. Each of the 23 files ends in a partial block.</a:t>
            </a:r>
          </a:p>
          <a:p>
            <a:pPr>
              <a:spcAft>
                <a:spcPts val="800"/>
              </a:spcAft>
            </a:pPr>
            <a:endParaRPr sz="1300" b="0" i="0">
              <a:solidFill>
                <a:srgbClr val="1A1A1A"/>
              </a:solidFill>
            </a:endParaRP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B5F8A"/>
                </a:solidFill>
              </a:rPr>
              <a:t>Σ ceil(filesize ÷ 128 MB) = 232</a:t>
            </a:r>
          </a:p>
          <a:p>
            <a:pPr>
              <a:spcAft>
                <a:spcPts val="800"/>
              </a:spcAft>
            </a:pPr>
            <a:endParaRPr sz="1400" b="1" i="0">
              <a:solidFill>
                <a:srgbClr val="0B5F8A"/>
              </a:solidFill>
            </a:endParaRP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</a:rPr>
              <a:t>232 blocks × 3 replicas = 696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</a:rPr>
              <a:t>≈ 174 replicas ≈ 20.6 GB per DataNode</a:t>
            </a:r>
          </a:p>
          <a:p>
            <a:pPr>
              <a:spcAft>
                <a:spcPts val="800"/>
              </a:spcAft>
            </a:pPr>
            <a:endParaRPr sz="1300" b="0" i="0">
              <a:solidFill>
                <a:srgbClr val="1A1A1A"/>
              </a:solidFill>
            </a:endParaRPr>
          </a:p>
          <a:p>
            <a:pPr>
              <a:spcAft>
                <a:spcPts val="800"/>
              </a:spcAft>
            </a:pPr>
            <a:r>
              <a:rPr sz="1300" b="0" i="1">
                <a:solidFill>
                  <a:srgbClr val="1A1A1A"/>
                </a:solidFill>
              </a:rPr>
              <a:t>232 blocks means 232 parallel input splits for Spark — one task per block.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27DD38-1E09-2D77-8D54-68B554342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426" y="1335024"/>
            <a:ext cx="3672966" cy="45537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Implementation — Scala Preprocessing</a:t>
            </a:r>
          </a:p>
          <a:p>
            <a:r>
              <a:rPr sz="1250">
                <a:solidFill>
                  <a:srgbClr val="5A5A5A"/>
                </a:solidFill>
              </a:rPr>
              <a:t>CleanSelect.scala — reads HDFS, cleans, writes back to HDFS</a:t>
            </a:r>
          </a:p>
        </p:txBody>
      </p:sp>
      <p:pic>
        <p:nvPicPr>
          <p:cNvPr id="4" name="Picture 3" descr="Clean_scala.sc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06402"/>
            <a:ext cx="5547323" cy="53767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4173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</a:rPr>
              <a:t>Ten preprocessing operations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</a:rPr>
              <a:t>1.  Explicit 32-column schema, no inference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</a:rPr>
              <a:t>2.  Type casting to double / int / timestamp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</a:rPr>
              <a:t>3.  Timestamp parsing; unusable rows dropped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</a:rPr>
              <a:t>4.  Binary flag repair to strict 0/1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</a:rPr>
              <a:t>5.  Physical range clamping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</a:rPr>
              <a:t>6.  Anomaly eradication (out-of-range → null)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</a:rPr>
              <a:t>7.  Three-tier median imputation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</a:rPr>
              <a:t>8.  Imputation provenance flags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</a:rPr>
              <a:t>9.  Label protection (pm25_measured)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</a:rPr>
              <a:t>10.  Snappy Parquet, partitioned by 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Results — Preprocessing Executed at Full Scale</a:t>
            </a:r>
          </a:p>
        </p:txBody>
      </p:sp>
      <p:pic>
        <p:nvPicPr>
          <p:cNvPr id="4" name="Picture 3" descr="Output clean3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498079" cy="42433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51215" y="1432973"/>
            <a:ext cx="3291840" cy="1946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 dirty="0">
                <a:solidFill>
                  <a:srgbClr val="1A1A1A"/>
                </a:solidFill>
              </a:rPr>
              <a:t>Measured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5A5A5A"/>
                </a:solidFill>
              </a:rPr>
              <a:t>Rows in: </a:t>
            </a:r>
            <a:r>
              <a:rPr sz="1300" b="1" dirty="0">
                <a:solidFill>
                  <a:srgbClr val="1A1A1A"/>
                </a:solidFill>
              </a:rPr>
              <a:t>146,276,379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5A5A5A"/>
                </a:solidFill>
              </a:rPr>
              <a:t>Rows written: </a:t>
            </a:r>
            <a:r>
              <a:rPr sz="1300" b="1" dirty="0">
                <a:solidFill>
                  <a:srgbClr val="1A1A1A"/>
                </a:solidFill>
              </a:rPr>
              <a:t>146,276,379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5A5A5A"/>
                </a:solidFill>
              </a:rPr>
              <a:t>Columns: </a:t>
            </a:r>
            <a:r>
              <a:rPr sz="1300" b="1" dirty="0">
                <a:solidFill>
                  <a:srgbClr val="1A1A1A"/>
                </a:solidFill>
              </a:rPr>
              <a:t>32 → 44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5A5A5A"/>
                </a:solidFill>
              </a:rPr>
              <a:t>Input: </a:t>
            </a:r>
            <a:r>
              <a:rPr sz="1300" b="1" dirty="0">
                <a:solidFill>
                  <a:srgbClr val="1A1A1A"/>
                </a:solidFill>
              </a:rPr>
              <a:t>HDFS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5A5A5A"/>
                </a:solidFill>
              </a:rPr>
              <a:t>Output: </a:t>
            </a:r>
            <a:r>
              <a:rPr sz="1300" b="1" dirty="0">
                <a:solidFill>
                  <a:srgbClr val="1A1A1A"/>
                </a:solidFill>
              </a:rPr>
              <a:t>HDFS</a:t>
            </a:r>
          </a:p>
          <a:p>
            <a:pPr>
              <a:spcAft>
                <a:spcPts val="800"/>
              </a:spcAft>
            </a:pPr>
            <a:endParaRPr sz="1300" b="1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Results — Processed Dataset Back in HDFS</a:t>
            </a:r>
          </a:p>
        </p:txBody>
      </p:sp>
      <p:pic>
        <p:nvPicPr>
          <p:cNvPr id="4" name="Picture 3" descr="hdfs 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760720" cy="5269872"/>
          </a:xfrm>
          <a:prstGeom prst="rect">
            <a:avLst/>
          </a:prstGeom>
        </p:spPr>
      </p:pic>
      <p:pic>
        <p:nvPicPr>
          <p:cNvPr id="6" name="Picture 5" descr="Both in hd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91640"/>
            <a:ext cx="4937760" cy="485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2743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</a:rPr>
              <a:t>Both datasets in HDFS: raw input and processed output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3200400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Logical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10.0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Replicated size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20.0 GB (×2)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Partitions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241 — one per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Snappy Parquet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CSV → Parquet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27.5 GB → 10.0 GB (2.75×)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Results — Data Quality and Imputation</a:t>
            </a:r>
          </a:p>
          <a:p>
            <a:r>
              <a:rPr sz="1250">
                <a:solidFill>
                  <a:srgbClr val="5A5A5A"/>
                </a:solidFill>
              </a:rPr>
              <a:t>Only ~46% of rows carry all seven CPCB pollutants; imputation is necessary and is fully flagged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1153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85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Imputed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Measured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Imputed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Measured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pm25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27.17%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72.83%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nh3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41.72%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58.28%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pm10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34.20%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65.80%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solar_radiation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40.76%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59.24%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no2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21.58%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78.42%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55.28%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44.72%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so2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25.50%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74.50%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wd_degree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28.77%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71.23%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25.28%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74.72%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o3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26.89%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</a:rPr>
                        <a:t>73.11%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023360"/>
            <a:ext cx="109115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</a:rPr>
              <a:t>Three-tier median imputation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B5F8A"/>
                </a:solidFill>
              </a:rPr>
              <a:t>station / month / hour   →   city / month   →   global</a:t>
            </a:r>
          </a:p>
          <a:p>
            <a:pPr>
              <a:spcAft>
                <a:spcPts val="800"/>
              </a:spcAft>
            </a:pPr>
            <a:endParaRPr sz="1400" b="0" i="0">
              <a:solidFill>
                <a:srgbClr val="0B5F8A"/>
              </a:solidFill>
            </a:endParaRP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</a:rPr>
              <a:t>• Every filled value carries a *_was_imputed flag, so measured and estimated data never become indistinguishable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</a:rPr>
              <a:t>• The forecasting target is built only from pm25_measured — a model is never trained to predict an imputed median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Results — Spark Engine Activation on YARN</a:t>
            </a:r>
          </a:p>
        </p:txBody>
      </p:sp>
      <p:pic>
        <p:nvPicPr>
          <p:cNvPr id="4" name="Picture 3" descr="Spark activation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94960" cy="2179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520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</a:rPr>
              <a:t>Spark 3.5.6 on Scala 2.12.18</a:t>
            </a:r>
          </a:p>
        </p:txBody>
      </p:sp>
      <p:pic>
        <p:nvPicPr>
          <p:cNvPr id="6" name="Picture 5" descr="node man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39"/>
            <a:ext cx="6766560" cy="11488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44068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</a:rPr>
              <a:t>yarn node -list — Total Nodes: 4, all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46304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</a:rPr>
              <a:t>Spark job executed on YARN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Uploading __spark_libs__.zip → HDFS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Submitted application_…_0002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state: ACCEPTED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ApplicationMaster registered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state: RUNNING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Pi is roughly 3.1416875708437852</a:t>
            </a:r>
          </a:p>
          <a:p>
            <a:pPr>
              <a:spcAft>
                <a:spcPts val="800"/>
              </a:spcAft>
            </a:pPr>
            <a:endParaRPr sz="1200">
              <a:solidFill>
                <a:srgbClr val="1A1A1A"/>
              </a:solidFill>
              <a:latin typeface="Consolas"/>
            </a:endParaRP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B7A3D"/>
                </a:solidFill>
              </a:rPr>
              <a:t>FINISHED / SUCCEEDED / 100%</a:t>
            </a:r>
          </a:p>
          <a:p>
            <a:pPr>
              <a:spcAft>
                <a:spcPts val="800"/>
              </a:spcAft>
            </a:pPr>
            <a:r>
              <a:rPr sz="1250" b="0" i="1">
                <a:solidFill>
                  <a:srgbClr val="1A1A1A"/>
                </a:solidFill>
              </a:rPr>
              <a:t>Genuine distributed compute — not single-machine local mode.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Challenges and Limitations</a:t>
            </a:r>
          </a:p>
          <a:p>
            <a:r>
              <a:rPr sz="1250">
                <a:solidFill>
                  <a:srgbClr val="5A5A5A"/>
                </a:solidFill>
              </a:rPr>
              <a:t>Every item below was encountered, diagnosed and resolved during implementation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Resolution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Spark could not write to HDFS from the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NameNode returns container-internal DataNode addresses the host cannot route 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Run Spark inside the cluster network, as real deployments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Spark 3.5 refused to start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Java 23 removed the security-manager API Hadoop depends on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Pin JRE 8 per shell; system JDK untouched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Every Parquet write failed on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winutils.exe / hadoop.dll absent — reads work, so it surfaces only at write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Install Hadoop 3.3.x Windows binaries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Output fragmented into ~40,000 tiny files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Partitioning by (city, year, month); each file occupies ≥ 1 HDFS block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Partition by city alone → 241 well-sized files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Shuffle spill exhausted the system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Spark scratch defaulted inside the container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Move scratch to a managed volume, monitor free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120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1">
                <a:solidFill>
                  <a:srgbClr val="1A1A1A"/>
                </a:solidFill>
              </a:rPr>
              <a:t>Current limitation:  the cluster runs on a single physical host with 15.7 GB RAM, of which the container VM receives 7.6 GB. This bounds executor memory and makes model training the slowest stage; it is a hardware constraint, not an architectural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Big Data Tools Used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11535" cy="3757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8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Role in this project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Hadoop HDFS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3.3.6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Distributed storage — 232 blocks, 3× replication, 4 DataNodes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Hadoop YARN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3.3.6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Resource management — 4 NodeManagers allocate containers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Apache Spark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3.5.6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Distributed execution engine, one task per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Spark SQL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3.5.6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DataFrame API, Catalyst optimiser, window functions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Spark MLlib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3.5.6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Gradient Boosted Tree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Structured Streaming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3.5.6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Speed layer — micro-batch ingestion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2.12.18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Preprocessing and streaming — JVM-native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PySpark / Python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3.5.6 / 3.12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Batch analytics, feature engineering, ML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Apache Parquet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Snappy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Columnar storage — 2.75× compression vs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8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Docker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29.7.2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Container orchestration for the cluster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Big Data Tools vs Conventional Processing</a:t>
            </a:r>
          </a:p>
          <a:p>
            <a:r>
              <a:rPr sz="1250">
                <a:solidFill>
                  <a:srgbClr val="5A5A5A"/>
                </a:solidFill>
              </a:rPr>
              <a:t>The same 146,276,379-row workload, measured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310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99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Conventional (single machine, pandas/CSV)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This platform (Hadoop + Spark)</a:t>
                      </a:r>
                    </a:p>
                  </a:txBody>
                  <a:tcPr>
                    <a:solidFill>
                      <a:srgbClr val="0B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Storage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27.5 GB CSV on one 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10.0 GB Parquet, 2.75× compression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Memory requirement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Dataset must fit in RAM — 15.7 GB available, insufficient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Streams from disk; 128 MB blocks processed independently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Fault tolerance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One disk failure loses everything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3× replication survives two simultaneous node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Parallelism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Single process, one core at a time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232 blocks → 232 parallel input splits across 4 nodes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Scaling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Vertical — buy a bigger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Horizontal — add DataNodes, capacity and throughput grow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Data locality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All data moves to the process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Computation is scheduled where the blocks already are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A crash restarts the whole 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YARN reschedules only the failed containers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Real-time capability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Batch only, after the fact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</a:rPr>
                        <a:t>Structured Streaming micro-batches for live alerting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B7A3D"/>
                </a:solidFill>
              </a:rPr>
              <a:t>What has been demonstrated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</a:rPr>
              <a:t>• A fault-tolerant HDFS cluster storing 146,276,379 readings as 232 blocks, replicated three times across four DataNodes, verified HEALTHY with zero corrupt blocks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</a:rPr>
              <a:t>• Spark executing under YARN across four NodeManagers — distributed compute, not local mode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</a:rPr>
              <a:t>• Scala preprocessing performing ten cleaning operations over the complete dataset, reading from HDFS and writing back to HDFS in 28 minutes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</a:rPr>
              <a:t>• Columnar conversion achieving 2.75× compression with no data loss</a:t>
            </a:r>
          </a:p>
          <a:p>
            <a:pPr>
              <a:spcAft>
                <a:spcPts val="800"/>
              </a:spcAft>
            </a:pPr>
            <a:endParaRPr sz="1350" b="0">
              <a:solidFill>
                <a:srgbClr val="1A1A1A"/>
              </a:solidFill>
            </a:endParaRP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B5F8A"/>
                </a:solidFill>
              </a:rPr>
              <a:t>Future work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</a:rPr>
              <a:t>• Complete distributed GBT training and export the model to HDFS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</a:rPr>
              <a:t>• Activate the Structured Streaming speed layer and the closed-loop alert engine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</a:rPr>
              <a:t>• Add the Hive serving layer for ad-hoc analytical SQL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</a:rPr>
              <a:t>• Build the operations dashboard — throughput, model comparison, live alert feed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</a:rPr>
              <a:t>• Extend to spatial neighbour features, enabling a GraphX station-network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</a:rPr>
              <a:t>[1]  Air Quality Prediction using Multi-Source Remote Sensing Data Integration with Hybrid Deep Learning Framework (MAST-Net). Nature, Scientific Reports, December 2025.  [base paper]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</a:rPr>
              <a:t>[2]  Apache Hadoop Documentation, version 3.3.6. The Apache Software Foundation.  https://hadoop.apache.org/docs/r3.3.6/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</a:rPr>
              <a:t>[3]  Apache Spark Documentation, version 3.5.6. The Apache Software Foundation.  https://spark.apache.org/docs/3.5.6/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</a:rPr>
              <a:t>[4]  Central Pollution Control Board (CPCB). National Air Quality Index — Report of the Expert Group, 2014. Government of India.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</a:rPr>
              <a:t>[5]  Zaharia, M. et al. Resilient Distributed Datasets: A Fault-Tolerant Abstraction for In-Memory Cluster Computing. NSDI, 2012.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</a:rPr>
              <a:t>[6]  Shvachko, K., Kuang, H., Radia, S., Chansler, R. The Hadoop Distributed File System. IEEE MSST, 2010.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</a:rPr>
              <a:t>[7]  Friedman, J. H. Greedy Function Approximation: A Gradient Boosting Machine. Annals of Statistics, 29(5), 2001.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</a:rPr>
              <a:t>[8]  Apache Parquet Documentation. The Apache Software Foundation.  https://parquet.apache.org/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2044</Words>
  <Application>Microsoft Office PowerPoint</Application>
  <PresentationFormat>Widescreen</PresentationFormat>
  <Paragraphs>306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Jaganath R</cp:lastModifiedBy>
  <cp:revision>9</cp:revision>
  <dcterms:created xsi:type="dcterms:W3CDTF">2013-01-27T09:14:16Z</dcterms:created>
  <dcterms:modified xsi:type="dcterms:W3CDTF">2026-08-16T17:06:51Z</dcterms:modified>
  <cp:category/>
</cp:coreProperties>
</file>