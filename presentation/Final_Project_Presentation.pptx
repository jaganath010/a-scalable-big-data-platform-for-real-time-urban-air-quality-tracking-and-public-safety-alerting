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data layers with three jobs: structured CPCB trains, semi-structured CAMS history validates, live data alerts. Then the five V's with one measured fact each. Be upfront that 88.9 percent of structured rows are synthetic and that accuracy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to right: sources are fetched by Python scripts and land in HDFS; Spark on YARN runs the batch layer (Scala cleaning and features, PySpark GBT training) and the speed layer (live enrichment and the streaming scorer); the trained model is loaded by the stream; the alert engine feeds Hive, the warning board and Telegram.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Keep it simple. The job is a chain of six steps; Spark builds this chain as a DAG and splits it into stages wherever data must move between machines (a shuffle, shown in orange). Partitioning decides how the data is cut up; caching keeps a table in memory when it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ganath010/A-Scalable-Big-Data-Platform-for-Real-Time-Urban-Air-Quality-Tracking-and-Public-Safety-Alerting" TargetMode="External"/><Relationship Id="rId4" Type="http://schemas.openxmlformats.org/officeDocument/2006/relationships/hyperlink" Target="https://jaganath010.github.io/A-Scalable-Big-Data-Platform-for-Real-Time-Urban-Air-Quality-Tracking-and-Public-Safety-Alert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1" i="0">
                <a:solidFill>
                  <a:srgbClr val="1A1A1A"/>
                </a:solidFill>
              </a:rPr>
              <a:t>Sreeja B P</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and the Five V's</a:t>
            </a:r>
          </a:p>
        </p:txBody>
      </p:sp>
      <p:graphicFrame>
        <p:nvGraphicFramePr>
          <p:cNvPr id="4" name="Table 3"/>
          <p:cNvGraphicFramePr>
            <a:graphicFrameLocks noGrp="1"/>
          </p:cNvGraphicFramePr>
          <p:nvPr/>
        </p:nvGraphicFramePr>
        <p:xfrm>
          <a:off x="548640" y="1143000"/>
          <a:ext cx="11109960" cy="164592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1148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1148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1148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1148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per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TextBox 4"/>
          <p:cNvSpPr txBox="1"/>
          <p:nvPr/>
        </p:nvSpPr>
        <p:spPr>
          <a:xfrm>
            <a:off x="548640" y="2788920"/>
            <a:ext cx="11109960" cy="274320"/>
          </a:xfrm>
          <a:prstGeom prst="rect">
            <a:avLst/>
          </a:prstGeom>
          <a:noFill/>
        </p:spPr>
        <p:txBody>
          <a:bodyPr wrap="square" anchor="t" lIns="0" rIns="0" tIns="0" bIns="0">
            <a:spAutoFit/>
          </a:bodyPr>
          <a:lstStyle/>
          <a:p>
            <a:r>
              <a:rPr sz="1250" b="1" i="0">
                <a:solidFill>
                  <a:srgbClr val="0B5F8A"/>
                </a:solidFill>
              </a:rPr>
              <a:t>Unified table: 154,583,979 rows · 33 GB · 241 cities / 4,077 stations · one 17-column schema</a:t>
            </a:r>
          </a:p>
        </p:txBody>
      </p:sp>
      <p:sp>
        <p:nvSpPr>
          <p:cNvPr id="6" name="Rectangle 5"/>
          <p:cNvSpPr/>
          <p:nvPr/>
        </p:nvSpPr>
        <p:spPr>
          <a:xfrm>
            <a:off x="54864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154680"/>
            <a:ext cx="2103120" cy="4114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54680"/>
            <a:ext cx="1920240" cy="411480"/>
          </a:xfrm>
          <a:prstGeom prst="rect">
            <a:avLst/>
          </a:prstGeom>
          <a:noFill/>
        </p:spPr>
        <p:txBody>
          <a:bodyPr wrap="square" anchor="ctr" lIns="0" rIns="0" tIns="0" bIns="0">
            <a:spAutoFit/>
          </a:bodyPr>
          <a:lstStyle/>
          <a:p>
            <a:r>
              <a:rPr sz="1500" b="1" i="0">
                <a:solidFill>
                  <a:srgbClr val="FFFFFF"/>
                </a:solidFill>
              </a:rPr>
              <a:t>Volume</a:t>
            </a:r>
          </a:p>
        </p:txBody>
      </p:sp>
      <p:sp>
        <p:nvSpPr>
          <p:cNvPr id="9" name="TextBox 8"/>
          <p:cNvSpPr txBox="1"/>
          <p:nvPr/>
        </p:nvSpPr>
        <p:spPr>
          <a:xfrm>
            <a:off x="658368" y="3630168"/>
            <a:ext cx="1901952" cy="457200"/>
          </a:xfrm>
          <a:prstGeom prst="rect">
            <a:avLst/>
          </a:prstGeom>
          <a:noFill/>
        </p:spPr>
        <p:txBody>
          <a:bodyPr wrap="square" anchor="t" lIns="0" rIns="0" tIns="0" bIns="0">
            <a:spAutoFit/>
          </a:bodyPr>
          <a:lstStyle/>
          <a:p>
            <a:r>
              <a:rPr sz="1300" b="1" i="0">
                <a:solidFill>
                  <a:srgbClr val="0D3B5E"/>
                </a:solidFill>
              </a:rPr>
              <a:t>154.6 M rows, 33 GB</a:t>
            </a:r>
          </a:p>
        </p:txBody>
      </p:sp>
      <p:sp>
        <p:nvSpPr>
          <p:cNvPr id="10" name="TextBox 9"/>
          <p:cNvSpPr txBox="1"/>
          <p:nvPr/>
        </p:nvSpPr>
        <p:spPr>
          <a:xfrm>
            <a:off x="658368" y="4114800"/>
            <a:ext cx="1901952" cy="1097280"/>
          </a:xfrm>
          <a:prstGeom prst="rect">
            <a:avLst/>
          </a:prstGeom>
          <a:noFill/>
        </p:spPr>
        <p:txBody>
          <a:bodyPr wrap="square" anchor="t" lIns="0" rIns="0" tIns="0" bIns="0">
            <a:spAutoFit/>
          </a:bodyPr>
          <a:lstStyle/>
          <a:p>
            <a:r>
              <a:rPr sz="1050" b="0" i="0">
                <a:solidFill>
                  <a:srgbClr val="1A1A1A"/>
                </a:solidFill>
              </a:rPr>
              <a:t>Far more than the 15.7 GB RAM of one machine; HDFS splits it into 128 MB blocks, 3× copies</a:t>
            </a:r>
          </a:p>
        </p:txBody>
      </p:sp>
      <p:sp>
        <p:nvSpPr>
          <p:cNvPr id="11" name="Rectangle 10"/>
          <p:cNvSpPr/>
          <p:nvPr/>
        </p:nvSpPr>
        <p:spPr>
          <a:xfrm>
            <a:off x="278892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20" y="3154680"/>
            <a:ext cx="210312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8" y="3154680"/>
            <a:ext cx="1920240" cy="411480"/>
          </a:xfrm>
          <a:prstGeom prst="rect">
            <a:avLst/>
          </a:prstGeom>
          <a:noFill/>
        </p:spPr>
        <p:txBody>
          <a:bodyPr wrap="square" anchor="ctr" lIns="0" rIns="0" tIns="0" bIns="0">
            <a:spAutoFit/>
          </a:bodyPr>
          <a:lstStyle/>
          <a:p>
            <a:r>
              <a:rPr sz="1500" b="1" i="0">
                <a:solidFill>
                  <a:srgbClr val="FFFFFF"/>
                </a:solidFill>
              </a:rPr>
              <a:t>Variety</a:t>
            </a:r>
          </a:p>
        </p:txBody>
      </p:sp>
      <p:sp>
        <p:nvSpPr>
          <p:cNvPr id="14" name="TextBox 13"/>
          <p:cNvSpPr txBox="1"/>
          <p:nvPr/>
        </p:nvSpPr>
        <p:spPr>
          <a:xfrm>
            <a:off x="2898648" y="3630168"/>
            <a:ext cx="1901952" cy="457200"/>
          </a:xfrm>
          <a:prstGeom prst="rect">
            <a:avLst/>
          </a:prstGeom>
          <a:noFill/>
        </p:spPr>
        <p:txBody>
          <a:bodyPr wrap="square" anchor="t" lIns="0" rIns="0" tIns="0" bIns="0">
            <a:spAutoFit/>
          </a:bodyPr>
          <a:lstStyle/>
          <a:p>
            <a:r>
              <a:rPr sz="1300" b="1" i="0">
                <a:solidFill>
                  <a:srgbClr val="0E7C86"/>
                </a:solidFill>
              </a:rPr>
              <a:t>CSV + nested JSON + live API</a:t>
            </a:r>
          </a:p>
        </p:txBody>
      </p:sp>
      <p:sp>
        <p:nvSpPr>
          <p:cNvPr id="15" name="TextBox 14"/>
          <p:cNvSpPr txBox="1"/>
          <p:nvPr/>
        </p:nvSpPr>
        <p:spPr>
          <a:xfrm>
            <a:off x="2898648" y="4114800"/>
            <a:ext cx="1901952" cy="1097280"/>
          </a:xfrm>
          <a:prstGeom prst="rect">
            <a:avLst/>
          </a:prstGeom>
          <a:noFill/>
        </p:spPr>
        <p:txBody>
          <a:bodyPr wrap="square" anchor="t" lIns="0" rIns="0" tIns="0" bIns="0">
            <a:spAutoFit/>
          </a:bodyPr>
          <a:lstStyle/>
          <a:p>
            <a:r>
              <a:rPr sz="1050" b="0" i="0">
                <a:solidFill>
                  <a:srgbClr val="1A1A1A"/>
                </a:solidFill>
              </a:rPr>
              <a:t>Flat structured tables and nested semi-structured JSON, read by native Spark readers into one schema</a:t>
            </a:r>
          </a:p>
        </p:txBody>
      </p:sp>
      <p:sp>
        <p:nvSpPr>
          <p:cNvPr id="16" name="Rectangle 15"/>
          <p:cNvSpPr/>
          <p:nvPr/>
        </p:nvSpPr>
        <p:spPr>
          <a:xfrm>
            <a:off x="502920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0" y="3154680"/>
            <a:ext cx="2103120" cy="411480"/>
          </a:xfrm>
          <a:prstGeom prst="rect">
            <a:avLst/>
          </a:prstGeom>
          <a:solidFill>
            <a:srgbClr val="C2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38928" y="3154680"/>
            <a:ext cx="1920240" cy="411480"/>
          </a:xfrm>
          <a:prstGeom prst="rect">
            <a:avLst/>
          </a:prstGeom>
          <a:noFill/>
        </p:spPr>
        <p:txBody>
          <a:bodyPr wrap="square" anchor="ctr" lIns="0" rIns="0" tIns="0" bIns="0">
            <a:spAutoFit/>
          </a:bodyPr>
          <a:lstStyle/>
          <a:p>
            <a:r>
              <a:rPr sz="1500" b="1" i="0">
                <a:solidFill>
                  <a:srgbClr val="FFFFFF"/>
                </a:solidFill>
              </a:rPr>
              <a:t>Velocity</a:t>
            </a:r>
          </a:p>
        </p:txBody>
      </p:sp>
      <p:sp>
        <p:nvSpPr>
          <p:cNvPr id="19" name="TextBox 18"/>
          <p:cNvSpPr txBox="1"/>
          <p:nvPr/>
        </p:nvSpPr>
        <p:spPr>
          <a:xfrm>
            <a:off x="5138928" y="3630168"/>
            <a:ext cx="1901952" cy="457200"/>
          </a:xfrm>
          <a:prstGeom prst="rect">
            <a:avLst/>
          </a:prstGeom>
          <a:noFill/>
        </p:spPr>
        <p:txBody>
          <a:bodyPr wrap="square" anchor="t" lIns="0" rIns="0" tIns="0" bIns="0">
            <a:spAutoFit/>
          </a:bodyPr>
          <a:lstStyle/>
          <a:p>
            <a:r>
              <a:rPr sz="1300" b="1" i="0">
                <a:solidFill>
                  <a:srgbClr val="C25E00"/>
                </a:solidFill>
              </a:rPr>
              <a:t>10 s micro-batches</a:t>
            </a:r>
          </a:p>
        </p:txBody>
      </p:sp>
      <p:sp>
        <p:nvSpPr>
          <p:cNvPr id="20" name="TextBox 19"/>
          <p:cNvSpPr txBox="1"/>
          <p:nvPr/>
        </p:nvSpPr>
        <p:spPr>
          <a:xfrm>
            <a:off x="5138928" y="4114800"/>
            <a:ext cx="1901952" cy="1097280"/>
          </a:xfrm>
          <a:prstGeom prst="rect">
            <a:avLst/>
          </a:prstGeom>
          <a:noFill/>
        </p:spPr>
        <p:txBody>
          <a:bodyPr wrap="square" anchor="t" lIns="0" rIns="0" tIns="0" bIns="0">
            <a:spAutoFit/>
          </a:bodyPr>
          <a:lstStyle/>
          <a:p>
            <a:r>
              <a:rPr sz="1050" b="0" i="0">
                <a:solidFill>
                  <a:srgbClr val="1A1A1A"/>
                </a:solidFill>
              </a:rPr>
              <a:t>Live feed scored by Structured Streaming, ≈ 7 s latency; hourly alert loop</a:t>
            </a:r>
          </a:p>
        </p:txBody>
      </p:sp>
      <p:sp>
        <p:nvSpPr>
          <p:cNvPr id="21" name="Rectangle 20"/>
          <p:cNvSpPr/>
          <p:nvPr/>
        </p:nvSpPr>
        <p:spPr>
          <a:xfrm>
            <a:off x="726948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3154680"/>
            <a:ext cx="2103120" cy="4114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9208" y="3154680"/>
            <a:ext cx="1920240" cy="411480"/>
          </a:xfrm>
          <a:prstGeom prst="rect">
            <a:avLst/>
          </a:prstGeom>
          <a:noFill/>
        </p:spPr>
        <p:txBody>
          <a:bodyPr wrap="square" anchor="ctr" lIns="0" rIns="0" tIns="0" bIns="0">
            <a:spAutoFit/>
          </a:bodyPr>
          <a:lstStyle/>
          <a:p>
            <a:r>
              <a:rPr sz="1500" b="1" i="0">
                <a:solidFill>
                  <a:srgbClr val="FFFFFF"/>
                </a:solidFill>
              </a:rPr>
              <a:t>Veracity</a:t>
            </a:r>
          </a:p>
        </p:txBody>
      </p:sp>
      <p:sp>
        <p:nvSpPr>
          <p:cNvPr id="24" name="TextBox 23"/>
          <p:cNvSpPr txBox="1"/>
          <p:nvPr/>
        </p:nvSpPr>
        <p:spPr>
          <a:xfrm>
            <a:off x="7379208" y="3630168"/>
            <a:ext cx="1901952" cy="457200"/>
          </a:xfrm>
          <a:prstGeom prst="rect">
            <a:avLst/>
          </a:prstGeom>
          <a:noFill/>
        </p:spPr>
        <p:txBody>
          <a:bodyPr wrap="square" anchor="t" lIns="0" rIns="0" tIns="0" bIns="0">
            <a:spAutoFit/>
          </a:bodyPr>
          <a:lstStyle/>
          <a:p>
            <a:r>
              <a:rPr sz="1300" b="1" i="0">
                <a:solidFill>
                  <a:srgbClr val="7A1B2E"/>
                </a:solidFill>
              </a:rPr>
              <a:t>88.9 % synthetic, validated</a:t>
            </a:r>
          </a:p>
        </p:txBody>
      </p:sp>
      <p:sp>
        <p:nvSpPr>
          <p:cNvPr id="25" name="TextBox 24"/>
          <p:cNvSpPr txBox="1"/>
          <p:nvPr/>
        </p:nvSpPr>
        <p:spPr>
          <a:xfrm>
            <a:off x="7379208" y="4114800"/>
            <a:ext cx="1901952" cy="1097280"/>
          </a:xfrm>
          <a:prstGeom prst="rect">
            <a:avLst/>
          </a:prstGeom>
          <a:noFill/>
        </p:spPr>
        <p:txBody>
          <a:bodyPr wrap="square" anchor="t" lIns="0" rIns="0" tIns="0" bIns="0">
            <a:spAutoFit/>
          </a:bodyPr>
          <a:lstStyle/>
          <a:p>
            <a:r>
              <a:rPr sz="1050" b="0" i="0">
                <a:solidFill>
                  <a:srgbClr val="1A1A1A"/>
                </a:solidFill>
              </a:rPr>
              <a:t>5 paired tests, independent CPCB-vs-CAMS check, 11 defects fixed, every filled value flagged</a:t>
            </a:r>
          </a:p>
        </p:txBody>
      </p:sp>
      <p:sp>
        <p:nvSpPr>
          <p:cNvPr id="26" name="Rectangle 25"/>
          <p:cNvSpPr/>
          <p:nvPr/>
        </p:nvSpPr>
        <p:spPr>
          <a:xfrm>
            <a:off x="950976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09760" y="3154680"/>
            <a:ext cx="2103120" cy="41148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19488" y="3154680"/>
            <a:ext cx="1920240" cy="411480"/>
          </a:xfrm>
          <a:prstGeom prst="rect">
            <a:avLst/>
          </a:prstGeom>
          <a:noFill/>
        </p:spPr>
        <p:txBody>
          <a:bodyPr wrap="square" anchor="ctr" lIns="0" rIns="0" tIns="0" bIns="0">
            <a:spAutoFit/>
          </a:bodyPr>
          <a:lstStyle/>
          <a:p>
            <a:r>
              <a:rPr sz="1500" b="1" i="0">
                <a:solidFill>
                  <a:srgbClr val="FFFFFF"/>
                </a:solidFill>
              </a:rPr>
              <a:t>Value</a:t>
            </a:r>
          </a:p>
        </p:txBody>
      </p:sp>
      <p:sp>
        <p:nvSpPr>
          <p:cNvPr id="29" name="TextBox 28"/>
          <p:cNvSpPr txBox="1"/>
          <p:nvPr/>
        </p:nvSpPr>
        <p:spPr>
          <a:xfrm>
            <a:off x="9619488" y="3630168"/>
            <a:ext cx="1901952" cy="457200"/>
          </a:xfrm>
          <a:prstGeom prst="rect">
            <a:avLst/>
          </a:prstGeom>
          <a:noFill/>
        </p:spPr>
        <p:txBody>
          <a:bodyPr wrap="square" anchor="t" lIns="0" rIns="0" tIns="0" bIns="0">
            <a:spAutoFit/>
          </a:bodyPr>
          <a:lstStyle/>
          <a:p>
            <a:r>
              <a:rPr sz="1300" b="1" i="0">
                <a:solidFill>
                  <a:srgbClr val="1B7A3D"/>
                </a:solidFill>
              </a:rPr>
              <a:t>R² 0.8910 vs 0.8587</a:t>
            </a:r>
          </a:p>
        </p:txBody>
      </p:sp>
      <p:sp>
        <p:nvSpPr>
          <p:cNvPr id="30" name="TextBox 29"/>
          <p:cNvSpPr txBox="1"/>
          <p:nvPr/>
        </p:nvSpPr>
        <p:spPr>
          <a:xfrm>
            <a:off x="9619488" y="4114800"/>
            <a:ext cx="1901952" cy="1097280"/>
          </a:xfrm>
          <a:prstGeom prst="rect">
            <a:avLst/>
          </a:prstGeom>
          <a:noFill/>
        </p:spPr>
        <p:txBody>
          <a:bodyPr wrap="square" anchor="t" lIns="0" rIns="0" tIns="0" bIns="0">
            <a:spAutoFit/>
          </a:bodyPr>
          <a:lstStyle/>
          <a:p>
            <a:r>
              <a:rPr sz="1050" b="0" i="0">
                <a:solidFill>
                  <a:srgbClr val="1A1A1A"/>
                </a:solidFill>
              </a:rPr>
              <a:t>12.18 % lower error; 27,543 warnings in Oct, delivered one hour ahead with health advice</a:t>
            </a:r>
          </a:p>
        </p:txBody>
      </p:sp>
      <p:sp>
        <p:nvSpPr>
          <p:cNvPr id="31" name="TextBox 30"/>
          <p:cNvSpPr txBox="1"/>
          <p:nvPr/>
        </p:nvSpPr>
        <p:spPr>
          <a:xfrm>
            <a:off x="548640" y="5394960"/>
            <a:ext cx="2743200" cy="274320"/>
          </a:xfrm>
          <a:prstGeom prst="rect">
            <a:avLst/>
          </a:prstGeom>
          <a:noFill/>
        </p:spPr>
        <p:txBody>
          <a:bodyPr wrap="square" anchor="t" lIns="0" rIns="0" tIns="0" bIns="0">
            <a:spAutoFit/>
          </a:bodyPr>
          <a:lstStyle/>
          <a:p>
            <a:r>
              <a:rPr sz="1250" b="1" i="0">
                <a:solidFill>
                  <a:srgbClr val="0B5F8A"/>
                </a:solidFill>
              </a:rPr>
              <a:t>Key attributes</a:t>
            </a:r>
          </a:p>
        </p:txBody>
      </p:sp>
      <p:sp>
        <p:nvSpPr>
          <p:cNvPr id="32" name="TextBox 31"/>
          <p:cNvSpPr txBox="1"/>
          <p:nvPr/>
        </p:nvSpPr>
        <p:spPr>
          <a:xfrm>
            <a:off x="548640" y="5669280"/>
            <a:ext cx="11109960" cy="731520"/>
          </a:xfrm>
          <a:prstGeom prst="rect">
            <a:avLst/>
          </a:prstGeom>
          <a:noFill/>
        </p:spPr>
        <p:txBody>
          <a:bodyPr wrap="square" anchor="t" lIns="0" rIns="0" tIns="0" bIns="0">
            <a:spAutoFit/>
          </a:bodyPr>
          <a:lstStyle/>
          <a:p>
            <a:r>
              <a:rPr sz="1100" b="0" i="0">
                <a:solidFill>
                  <a:srgbClr val="5A6673"/>
                </a:solidFill>
              </a:rPr>
              <a:t>Identity / time: station_id, city, state, hourly timestamp · Pollutants: pm25, pm10, no2, so2, co, o3, nh3 (→ CPCB AQI, T+1 label) · Weather: temperature, humidity, wind, pressure, rain, solar · Context: traffic_index, urbanization_index, climate_type · Provenance: data_source, *_was_imputed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411480" y="1024128"/>
            <a:ext cx="2194560" cy="256032"/>
          </a:xfrm>
          <a:prstGeom prst="rect">
            <a:avLst/>
          </a:prstGeom>
          <a:noFill/>
        </p:spPr>
        <p:txBody>
          <a:bodyPr wrap="square" anchor="t" lIns="0" rIns="0" tIns="0" bIns="0">
            <a:spAutoFit/>
          </a:bodyPr>
          <a:lstStyle/>
          <a:p>
            <a:pPr algn="ctr"/>
            <a:r>
              <a:rPr sz="1050" b="1" i="0">
                <a:solidFill>
                  <a:srgbClr val="6B7785"/>
                </a:solidFill>
              </a:rPr>
              <a:t>1  DATA SOURCES</a:t>
            </a:r>
          </a:p>
        </p:txBody>
      </p:sp>
      <p:sp>
        <p:nvSpPr>
          <p:cNvPr id="5" name="Rectangle 4"/>
          <p:cNvSpPr/>
          <p:nvPr/>
        </p:nvSpPr>
        <p:spPr>
          <a:xfrm>
            <a:off x="411480" y="1280160"/>
            <a:ext cx="21945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1024128"/>
            <a:ext cx="1463040" cy="256032"/>
          </a:xfrm>
          <a:prstGeom prst="rect">
            <a:avLst/>
          </a:prstGeom>
          <a:noFill/>
        </p:spPr>
        <p:txBody>
          <a:bodyPr wrap="square" anchor="t" lIns="0" rIns="0" tIns="0" bIns="0">
            <a:spAutoFit/>
          </a:bodyPr>
          <a:lstStyle/>
          <a:p>
            <a:pPr algn="ctr"/>
            <a:r>
              <a:rPr sz="1050" b="1" i="0">
                <a:solidFill>
                  <a:srgbClr val="6B7785"/>
                </a:solidFill>
              </a:rPr>
              <a:t>2  INGEST</a:t>
            </a:r>
          </a:p>
        </p:txBody>
      </p:sp>
      <p:sp>
        <p:nvSpPr>
          <p:cNvPr id="7" name="Rectangle 6"/>
          <p:cNvSpPr/>
          <p:nvPr/>
        </p:nvSpPr>
        <p:spPr>
          <a:xfrm>
            <a:off x="2834640" y="1280160"/>
            <a:ext cx="146304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024128"/>
            <a:ext cx="1737360" cy="256032"/>
          </a:xfrm>
          <a:prstGeom prst="rect">
            <a:avLst/>
          </a:prstGeom>
          <a:noFill/>
        </p:spPr>
        <p:txBody>
          <a:bodyPr wrap="square" anchor="t" lIns="0" rIns="0" tIns="0" bIns="0">
            <a:spAutoFit/>
          </a:bodyPr>
          <a:lstStyle/>
          <a:p>
            <a:pPr algn="ctr"/>
            <a:r>
              <a:rPr sz="1050" b="1" i="0">
                <a:solidFill>
                  <a:srgbClr val="6B7785"/>
                </a:solidFill>
              </a:rPr>
              <a:t>3  STORAGE</a:t>
            </a:r>
          </a:p>
        </p:txBody>
      </p:sp>
      <p:sp>
        <p:nvSpPr>
          <p:cNvPr id="9" name="Rectangle 8"/>
          <p:cNvSpPr/>
          <p:nvPr/>
        </p:nvSpPr>
        <p:spPr>
          <a:xfrm>
            <a:off x="4526280" y="1280160"/>
            <a:ext cx="17373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024128"/>
            <a:ext cx="3794760" cy="256032"/>
          </a:xfrm>
          <a:prstGeom prst="rect">
            <a:avLst/>
          </a:prstGeom>
          <a:noFill/>
        </p:spPr>
        <p:txBody>
          <a:bodyPr wrap="square" anchor="t" lIns="0" rIns="0" tIns="0" bIns="0">
            <a:spAutoFit/>
          </a:bodyPr>
          <a:lstStyle/>
          <a:p>
            <a:pPr algn="ctr"/>
            <a:r>
              <a:rPr sz="1050" b="1" i="0">
                <a:solidFill>
                  <a:srgbClr val="6B7785"/>
                </a:solidFill>
              </a:rPr>
              <a:t>4  PROCESSING</a:t>
            </a:r>
          </a:p>
        </p:txBody>
      </p:sp>
      <p:sp>
        <p:nvSpPr>
          <p:cNvPr id="11" name="Rectangle 10"/>
          <p:cNvSpPr/>
          <p:nvPr/>
        </p:nvSpPr>
        <p:spPr>
          <a:xfrm>
            <a:off x="6492240" y="1280160"/>
            <a:ext cx="37947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0" y="1024128"/>
            <a:ext cx="1280160" cy="256032"/>
          </a:xfrm>
          <a:prstGeom prst="rect">
            <a:avLst/>
          </a:prstGeom>
          <a:noFill/>
        </p:spPr>
        <p:txBody>
          <a:bodyPr wrap="square" anchor="t" lIns="0" rIns="0" tIns="0" bIns="0">
            <a:spAutoFit/>
          </a:bodyPr>
          <a:lstStyle/>
          <a:p>
            <a:pPr algn="ctr"/>
            <a:r>
              <a:rPr sz="1050" b="1" i="0">
                <a:solidFill>
                  <a:srgbClr val="6B7785"/>
                </a:solidFill>
              </a:rPr>
              <a:t>5  SERVE / ALERT</a:t>
            </a:r>
          </a:p>
        </p:txBody>
      </p:sp>
      <p:sp>
        <p:nvSpPr>
          <p:cNvPr id="13" name="Rectangle 12"/>
          <p:cNvSpPr/>
          <p:nvPr/>
        </p:nvSpPr>
        <p:spPr>
          <a:xfrm>
            <a:off x="10515600" y="1280160"/>
            <a:ext cx="12801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146304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463040"/>
            <a:ext cx="2103120" cy="822960"/>
          </a:xfrm>
          <a:prstGeom prst="rect">
            <a:avLst/>
          </a:prstGeom>
          <a:noFill/>
        </p:spPr>
        <p:txBody>
          <a:bodyPr wrap="square" anchor="ctr" lIns="0" rIns="0" tIns="0" bIns="0">
            <a:spAutoFit/>
          </a:bodyPr>
          <a:lstStyle/>
          <a:p>
            <a:pPr algn="ctr"/>
            <a:r>
              <a:rPr sz="1050" b="1" i="0">
                <a:solidFill>
                  <a:srgbClr val="FFFFFF"/>
                </a:solidFill>
              </a:rPr>
              <a:t>CPCB stations CSV</a:t>
            </a:r>
          </a:p>
          <a:p>
            <a:pPr algn="ctr"/>
            <a:r>
              <a:rPr sz="1050" b="1" i="0">
                <a:solidFill>
                  <a:srgbClr val="FFFFFF"/>
                </a:solidFill>
              </a:rPr>
              <a:t>2010–2023 · 146.3 M rows</a:t>
            </a:r>
          </a:p>
        </p:txBody>
      </p:sp>
      <p:sp>
        <p:nvSpPr>
          <p:cNvPr id="16" name="Rectangle 15"/>
          <p:cNvSpPr/>
          <p:nvPr/>
        </p:nvSpPr>
        <p:spPr>
          <a:xfrm>
            <a:off x="411480" y="242316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423160"/>
            <a:ext cx="2103120" cy="822960"/>
          </a:xfrm>
          <a:prstGeom prst="rect">
            <a:avLst/>
          </a:prstGeom>
          <a:noFill/>
        </p:spPr>
        <p:txBody>
          <a:bodyPr wrap="square" anchor="ctr" lIns="0" rIns="0" tIns="0" bIns="0">
            <a:spAutoFit/>
          </a:bodyPr>
          <a:lstStyle/>
          <a:p>
            <a:pPr algn="ctr"/>
            <a:r>
              <a:rPr sz="1050" b="1" i="0">
                <a:solidFill>
                  <a:srgbClr val="FFFFFF"/>
                </a:solidFill>
              </a:rPr>
              <a:t>CAMS history JSON</a:t>
            </a:r>
          </a:p>
          <a:p>
            <a:pPr algn="ctr"/>
            <a:r>
              <a:rPr sz="1050" b="1" i="0">
                <a:solidFill>
                  <a:srgbClr val="FFFFFF"/>
                </a:solidFill>
              </a:rPr>
              <a:t>2022–26 · 8.3 M rows</a:t>
            </a:r>
          </a:p>
        </p:txBody>
      </p:sp>
      <p:sp>
        <p:nvSpPr>
          <p:cNvPr id="18" name="Rectangle 17"/>
          <p:cNvSpPr/>
          <p:nvPr/>
        </p:nvSpPr>
        <p:spPr>
          <a:xfrm>
            <a:off x="411480" y="338328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83280"/>
            <a:ext cx="2103120" cy="822960"/>
          </a:xfrm>
          <a:prstGeom prst="rect">
            <a:avLst/>
          </a:prstGeom>
          <a:noFill/>
        </p:spPr>
        <p:txBody>
          <a:bodyPr wrap="square" anchor="ctr" lIns="0" rIns="0" tIns="0" bIns="0">
            <a:spAutoFit/>
          </a:bodyPr>
          <a:lstStyle/>
          <a:p>
            <a:pPr algn="ctr"/>
            <a:r>
              <a:rPr sz="1050" b="1" i="0">
                <a:solidFill>
                  <a:srgbClr val="FFFFFF"/>
                </a:solidFill>
              </a:rPr>
              <a:t>CAMS + weather APIs</a:t>
            </a:r>
          </a:p>
          <a:p>
            <a:pPr algn="ctr"/>
            <a:r>
              <a:rPr sz="1050" b="1" i="0">
                <a:solidFill>
                  <a:srgbClr val="FFFFFF"/>
                </a:solidFill>
              </a:rPr>
              <a:t>live · 230 cities (keyless)</a:t>
            </a:r>
          </a:p>
        </p:txBody>
      </p:sp>
      <p:sp>
        <p:nvSpPr>
          <p:cNvPr id="20" name="Rectangle 19"/>
          <p:cNvSpPr/>
          <p:nvPr/>
        </p:nvSpPr>
        <p:spPr>
          <a:xfrm>
            <a:off x="411480" y="434340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343400"/>
            <a:ext cx="2103120" cy="822960"/>
          </a:xfrm>
          <a:prstGeom prst="rect">
            <a:avLst/>
          </a:prstGeom>
          <a:noFill/>
        </p:spPr>
        <p:txBody>
          <a:bodyPr wrap="square" anchor="ctr" lIns="0" rIns="0" tIns="0" bIns="0">
            <a:spAutoFit/>
          </a:bodyPr>
          <a:lstStyle/>
          <a:p>
            <a:pPr algn="ctr"/>
            <a:r>
              <a:rPr sz="1050" b="1" i="0">
                <a:solidFill>
                  <a:srgbClr val="FFFFFF"/>
                </a:solidFill>
              </a:rPr>
              <a:t>city_profiles.csv</a:t>
            </a:r>
          </a:p>
          <a:p>
            <a:pPr algn="ctr"/>
            <a:r>
              <a:rPr sz="1050" b="1" i="0">
                <a:solidFill>
                  <a:srgbClr val="FFFFFF"/>
                </a:solidFill>
              </a:rPr>
              <a:t>traffic, urbanization</a:t>
            </a:r>
          </a:p>
        </p:txBody>
      </p:sp>
      <p:sp>
        <p:nvSpPr>
          <p:cNvPr id="22" name="Rectangle 21"/>
          <p:cNvSpPr/>
          <p:nvPr/>
        </p:nvSpPr>
        <p:spPr>
          <a:xfrm>
            <a:off x="2834640" y="1463040"/>
            <a:ext cx="1463040" cy="35661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0360" y="1554480"/>
            <a:ext cx="1371600" cy="3383280"/>
          </a:xfrm>
          <a:prstGeom prst="rect">
            <a:avLst/>
          </a:prstGeom>
          <a:noFill/>
        </p:spPr>
        <p:txBody>
          <a:bodyPr wrap="square" anchor="t" lIns="0" rIns="0" tIns="0" bIns="0">
            <a:spAutoFit/>
          </a:bodyPr>
          <a:lstStyle/>
          <a:p>
            <a:pPr algn="ctr"/>
            <a:r>
              <a:rPr sz="1050" b="0" i="0">
                <a:solidFill>
                  <a:srgbClr val="1A1A1A"/>
                </a:solidFill>
              </a:rPr>
              <a:t>Python fetchers</a:t>
            </a:r>
          </a:p>
          <a:p>
            <a:pPr algn="ctr"/>
            <a:r>
              <a:rPr sz="1050" b="0" i="0">
                <a:solidFill>
                  <a:srgbClr val="1A1A1A"/>
                </a:solidFill>
              </a:rPr>
              <a:t/>
            </a:r>
          </a:p>
          <a:p>
            <a:pPr algn="ctr"/>
            <a:r>
              <a:rPr sz="1050" b="0" i="0">
                <a:solidFill>
                  <a:srgbClr val="1A1A1A"/>
                </a:solidFill>
              </a:rPr>
              <a:t>00e / 00f / 00g</a:t>
            </a:r>
          </a:p>
          <a:p>
            <a:pPr algn="ctr"/>
            <a:r>
              <a:rPr sz="1050" b="0" i="0">
                <a:solidFill>
                  <a:srgbClr val="1A1A1A"/>
                </a:solidFill>
              </a:rPr>
              <a:t>HTTP, no API key</a:t>
            </a:r>
          </a:p>
          <a:p>
            <a:pPr algn="ctr"/>
            <a:r>
              <a:rPr sz="1050" b="0" i="0">
                <a:solidFill>
                  <a:srgbClr val="1A1A1A"/>
                </a:solidFill>
              </a:rPr>
              <a:t/>
            </a:r>
          </a:p>
          <a:p>
            <a:pPr algn="ctr"/>
            <a:r>
              <a:rPr sz="1050" b="0" i="0">
                <a:solidFill>
                  <a:srgbClr val="1A1A1A"/>
                </a:solidFill>
              </a:rPr>
              <a:t>run_daily_live_cycle</a:t>
            </a:r>
          </a:p>
          <a:p>
            <a:pPr algn="ctr"/>
            <a:r>
              <a:rPr sz="1050" b="0" i="0">
                <a:solidFill>
                  <a:srgbClr val="1A1A1A"/>
                </a:solidFill>
              </a:rPr>
              <a:t>run_hourly_cycle</a:t>
            </a:r>
          </a:p>
          <a:p>
            <a:pPr algn="ctr"/>
            <a:r>
              <a:rPr sz="1050" b="0" i="0">
                <a:solidFill>
                  <a:srgbClr val="1A1A1A"/>
                </a:solidFill>
              </a:rPr>
              <a:t/>
            </a:r>
          </a:p>
          <a:p>
            <a:pPr algn="ctr"/>
            <a:r>
              <a:rPr sz="1050" b="0" i="0">
                <a:solidFill>
                  <a:srgbClr val="1A1A1A"/>
                </a:solidFill>
              </a:rPr>
              <a:t>upload to HDFS</a:t>
            </a:r>
          </a:p>
        </p:txBody>
      </p:sp>
      <p:cxnSp>
        <p:nvCxnSpPr>
          <p:cNvPr id="24" name="Connector 23"/>
          <p:cNvCxnSpPr/>
          <p:nvPr/>
        </p:nvCxnSpPr>
        <p:spPr>
          <a:xfrm>
            <a:off x="2606040" y="187451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83463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06040" y="3794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606040" y="47548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526280" y="1463040"/>
            <a:ext cx="1737360" cy="356616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1508760"/>
            <a:ext cx="1645920" cy="320040"/>
          </a:xfrm>
          <a:prstGeom prst="rect">
            <a:avLst/>
          </a:prstGeom>
          <a:noFill/>
        </p:spPr>
        <p:txBody>
          <a:bodyPr wrap="square" anchor="t" lIns="0" rIns="0" tIns="0" bIns="0">
            <a:spAutoFit/>
          </a:bodyPr>
          <a:lstStyle/>
          <a:p>
            <a:pPr algn="ctr"/>
            <a:r>
              <a:rPr sz="1300" b="1" i="0">
                <a:solidFill>
                  <a:srgbClr val="FFFFFF"/>
                </a:solidFill>
              </a:rPr>
              <a:t>HDFS lakehouse</a:t>
            </a:r>
          </a:p>
        </p:txBody>
      </p:sp>
      <p:sp>
        <p:nvSpPr>
          <p:cNvPr id="30" name="Rectangle 29"/>
          <p:cNvSpPr/>
          <p:nvPr/>
        </p:nvSpPr>
        <p:spPr>
          <a:xfrm>
            <a:off x="4617720" y="1920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1920240"/>
            <a:ext cx="1463039" cy="365760"/>
          </a:xfrm>
          <a:prstGeom prst="rect">
            <a:avLst/>
          </a:prstGeom>
          <a:noFill/>
        </p:spPr>
        <p:txBody>
          <a:bodyPr wrap="square" anchor="ctr" lIns="0" rIns="0" tIns="0" bIns="0">
            <a:spAutoFit/>
          </a:bodyPr>
          <a:lstStyle/>
          <a:p>
            <a:pPr algn="ctr"/>
            <a:r>
              <a:rPr sz="950" b="0" i="0">
                <a:solidFill>
                  <a:srgbClr val="FFFFFF"/>
                </a:solidFill>
              </a:rPr>
              <a:t>raw (CSV / JSON)</a:t>
            </a:r>
          </a:p>
        </p:txBody>
      </p:sp>
      <p:sp>
        <p:nvSpPr>
          <p:cNvPr id="32" name="Rectangle 31"/>
          <p:cNvSpPr/>
          <p:nvPr/>
        </p:nvSpPr>
        <p:spPr>
          <a:xfrm>
            <a:off x="4617720" y="23774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3440" y="2377440"/>
            <a:ext cx="1463039" cy="365760"/>
          </a:xfrm>
          <a:prstGeom prst="rect">
            <a:avLst/>
          </a:prstGeom>
          <a:noFill/>
        </p:spPr>
        <p:txBody>
          <a:bodyPr wrap="square" anchor="ctr" lIns="0" rIns="0" tIns="0" bIns="0">
            <a:spAutoFit/>
          </a:bodyPr>
          <a:lstStyle/>
          <a:p>
            <a:pPr algn="ctr"/>
            <a:r>
              <a:rPr sz="950" b="0" i="0">
                <a:solidFill>
                  <a:srgbClr val="FFFFFF"/>
                </a:solidFill>
              </a:rPr>
              <a:t>clean (Parquet, by city)</a:t>
            </a:r>
          </a:p>
        </p:txBody>
      </p:sp>
      <p:sp>
        <p:nvSpPr>
          <p:cNvPr id="34" name="Rectangle 33"/>
          <p:cNvSpPr/>
          <p:nvPr/>
        </p:nvSpPr>
        <p:spPr>
          <a:xfrm>
            <a:off x="4617720" y="28346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2834640"/>
            <a:ext cx="1463039" cy="365760"/>
          </a:xfrm>
          <a:prstGeom prst="rect">
            <a:avLst/>
          </a:prstGeom>
          <a:noFill/>
        </p:spPr>
        <p:txBody>
          <a:bodyPr wrap="square" anchor="ctr" lIns="0" rIns="0" tIns="0" bIns="0">
            <a:spAutoFit/>
          </a:bodyPr>
          <a:lstStyle/>
          <a:p>
            <a:pPr algn="ctr"/>
            <a:r>
              <a:rPr sz="950" b="0" i="0">
                <a:solidFill>
                  <a:srgbClr val="FFFFFF"/>
                </a:solidFill>
              </a:rPr>
              <a:t>features (86-dim)</a:t>
            </a:r>
          </a:p>
        </p:txBody>
      </p:sp>
      <p:sp>
        <p:nvSpPr>
          <p:cNvPr id="36" name="Rectangle 35"/>
          <p:cNvSpPr/>
          <p:nvPr/>
        </p:nvSpPr>
        <p:spPr>
          <a:xfrm>
            <a:off x="4617720" y="32918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3291840"/>
            <a:ext cx="1463039" cy="365760"/>
          </a:xfrm>
          <a:prstGeom prst="rect">
            <a:avLst/>
          </a:prstGeom>
          <a:noFill/>
        </p:spPr>
        <p:txBody>
          <a:bodyPr wrap="square" anchor="ctr" lIns="0" rIns="0" tIns="0" bIns="0">
            <a:spAutoFit/>
          </a:bodyPr>
          <a:lstStyle/>
          <a:p>
            <a:pPr algn="ctr"/>
            <a:r>
              <a:rPr sz="950" b="0" i="0">
                <a:solidFill>
                  <a:srgbClr val="FFFFFF"/>
                </a:solidFill>
              </a:rPr>
              <a:t>unified table</a:t>
            </a:r>
          </a:p>
        </p:txBody>
      </p:sp>
      <p:sp>
        <p:nvSpPr>
          <p:cNvPr id="38" name="Rectangle 37"/>
          <p:cNvSpPr/>
          <p:nvPr/>
        </p:nvSpPr>
        <p:spPr>
          <a:xfrm>
            <a:off x="4617720" y="3749039"/>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3749039"/>
            <a:ext cx="1463039" cy="365760"/>
          </a:xfrm>
          <a:prstGeom prst="rect">
            <a:avLst/>
          </a:prstGeom>
          <a:noFill/>
        </p:spPr>
        <p:txBody>
          <a:bodyPr wrap="square" anchor="ctr" lIns="0" rIns="0" tIns="0" bIns="0">
            <a:spAutoFit/>
          </a:bodyPr>
          <a:lstStyle/>
          <a:p>
            <a:pPr algn="ctr"/>
            <a:r>
              <a:rPr sz="950" b="0" i="0">
                <a:solidFill>
                  <a:srgbClr val="FFFFFF"/>
                </a:solidFill>
              </a:rPr>
              <a:t>stream: input · history</a:t>
            </a:r>
          </a:p>
        </p:txBody>
      </p:sp>
      <p:sp>
        <p:nvSpPr>
          <p:cNvPr id="40" name="Rectangle 39"/>
          <p:cNvSpPr/>
          <p:nvPr/>
        </p:nvSpPr>
        <p:spPr>
          <a:xfrm>
            <a:off x="4617720" y="4206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63440" y="4206240"/>
            <a:ext cx="1463039" cy="365760"/>
          </a:xfrm>
          <a:prstGeom prst="rect">
            <a:avLst/>
          </a:prstGeom>
          <a:noFill/>
        </p:spPr>
        <p:txBody>
          <a:bodyPr wrap="square" anchor="ctr" lIns="0" rIns="0" tIns="0" bIns="0">
            <a:spAutoFit/>
          </a:bodyPr>
          <a:lstStyle/>
          <a:p>
            <a:pPr algn="ctr"/>
            <a:r>
              <a:rPr sz="950" b="0" i="0">
                <a:solidFill>
                  <a:srgbClr val="FFFFFF"/>
                </a:solidFill>
              </a:rPr>
              <a:t>models: GBT + pipeline</a:t>
            </a:r>
          </a:p>
        </p:txBody>
      </p:sp>
      <p:sp>
        <p:nvSpPr>
          <p:cNvPr id="42" name="TextBox 41"/>
          <p:cNvSpPr txBox="1"/>
          <p:nvPr/>
        </p:nvSpPr>
        <p:spPr>
          <a:xfrm>
            <a:off x="4572000" y="4663440"/>
            <a:ext cx="1645920" cy="365760"/>
          </a:xfrm>
          <a:prstGeom prst="rect">
            <a:avLst/>
          </a:prstGeom>
          <a:noFill/>
        </p:spPr>
        <p:txBody>
          <a:bodyPr wrap="square" anchor="t" lIns="0" rIns="0" tIns="0" bIns="0">
            <a:spAutoFit/>
          </a:bodyPr>
          <a:lstStyle/>
          <a:p>
            <a:pPr algn="ctr"/>
            <a:r>
              <a:rPr sz="950" b="0" i="0">
                <a:solidFill>
                  <a:srgbClr val="DCEBF4"/>
                </a:solidFill>
              </a:rPr>
              <a:t>1 NN + 4 DN
128 MB · 3×</a:t>
            </a:r>
          </a:p>
        </p:txBody>
      </p:sp>
      <p:cxnSp>
        <p:nvCxnSpPr>
          <p:cNvPr id="43" name="Connector 42"/>
          <p:cNvCxnSpPr/>
          <p:nvPr/>
        </p:nvCxnSpPr>
        <p:spPr>
          <a:xfrm>
            <a:off x="4297680" y="32461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92240" y="1463040"/>
            <a:ext cx="3794760" cy="3566160"/>
          </a:xfrm>
          <a:prstGeom prst="rect">
            <a:avLst/>
          </a:prstGeom>
          <a:solidFill>
            <a:srgbClr val="E9F1F6"/>
          </a:solidFill>
          <a:ln w="6350">
            <a:solidFill>
              <a:srgbClr val="0B5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0" y="1508760"/>
            <a:ext cx="3611880" cy="274320"/>
          </a:xfrm>
          <a:prstGeom prst="rect">
            <a:avLst/>
          </a:prstGeom>
          <a:noFill/>
        </p:spPr>
        <p:txBody>
          <a:bodyPr wrap="square" anchor="t" lIns="0" rIns="0" tIns="0" bIns="0">
            <a:spAutoFit/>
          </a:bodyPr>
          <a:lstStyle/>
          <a:p>
            <a:r>
              <a:rPr sz="1100" b="1" i="0">
                <a:solidFill>
                  <a:srgbClr val="0B5F8A"/>
                </a:solidFill>
              </a:rPr>
              <a:t>Apache Spark 3.5.6 on YARN  (1 RM + 4 NM)</a:t>
            </a:r>
          </a:p>
        </p:txBody>
      </p:sp>
      <p:sp>
        <p:nvSpPr>
          <p:cNvPr id="46" name="TextBox 45"/>
          <p:cNvSpPr txBox="1"/>
          <p:nvPr/>
        </p:nvSpPr>
        <p:spPr>
          <a:xfrm>
            <a:off x="6583680" y="1874519"/>
            <a:ext cx="3611880" cy="228600"/>
          </a:xfrm>
          <a:prstGeom prst="rect">
            <a:avLst/>
          </a:prstGeom>
          <a:noFill/>
        </p:spPr>
        <p:txBody>
          <a:bodyPr wrap="square" anchor="t" lIns="0" rIns="0" tIns="0" bIns="0">
            <a:spAutoFit/>
          </a:bodyPr>
          <a:lstStyle/>
          <a:p>
            <a:r>
              <a:rPr sz="950" b="1" i="0">
                <a:solidFill>
                  <a:srgbClr val="6B7785"/>
                </a:solidFill>
              </a:rPr>
              <a:t>BATCH LAYER — trains on 13 years of history</a:t>
            </a:r>
          </a:p>
        </p:txBody>
      </p:sp>
      <p:sp>
        <p:nvSpPr>
          <p:cNvPr id="47" name="Rectangle 46"/>
          <p:cNvSpPr/>
          <p:nvPr/>
        </p:nvSpPr>
        <p:spPr>
          <a:xfrm>
            <a:off x="662940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5120" y="2148840"/>
            <a:ext cx="960119" cy="777240"/>
          </a:xfrm>
          <a:prstGeom prst="rect">
            <a:avLst/>
          </a:prstGeom>
          <a:noFill/>
        </p:spPr>
        <p:txBody>
          <a:bodyPr wrap="square" anchor="ctr" lIns="0" rIns="0" tIns="0" bIns="0">
            <a:spAutoFit/>
          </a:bodyPr>
          <a:lstStyle/>
          <a:p>
            <a:pPr algn="ctr"/>
            <a:r>
              <a:rPr sz="950" b="1" i="0">
                <a:solidFill>
                  <a:srgbClr val="1A1A1A"/>
                </a:solidFill>
              </a:rPr>
              <a:t>CleanSelect</a:t>
            </a:r>
          </a:p>
          <a:p>
            <a:pPr algn="ctr"/>
            <a:r>
              <a:rPr sz="950" b="1" i="0">
                <a:solidFill>
                  <a:srgbClr val="1A1A1A"/>
                </a:solidFill>
              </a:rPr>
              <a:t>(Scala)</a:t>
            </a:r>
          </a:p>
          <a:p>
            <a:pPr algn="ctr"/>
            <a:r>
              <a:rPr sz="950" b="1" i="0">
                <a:solidFill>
                  <a:srgbClr val="1A1A1A"/>
                </a:solidFill>
              </a:rPr>
              <a:t>clean + impute</a:t>
            </a:r>
          </a:p>
        </p:txBody>
      </p:sp>
      <p:sp>
        <p:nvSpPr>
          <p:cNvPr id="49" name="Rectangle 48"/>
          <p:cNvSpPr/>
          <p:nvPr/>
        </p:nvSpPr>
        <p:spPr>
          <a:xfrm>
            <a:off x="790956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55280" y="2148840"/>
            <a:ext cx="960119" cy="777240"/>
          </a:xfrm>
          <a:prstGeom prst="rect">
            <a:avLst/>
          </a:prstGeom>
          <a:noFill/>
        </p:spPr>
        <p:txBody>
          <a:bodyPr wrap="square" anchor="ctr" lIns="0" rIns="0" tIns="0" bIns="0">
            <a:spAutoFit/>
          </a:bodyPr>
          <a:lstStyle/>
          <a:p>
            <a:pPr algn="ctr"/>
            <a:r>
              <a:rPr sz="950" b="1" i="0">
                <a:solidFill>
                  <a:srgbClr val="1A1A1A"/>
                </a:solidFill>
              </a:rPr>
              <a:t>Feature-</a:t>
            </a:r>
          </a:p>
          <a:p>
            <a:pPr algn="ctr"/>
            <a:r>
              <a:rPr sz="950" b="1" i="0">
                <a:solidFill>
                  <a:srgbClr val="1A1A1A"/>
                </a:solidFill>
              </a:rPr>
              <a:t>Extraction</a:t>
            </a:r>
          </a:p>
          <a:p>
            <a:pPr algn="ctr"/>
            <a:r>
              <a:rPr sz="950" b="1" i="0">
                <a:solidFill>
                  <a:srgbClr val="1A1A1A"/>
                </a:solidFill>
              </a:rPr>
              <a:t>(Scala) 86 feat.</a:t>
            </a:r>
          </a:p>
        </p:txBody>
      </p:sp>
      <p:sp>
        <p:nvSpPr>
          <p:cNvPr id="51" name="Rectangle 50"/>
          <p:cNvSpPr/>
          <p:nvPr/>
        </p:nvSpPr>
        <p:spPr>
          <a:xfrm>
            <a:off x="9189720" y="2148840"/>
            <a:ext cx="1005840" cy="77724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35440" y="2148840"/>
            <a:ext cx="914400" cy="777240"/>
          </a:xfrm>
          <a:prstGeom prst="rect">
            <a:avLst/>
          </a:prstGeom>
          <a:noFill/>
        </p:spPr>
        <p:txBody>
          <a:bodyPr wrap="square" anchor="ctr" lIns="0" rIns="0" tIns="0" bIns="0">
            <a:spAutoFit/>
          </a:bodyPr>
          <a:lstStyle/>
          <a:p>
            <a:pPr algn="ctr"/>
            <a:r>
              <a:rPr sz="950" b="1" i="0">
                <a:solidFill>
                  <a:srgbClr val="FFFFFF"/>
                </a:solidFill>
              </a:rPr>
              <a:t>GBT training</a:t>
            </a:r>
          </a:p>
          <a:p>
            <a:pPr algn="ctr"/>
            <a:r>
              <a:rPr sz="950" b="1" i="0">
                <a:solidFill>
                  <a:srgbClr val="FFFFFF"/>
                </a:solidFill>
              </a:rPr>
              <a:t>(PySpark MLlib)</a:t>
            </a:r>
          </a:p>
          <a:p>
            <a:pPr algn="ctr"/>
            <a:r>
              <a:rPr sz="950" b="1" i="0">
                <a:solidFill>
                  <a:srgbClr val="FFFFFF"/>
                </a:solidFill>
              </a:rPr>
              <a:t>300 trees</a:t>
            </a:r>
          </a:p>
        </p:txBody>
      </p:sp>
      <p:cxnSp>
        <p:nvCxnSpPr>
          <p:cNvPr id="53" name="Connector 52"/>
          <p:cNvCxnSpPr/>
          <p:nvPr/>
        </p:nvCxnSpPr>
        <p:spPr>
          <a:xfrm>
            <a:off x="768096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6112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629400" y="3246120"/>
            <a:ext cx="3566160" cy="18288"/>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0" y="3310128"/>
            <a:ext cx="3611880" cy="228600"/>
          </a:xfrm>
          <a:prstGeom prst="rect">
            <a:avLst/>
          </a:prstGeom>
          <a:noFill/>
        </p:spPr>
        <p:txBody>
          <a:bodyPr wrap="square" anchor="t" lIns="0" rIns="0" tIns="0" bIns="0">
            <a:spAutoFit/>
          </a:bodyPr>
          <a:lstStyle/>
          <a:p>
            <a:r>
              <a:rPr sz="950" b="1" i="0">
                <a:solidFill>
                  <a:srgbClr val="6B7785"/>
                </a:solidFill>
              </a:rPr>
              <a:t>SPEED LAYER — scores live data every 10 s</a:t>
            </a:r>
          </a:p>
        </p:txBody>
      </p:sp>
      <p:sp>
        <p:nvSpPr>
          <p:cNvPr id="57" name="Rectangle 56"/>
          <p:cNvSpPr/>
          <p:nvPr/>
        </p:nvSpPr>
        <p:spPr>
          <a:xfrm>
            <a:off x="6629400" y="3611880"/>
            <a:ext cx="1371600" cy="86868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675120" y="3611880"/>
            <a:ext cx="1280160" cy="868680"/>
          </a:xfrm>
          <a:prstGeom prst="rect">
            <a:avLst/>
          </a:prstGeom>
          <a:noFill/>
        </p:spPr>
        <p:txBody>
          <a:bodyPr wrap="square" anchor="ctr" lIns="0" rIns="0" tIns="0" bIns="0">
            <a:spAutoFit/>
          </a:bodyPr>
          <a:lstStyle/>
          <a:p>
            <a:pPr algn="ctr"/>
            <a:r>
              <a:rPr sz="950" b="1" i="0">
                <a:solidFill>
                  <a:srgbClr val="1A1A1A"/>
                </a:solidFill>
              </a:rPr>
              <a:t>LiveEnrichment</a:t>
            </a:r>
          </a:p>
          <a:p>
            <a:pPr algn="ctr"/>
            <a:r>
              <a:rPr sz="950" b="1" i="0">
                <a:solidFill>
                  <a:srgbClr val="1A1A1A"/>
                </a:solidFill>
              </a:rPr>
              <a:t>(Scala)</a:t>
            </a:r>
          </a:p>
          <a:p>
            <a:pPr algn="ctr"/>
            <a:r>
              <a:rPr sz="950" b="1" i="0">
                <a:solidFill>
                  <a:srgbClr val="1A1A1A"/>
                </a:solidFill>
              </a:rPr>
              <a:t>CAMS+weather+profile</a:t>
            </a:r>
          </a:p>
        </p:txBody>
      </p:sp>
      <p:sp>
        <p:nvSpPr>
          <p:cNvPr id="59" name="Rectangle 58"/>
          <p:cNvSpPr/>
          <p:nvPr/>
        </p:nvSpPr>
        <p:spPr>
          <a:xfrm>
            <a:off x="8321040" y="3611880"/>
            <a:ext cx="1874519"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60" y="3611880"/>
            <a:ext cx="1783079" cy="868680"/>
          </a:xfrm>
          <a:prstGeom prst="rect">
            <a:avLst/>
          </a:prstGeom>
          <a:noFill/>
        </p:spPr>
        <p:txBody>
          <a:bodyPr wrap="square" anchor="ctr" lIns="0" rIns="0" tIns="0" bIns="0">
            <a:spAutoFit/>
          </a:bodyPr>
          <a:lstStyle/>
          <a:p>
            <a:pPr algn="ctr"/>
            <a:r>
              <a:rPr sz="950" b="1" i="0">
                <a:solidFill>
                  <a:srgbClr val="FFFFFF"/>
                </a:solidFill>
              </a:rPr>
              <a:t>AirQualityStream (Scala)</a:t>
            </a:r>
          </a:p>
          <a:p>
            <a:pPr algn="ctr"/>
            <a:r>
              <a:rPr sz="950" b="1" i="0">
                <a:solidFill>
                  <a:srgbClr val="FFFFFF"/>
                </a:solidFill>
              </a:rPr>
              <a:t>foreachBatch: features → GBT</a:t>
            </a:r>
          </a:p>
          <a:p>
            <a:pPr algn="ctr"/>
            <a:r>
              <a:rPr sz="950" b="1" i="0">
                <a:solidFill>
                  <a:srgbClr val="FFFFFF"/>
                </a:solidFill>
              </a:rPr>
              <a:t>→ AQI → alerts</a:t>
            </a:r>
          </a:p>
        </p:txBody>
      </p:sp>
      <p:cxnSp>
        <p:nvCxnSpPr>
          <p:cNvPr id="61" name="Connector 60"/>
          <p:cNvCxnSpPr/>
          <p:nvPr/>
        </p:nvCxnSpPr>
        <p:spPr>
          <a:xfrm>
            <a:off x="8001000" y="4041648"/>
            <a:ext cx="320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92640" y="2926080"/>
            <a:ext cx="0" cy="685800"/>
          </a:xfrm>
          <a:prstGeom prst="line">
            <a:avLst/>
          </a:prstGeom>
          <a:ln w="27940">
            <a:solidFill>
              <a:srgbClr val="7A1B2E"/>
            </a:solidFill>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9784080" y="3108960"/>
            <a:ext cx="457200" cy="228600"/>
          </a:xfrm>
          <a:prstGeom prst="rect">
            <a:avLst/>
          </a:prstGeom>
          <a:noFill/>
        </p:spPr>
        <p:txBody>
          <a:bodyPr wrap="square" anchor="t" lIns="0" rIns="0" tIns="0" bIns="0">
            <a:spAutoFit/>
          </a:bodyPr>
          <a:lstStyle/>
          <a:p>
            <a:r>
              <a:rPr sz="900" b="1" i="0">
                <a:solidFill>
                  <a:srgbClr val="7A1B2E"/>
                </a:solidFill>
              </a:rPr>
              <a:t>model</a:t>
            </a:r>
          </a:p>
        </p:txBody>
      </p:sp>
      <p:sp>
        <p:nvSpPr>
          <p:cNvPr id="64" name="TextBox 63"/>
          <p:cNvSpPr txBox="1"/>
          <p:nvPr/>
        </p:nvSpPr>
        <p:spPr>
          <a:xfrm>
            <a:off x="6629400" y="4572000"/>
            <a:ext cx="3566160" cy="274320"/>
          </a:xfrm>
          <a:prstGeom prst="rect">
            <a:avLst/>
          </a:prstGeom>
          <a:noFill/>
        </p:spPr>
        <p:txBody>
          <a:bodyPr wrap="square" anchor="t" lIns="0" rIns="0" tIns="0" bIns="0">
            <a:spAutoFit/>
          </a:bodyPr>
          <a:lstStyle/>
          <a:p>
            <a:r>
              <a:rPr sz="900" b="0" i="1">
                <a:solidFill>
                  <a:srgbClr val="5A6673"/>
                </a:solidFill>
              </a:rPr>
              <a:t>state: 30 h history + checkpoint (HDFS)</a:t>
            </a:r>
          </a:p>
        </p:txBody>
      </p:sp>
      <p:cxnSp>
        <p:nvCxnSpPr>
          <p:cNvPr id="65" name="Connector 64"/>
          <p:cNvCxnSpPr/>
          <p:nvPr/>
        </p:nvCxnSpPr>
        <p:spPr>
          <a:xfrm>
            <a:off x="6263640" y="22860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6263640" y="2651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263640" y="38404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263640" y="420624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10515600" y="146304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61320" y="1463040"/>
            <a:ext cx="1188719" cy="731520"/>
          </a:xfrm>
          <a:prstGeom prst="rect">
            <a:avLst/>
          </a:prstGeom>
          <a:noFill/>
        </p:spPr>
        <p:txBody>
          <a:bodyPr wrap="square" anchor="ctr" lIns="0" rIns="0" tIns="0" bIns="0">
            <a:spAutoFit/>
          </a:bodyPr>
          <a:lstStyle/>
          <a:p>
            <a:pPr algn="ctr"/>
            <a:r>
              <a:rPr sz="1000" b="1" i="0">
                <a:solidFill>
                  <a:srgbClr val="FFFFFF"/>
                </a:solidFill>
              </a:rPr>
              <a:t>Hive</a:t>
            </a:r>
          </a:p>
          <a:p>
            <a:pPr algn="ctr"/>
            <a:r>
              <a:rPr sz="1000" b="1" i="0">
                <a:solidFill>
                  <a:srgbClr val="FFFFFF"/>
                </a:solidFill>
              </a:rPr>
              <a:t>external tables</a:t>
            </a:r>
          </a:p>
        </p:txBody>
      </p:sp>
      <p:sp>
        <p:nvSpPr>
          <p:cNvPr id="71" name="Rectangle 70"/>
          <p:cNvSpPr/>
          <p:nvPr/>
        </p:nvSpPr>
        <p:spPr>
          <a:xfrm>
            <a:off x="10515600" y="251460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61320" y="2514600"/>
            <a:ext cx="1188719" cy="731520"/>
          </a:xfrm>
          <a:prstGeom prst="rect">
            <a:avLst/>
          </a:prstGeom>
          <a:noFill/>
        </p:spPr>
        <p:txBody>
          <a:bodyPr wrap="square" anchor="ctr" lIns="0" rIns="0" tIns="0" bIns="0">
            <a:spAutoFit/>
          </a:bodyPr>
          <a:lstStyle/>
          <a:p>
            <a:pPr algn="ctr"/>
            <a:r>
              <a:rPr sz="1000" b="1" i="0">
                <a:solidFill>
                  <a:srgbClr val="FFFFFF"/>
                </a:solidFill>
              </a:rPr>
              <a:t>Warning board</a:t>
            </a:r>
          </a:p>
          <a:p>
            <a:pPr algn="ctr"/>
            <a:r>
              <a:rPr sz="1000" b="1" i="0">
                <a:solidFill>
                  <a:srgbClr val="FFFFFF"/>
                </a:solidFill>
              </a:rPr>
              <a:t>(HTML / Pages)</a:t>
            </a:r>
          </a:p>
        </p:txBody>
      </p:sp>
      <p:sp>
        <p:nvSpPr>
          <p:cNvPr id="73" name="Rectangle 72"/>
          <p:cNvSpPr/>
          <p:nvPr/>
        </p:nvSpPr>
        <p:spPr>
          <a:xfrm>
            <a:off x="10515600" y="3566160"/>
            <a:ext cx="1280160" cy="73152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561320" y="3566160"/>
            <a:ext cx="1188719" cy="731520"/>
          </a:xfrm>
          <a:prstGeom prst="rect">
            <a:avLst/>
          </a:prstGeom>
          <a:noFill/>
        </p:spPr>
        <p:txBody>
          <a:bodyPr wrap="square" anchor="ctr" lIns="0" rIns="0" tIns="0" bIns="0">
            <a:spAutoFit/>
          </a:bodyPr>
          <a:lstStyle/>
          <a:p>
            <a:pPr algn="ctr"/>
            <a:r>
              <a:rPr sz="1000" b="1" i="0">
                <a:solidFill>
                  <a:srgbClr val="FFFFFF"/>
                </a:solidFill>
              </a:rPr>
              <a:t>Alert engine</a:t>
            </a:r>
          </a:p>
          <a:p>
            <a:pPr algn="ctr"/>
            <a:r>
              <a:rPr sz="1000" b="1" i="0">
                <a:solidFill>
                  <a:srgbClr val="FFFFFF"/>
                </a:solidFill>
              </a:rPr>
              <a:t>AQI &gt; 150</a:t>
            </a:r>
          </a:p>
        </p:txBody>
      </p:sp>
      <p:sp>
        <p:nvSpPr>
          <p:cNvPr id="75" name="Rectangle 74"/>
          <p:cNvSpPr/>
          <p:nvPr/>
        </p:nvSpPr>
        <p:spPr>
          <a:xfrm>
            <a:off x="10515600" y="4617720"/>
            <a:ext cx="128016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61320" y="4617720"/>
            <a:ext cx="1188719" cy="411480"/>
          </a:xfrm>
          <a:prstGeom prst="rect">
            <a:avLst/>
          </a:prstGeom>
          <a:noFill/>
        </p:spPr>
        <p:txBody>
          <a:bodyPr wrap="square" anchor="ctr" lIns="0" rIns="0" tIns="0" bIns="0">
            <a:spAutoFit/>
          </a:bodyPr>
          <a:lstStyle/>
          <a:p>
            <a:pPr algn="ctr"/>
            <a:r>
              <a:rPr sz="1000" b="1" i="0">
                <a:solidFill>
                  <a:srgbClr val="FFFFFF"/>
                </a:solidFill>
              </a:rPr>
              <a:t>Telegram</a:t>
            </a:r>
          </a:p>
        </p:txBody>
      </p:sp>
      <p:cxnSp>
        <p:nvCxnSpPr>
          <p:cNvPr id="77" name="Connector 76"/>
          <p:cNvCxnSpPr/>
          <p:nvPr/>
        </p:nvCxnSpPr>
        <p:spPr>
          <a:xfrm>
            <a:off x="10287000" y="18288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87000" y="39319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1155680" y="219456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1155680" y="429768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411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7200" y="5349240"/>
            <a:ext cx="2103120" cy="457200"/>
          </a:xfrm>
          <a:prstGeom prst="rect">
            <a:avLst/>
          </a:prstGeom>
          <a:noFill/>
        </p:spPr>
        <p:txBody>
          <a:bodyPr wrap="square" anchor="ctr" lIns="0" rIns="0" tIns="0" bIns="0">
            <a:spAutoFit/>
          </a:bodyPr>
          <a:lstStyle/>
          <a:p>
            <a:pPr algn="ctr"/>
            <a:r>
              <a:rPr sz="1000" b="0" i="0">
                <a:solidFill>
                  <a:srgbClr val="1A1A1A"/>
                </a:solidFill>
              </a:rPr>
              <a:t>Docker Compose · 11 containers</a:t>
            </a:r>
          </a:p>
        </p:txBody>
      </p:sp>
      <p:sp>
        <p:nvSpPr>
          <p:cNvPr id="83" name="Rectangle 82"/>
          <p:cNvSpPr/>
          <p:nvPr/>
        </p:nvSpPr>
        <p:spPr>
          <a:xfrm>
            <a:off x="2697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743200" y="5349240"/>
            <a:ext cx="2103120" cy="457200"/>
          </a:xfrm>
          <a:prstGeom prst="rect">
            <a:avLst/>
          </a:prstGeom>
          <a:noFill/>
        </p:spPr>
        <p:txBody>
          <a:bodyPr wrap="square" anchor="ctr" lIns="0" rIns="0" tIns="0" bIns="0">
            <a:spAutoFit/>
          </a:bodyPr>
          <a:lstStyle/>
          <a:p>
            <a:pPr algn="ctr"/>
            <a:r>
              <a:rPr sz="1000" b="0" i="0">
                <a:solidFill>
                  <a:srgbClr val="1A1A1A"/>
                </a:solidFill>
              </a:rPr>
              <a:t>HDFS 128 MB blocks · 3× replication</a:t>
            </a:r>
          </a:p>
        </p:txBody>
      </p:sp>
      <p:sp>
        <p:nvSpPr>
          <p:cNvPr id="85" name="Rectangle 84"/>
          <p:cNvSpPr/>
          <p:nvPr/>
        </p:nvSpPr>
        <p:spPr>
          <a:xfrm>
            <a:off x="4983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29200" y="5349240"/>
            <a:ext cx="2103120" cy="457200"/>
          </a:xfrm>
          <a:prstGeom prst="rect">
            <a:avLst/>
          </a:prstGeom>
          <a:noFill/>
        </p:spPr>
        <p:txBody>
          <a:bodyPr wrap="square" anchor="ctr" lIns="0" rIns="0" tIns="0" bIns="0">
            <a:spAutoFit/>
          </a:bodyPr>
          <a:lstStyle/>
          <a:p>
            <a:pPr algn="ctr"/>
            <a:r>
              <a:rPr sz="1000" b="0" i="0">
                <a:solidFill>
                  <a:srgbClr val="1A1A1A"/>
                </a:solidFill>
              </a:rPr>
              <a:t>Parquet (snappy), partitioned by city</a:t>
            </a:r>
          </a:p>
        </p:txBody>
      </p:sp>
      <p:sp>
        <p:nvSpPr>
          <p:cNvPr id="87" name="Rectangle 86"/>
          <p:cNvSpPr/>
          <p:nvPr/>
        </p:nvSpPr>
        <p:spPr>
          <a:xfrm>
            <a:off x="7269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315200" y="5349240"/>
            <a:ext cx="2103120" cy="457200"/>
          </a:xfrm>
          <a:prstGeom prst="rect">
            <a:avLst/>
          </a:prstGeom>
          <a:noFill/>
        </p:spPr>
        <p:txBody>
          <a:bodyPr wrap="square" anchor="ctr" lIns="0" rIns="0" tIns="0" bIns="0">
            <a:spAutoFit/>
          </a:bodyPr>
          <a:lstStyle/>
          <a:p>
            <a:pPr algn="ctr"/>
            <a:r>
              <a:rPr sz="1000" b="0" i="0">
                <a:solidFill>
                  <a:srgbClr val="1A1A1A"/>
                </a:solidFill>
              </a:rPr>
              <a:t>Scala 2.12.18 = Spark 3.5.6 build</a:t>
            </a:r>
          </a:p>
        </p:txBody>
      </p:sp>
      <p:sp>
        <p:nvSpPr>
          <p:cNvPr id="89" name="Rectangle 88"/>
          <p:cNvSpPr/>
          <p:nvPr/>
        </p:nvSpPr>
        <p:spPr>
          <a:xfrm>
            <a:off x="9555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5349240"/>
            <a:ext cx="2103120" cy="457200"/>
          </a:xfrm>
          <a:prstGeom prst="rect">
            <a:avLst/>
          </a:prstGeom>
          <a:noFill/>
        </p:spPr>
        <p:txBody>
          <a:bodyPr wrap="square" anchor="ctr" lIns="0" rIns="0" tIns="0" bIns="0">
            <a:spAutoFit/>
          </a:bodyPr>
          <a:lstStyle/>
          <a:p>
            <a:pPr algn="ctr"/>
            <a:r>
              <a:rPr sz="1000" b="0" i="0">
                <a:solidFill>
                  <a:srgbClr val="1A1A1A"/>
                </a:solidFill>
              </a:rPr>
              <a:t>Lambda: batch + speed over one lakehouse</a:t>
            </a:r>
          </a:p>
        </p:txBody>
      </p:sp>
      <p:sp>
        <p:nvSpPr>
          <p:cNvPr id="91" name="TextBox 90"/>
          <p:cNvSpPr txBox="1"/>
          <p:nvPr/>
        </p:nvSpPr>
        <p:spPr>
          <a:xfrm>
            <a:off x="411480" y="5989320"/>
            <a:ext cx="11338560" cy="457200"/>
          </a:xfrm>
          <a:prstGeom prst="rect">
            <a:avLst/>
          </a:prstGeom>
          <a:noFill/>
        </p:spPr>
        <p:txBody>
          <a:bodyPr wrap="square" anchor="t" lIns="0" rIns="0" tIns="0" bIns="0">
            <a:spAutoFit/>
          </a:bodyPr>
          <a:lstStyle/>
          <a:p>
            <a:r>
              <a:rPr sz="1050" b="0" i="1">
                <a:solidFill>
                  <a:srgbClr val="6B7785"/>
                </a:solidFill>
              </a:rPr>
              <a:t>Blue = storage · light = Scala jobs · maroon = ML model / alert logic · teal = live path. Arrows show data flow; the model is read from HDFS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How the Data Flows</a:t>
            </a:r>
          </a:p>
        </p:txBody>
      </p:sp>
      <p:sp>
        <p:nvSpPr>
          <p:cNvPr id="4" name="TextBox 3"/>
          <p:cNvSpPr txBox="1"/>
          <p:nvPr/>
        </p:nvSpPr>
        <p:spPr>
          <a:xfrm>
            <a:off x="548640" y="1097280"/>
            <a:ext cx="11064240" cy="320040"/>
          </a:xfrm>
          <a:prstGeom prst="rect">
            <a:avLst/>
          </a:prstGeom>
          <a:noFill/>
        </p:spPr>
        <p:txBody>
          <a:bodyPr wrap="square" anchor="t" lIns="0" rIns="0" tIns="0" bIns="0">
            <a:spAutoFit/>
          </a:bodyPr>
          <a:lstStyle/>
          <a:p>
            <a:r>
              <a:rPr sz="1500" b="1" i="0">
                <a:solidFill>
                  <a:srgbClr val="0B5F8A"/>
                </a:solidFill>
              </a:rPr>
              <a:t>The feature-engineering job as a chain of steps (Spark builds this DAG)</a:t>
            </a:r>
          </a:p>
        </p:txBody>
      </p:sp>
      <p:sp>
        <p:nvSpPr>
          <p:cNvPr id="5" name="Rectangle 4"/>
          <p:cNvSpPr/>
          <p:nvPr/>
        </p:nvSpPr>
        <p:spPr>
          <a:xfrm>
            <a:off x="548640"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54480"/>
            <a:ext cx="1600200" cy="548640"/>
          </a:xfrm>
          <a:prstGeom prst="rect">
            <a:avLst/>
          </a:prstGeom>
          <a:noFill/>
        </p:spPr>
        <p:txBody>
          <a:bodyPr wrap="square" anchor="ctr" lIns="0" rIns="0" tIns="0" bIns="0">
            <a:spAutoFit/>
          </a:bodyPr>
          <a:lstStyle/>
          <a:p>
            <a:pPr algn="ctr"/>
            <a:r>
              <a:rPr sz="1300" b="1" i="0">
                <a:solidFill>
                  <a:srgbClr val="1A1A1A"/>
                </a:solidFill>
              </a:rPr>
              <a:t>1  Read</a:t>
            </a:r>
          </a:p>
        </p:txBody>
      </p:sp>
      <p:sp>
        <p:nvSpPr>
          <p:cNvPr id="7" name="TextBox 6"/>
          <p:cNvSpPr txBox="1"/>
          <p:nvPr/>
        </p:nvSpPr>
        <p:spPr>
          <a:xfrm>
            <a:off x="594360" y="2148840"/>
            <a:ext cx="1600200" cy="640080"/>
          </a:xfrm>
          <a:prstGeom prst="rect">
            <a:avLst/>
          </a:prstGeom>
          <a:noFill/>
        </p:spPr>
        <p:txBody>
          <a:bodyPr wrap="square" anchor="t" lIns="0" rIns="0" tIns="0" bIns="0">
            <a:spAutoFit/>
          </a:bodyPr>
          <a:lstStyle/>
          <a:p>
            <a:pPr algn="ctr"/>
            <a:r>
              <a:rPr sz="1100" b="0" i="0">
                <a:solidFill>
                  <a:srgbClr val="5A6673"/>
                </a:solidFill>
              </a:rPr>
              <a:t>Parquet from HDFS</a:t>
            </a:r>
          </a:p>
          <a:p>
            <a:pPr algn="ctr"/>
            <a:r>
              <a:rPr sz="1100" b="0" i="0">
                <a:solidFill>
                  <a:srgbClr val="5A6673"/>
                </a:solidFill>
              </a:rPr>
              <a:t>232 parallel tasks</a:t>
            </a:r>
          </a:p>
        </p:txBody>
      </p:sp>
      <p:sp>
        <p:nvSpPr>
          <p:cNvPr id="8" name="TextBox 7"/>
          <p:cNvSpPr txBox="1"/>
          <p:nvPr/>
        </p:nvSpPr>
        <p:spPr>
          <a:xfrm>
            <a:off x="224028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9" name="Rectangle 8"/>
          <p:cNvSpPr/>
          <p:nvPr/>
        </p:nvSpPr>
        <p:spPr>
          <a:xfrm>
            <a:off x="2423160"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79" y="1554480"/>
            <a:ext cx="1600200" cy="548640"/>
          </a:xfrm>
          <a:prstGeom prst="rect">
            <a:avLst/>
          </a:prstGeom>
          <a:noFill/>
        </p:spPr>
        <p:txBody>
          <a:bodyPr wrap="square" anchor="ctr" lIns="0" rIns="0" tIns="0" bIns="0">
            <a:spAutoFit/>
          </a:bodyPr>
          <a:lstStyle/>
          <a:p>
            <a:pPr algn="ctr"/>
            <a:r>
              <a:rPr sz="1300" b="1" i="0">
                <a:solidFill>
                  <a:srgbClr val="1A1A1A"/>
                </a:solidFill>
              </a:rPr>
              <a:t>2  Remove</a:t>
            </a:r>
          </a:p>
          <a:p>
            <a:pPr algn="ctr"/>
            <a:r>
              <a:rPr sz="1300" b="1" i="0">
                <a:solidFill>
                  <a:srgbClr val="1A1A1A"/>
                </a:solidFill>
              </a:rPr>
              <a:t>duplicates</a:t>
            </a:r>
          </a:p>
        </p:txBody>
      </p:sp>
      <p:sp>
        <p:nvSpPr>
          <p:cNvPr id="11" name="TextBox 10"/>
          <p:cNvSpPr txBox="1"/>
          <p:nvPr/>
        </p:nvSpPr>
        <p:spPr>
          <a:xfrm>
            <a:off x="2468879" y="2148840"/>
            <a:ext cx="1600200" cy="640080"/>
          </a:xfrm>
          <a:prstGeom prst="rect">
            <a:avLst/>
          </a:prstGeom>
          <a:noFill/>
        </p:spPr>
        <p:txBody>
          <a:bodyPr wrap="square" anchor="t" lIns="0" rIns="0" tIns="0" bIns="0">
            <a:spAutoFit/>
          </a:bodyPr>
          <a:lstStyle/>
          <a:p>
            <a:pPr algn="ctr"/>
            <a:r>
              <a:rPr sz="1100" b="0" i="0">
                <a:solidFill>
                  <a:srgbClr val="5A6673"/>
                </a:solidFill>
              </a:rPr>
              <a:t>one row per</a:t>
            </a:r>
          </a:p>
          <a:p>
            <a:pPr algn="ctr"/>
            <a:r>
              <a:rPr sz="1100" b="0" i="0">
                <a:solidFill>
                  <a:srgbClr val="5A6673"/>
                </a:solidFill>
              </a:rPr>
              <a:t>station + hour</a:t>
            </a:r>
          </a:p>
        </p:txBody>
      </p:sp>
      <p:sp>
        <p:nvSpPr>
          <p:cNvPr id="12" name="TextBox 11"/>
          <p:cNvSpPr txBox="1"/>
          <p:nvPr/>
        </p:nvSpPr>
        <p:spPr>
          <a:xfrm>
            <a:off x="411480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4297679"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554480"/>
            <a:ext cx="1600200" cy="548640"/>
          </a:xfrm>
          <a:prstGeom prst="rect">
            <a:avLst/>
          </a:prstGeom>
          <a:noFill/>
        </p:spPr>
        <p:txBody>
          <a:bodyPr wrap="square" anchor="ctr" lIns="0" rIns="0" tIns="0" bIns="0">
            <a:spAutoFit/>
          </a:bodyPr>
          <a:lstStyle/>
          <a:p>
            <a:pPr algn="ctr"/>
            <a:r>
              <a:rPr sz="1300" b="1" i="0">
                <a:solidFill>
                  <a:srgbClr val="1A1A1A"/>
                </a:solidFill>
              </a:rPr>
              <a:t>3  Add history</a:t>
            </a:r>
          </a:p>
        </p:txBody>
      </p:sp>
      <p:sp>
        <p:nvSpPr>
          <p:cNvPr id="15" name="TextBox 14"/>
          <p:cNvSpPr txBox="1"/>
          <p:nvPr/>
        </p:nvSpPr>
        <p:spPr>
          <a:xfrm>
            <a:off x="4343399" y="2148840"/>
            <a:ext cx="1600200" cy="640080"/>
          </a:xfrm>
          <a:prstGeom prst="rect">
            <a:avLst/>
          </a:prstGeom>
          <a:noFill/>
        </p:spPr>
        <p:txBody>
          <a:bodyPr wrap="square" anchor="t" lIns="0" rIns="0" tIns="0" bIns="0">
            <a:spAutoFit/>
          </a:bodyPr>
          <a:lstStyle/>
          <a:p>
            <a:pPr algn="ctr"/>
            <a:r>
              <a:rPr sz="1100" b="0" i="0">
                <a:solidFill>
                  <a:srgbClr val="5A6673"/>
                </a:solidFill>
              </a:rPr>
              <a:t>rolling averages,</a:t>
            </a:r>
          </a:p>
          <a:p>
            <a:pPr algn="ctr"/>
            <a:r>
              <a:rPr sz="1100" b="0" i="0">
                <a:solidFill>
                  <a:srgbClr val="5A6673"/>
                </a:solidFill>
              </a:rPr>
              <a:t>lag, trend</a:t>
            </a:r>
          </a:p>
        </p:txBody>
      </p:sp>
      <p:sp>
        <p:nvSpPr>
          <p:cNvPr id="16" name="TextBox 15"/>
          <p:cNvSpPr txBox="1"/>
          <p:nvPr/>
        </p:nvSpPr>
        <p:spPr>
          <a:xfrm>
            <a:off x="5989319"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17" name="Rectangle 16"/>
          <p:cNvSpPr/>
          <p:nvPr/>
        </p:nvSpPr>
        <p:spPr>
          <a:xfrm>
            <a:off x="6172199"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19" y="1554480"/>
            <a:ext cx="1600200" cy="548640"/>
          </a:xfrm>
          <a:prstGeom prst="rect">
            <a:avLst/>
          </a:prstGeom>
          <a:noFill/>
        </p:spPr>
        <p:txBody>
          <a:bodyPr wrap="square" anchor="ctr" lIns="0" rIns="0" tIns="0" bIns="0">
            <a:spAutoFit/>
          </a:bodyPr>
          <a:lstStyle/>
          <a:p>
            <a:pPr algn="ctr"/>
            <a:r>
              <a:rPr sz="1300" b="1" i="0">
                <a:solidFill>
                  <a:srgbClr val="1A1A1A"/>
                </a:solidFill>
              </a:rPr>
              <a:t>4  Add the label</a:t>
            </a:r>
          </a:p>
        </p:txBody>
      </p:sp>
      <p:sp>
        <p:nvSpPr>
          <p:cNvPr id="19" name="TextBox 18"/>
          <p:cNvSpPr txBox="1"/>
          <p:nvPr/>
        </p:nvSpPr>
        <p:spPr>
          <a:xfrm>
            <a:off x="6217919" y="2148840"/>
            <a:ext cx="1600200" cy="640080"/>
          </a:xfrm>
          <a:prstGeom prst="rect">
            <a:avLst/>
          </a:prstGeom>
          <a:noFill/>
        </p:spPr>
        <p:txBody>
          <a:bodyPr wrap="square" anchor="t" lIns="0" rIns="0" tIns="0" bIns="0">
            <a:spAutoFit/>
          </a:bodyPr>
          <a:lstStyle/>
          <a:p>
            <a:pPr algn="ctr"/>
            <a:r>
              <a:rPr sz="1100" b="0" i="0">
                <a:solidFill>
                  <a:srgbClr val="5A6673"/>
                </a:solidFill>
              </a:rPr>
              <a:t>next-hour PM₂.₅</a:t>
            </a:r>
          </a:p>
          <a:p>
            <a:pPr algn="ctr"/>
            <a:r>
              <a:rPr sz="1100" b="0" i="0">
                <a:solidFill>
                  <a:srgbClr val="5A6673"/>
                </a:solidFill>
              </a:rPr>
              <a:t>(only if exactly 1 h later)</a:t>
            </a:r>
          </a:p>
        </p:txBody>
      </p:sp>
      <p:sp>
        <p:nvSpPr>
          <p:cNvPr id="20" name="TextBox 19"/>
          <p:cNvSpPr txBox="1"/>
          <p:nvPr/>
        </p:nvSpPr>
        <p:spPr>
          <a:xfrm>
            <a:off x="786384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21" name="Rectangle 20"/>
          <p:cNvSpPr/>
          <p:nvPr/>
        </p:nvSpPr>
        <p:spPr>
          <a:xfrm>
            <a:off x="8046719"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1554480"/>
            <a:ext cx="1600200" cy="548640"/>
          </a:xfrm>
          <a:prstGeom prst="rect">
            <a:avLst/>
          </a:prstGeom>
          <a:noFill/>
        </p:spPr>
        <p:txBody>
          <a:bodyPr wrap="square" anchor="ctr" lIns="0" rIns="0" tIns="0" bIns="0">
            <a:spAutoFit/>
          </a:bodyPr>
          <a:lstStyle/>
          <a:p>
            <a:pPr algn="ctr"/>
            <a:r>
              <a:rPr sz="1300" b="1" i="0">
                <a:solidFill>
                  <a:srgbClr val="1A1A1A"/>
                </a:solidFill>
              </a:rPr>
              <a:t>5  Pack features</a:t>
            </a:r>
          </a:p>
        </p:txBody>
      </p:sp>
      <p:sp>
        <p:nvSpPr>
          <p:cNvPr id="23" name="TextBox 22"/>
          <p:cNvSpPr txBox="1"/>
          <p:nvPr/>
        </p:nvSpPr>
        <p:spPr>
          <a:xfrm>
            <a:off x="8092440" y="2148840"/>
            <a:ext cx="1600200" cy="640080"/>
          </a:xfrm>
          <a:prstGeom prst="rect">
            <a:avLst/>
          </a:prstGeom>
          <a:noFill/>
        </p:spPr>
        <p:txBody>
          <a:bodyPr wrap="square" anchor="t" lIns="0" rIns="0" tIns="0" bIns="0">
            <a:spAutoFit/>
          </a:bodyPr>
          <a:lstStyle/>
          <a:p>
            <a:pPr algn="ctr"/>
            <a:r>
              <a:rPr sz="1100" b="0" i="0">
                <a:solidFill>
                  <a:srgbClr val="5A6673"/>
                </a:solidFill>
              </a:rPr>
              <a:t>86 numbers</a:t>
            </a:r>
          </a:p>
          <a:p>
            <a:pPr algn="ctr"/>
            <a:r>
              <a:rPr sz="1100" b="0" i="0">
                <a:solidFill>
                  <a:srgbClr val="5A6673"/>
                </a:solidFill>
              </a:rPr>
              <a:t>per row</a:t>
            </a:r>
          </a:p>
        </p:txBody>
      </p:sp>
      <p:sp>
        <p:nvSpPr>
          <p:cNvPr id="24" name="TextBox 23"/>
          <p:cNvSpPr txBox="1"/>
          <p:nvPr/>
        </p:nvSpPr>
        <p:spPr>
          <a:xfrm>
            <a:off x="9738359"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25" name="Rectangle 24"/>
          <p:cNvSpPr/>
          <p:nvPr/>
        </p:nvSpPr>
        <p:spPr>
          <a:xfrm>
            <a:off x="9921240"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66960" y="1554480"/>
            <a:ext cx="1600200" cy="548640"/>
          </a:xfrm>
          <a:prstGeom prst="rect">
            <a:avLst/>
          </a:prstGeom>
          <a:noFill/>
        </p:spPr>
        <p:txBody>
          <a:bodyPr wrap="square" anchor="ctr" lIns="0" rIns="0" tIns="0" bIns="0">
            <a:spAutoFit/>
          </a:bodyPr>
          <a:lstStyle/>
          <a:p>
            <a:pPr algn="ctr"/>
            <a:r>
              <a:rPr sz="1300" b="1" i="0">
                <a:solidFill>
                  <a:srgbClr val="1A1A1A"/>
                </a:solidFill>
              </a:rPr>
              <a:t>6  Write</a:t>
            </a:r>
          </a:p>
        </p:txBody>
      </p:sp>
      <p:sp>
        <p:nvSpPr>
          <p:cNvPr id="27" name="TextBox 26"/>
          <p:cNvSpPr txBox="1"/>
          <p:nvPr/>
        </p:nvSpPr>
        <p:spPr>
          <a:xfrm>
            <a:off x="9966960" y="2148840"/>
            <a:ext cx="1600200" cy="640080"/>
          </a:xfrm>
          <a:prstGeom prst="rect">
            <a:avLst/>
          </a:prstGeom>
          <a:noFill/>
        </p:spPr>
        <p:txBody>
          <a:bodyPr wrap="square" anchor="t" lIns="0" rIns="0" tIns="0" bIns="0">
            <a:spAutoFit/>
          </a:bodyPr>
          <a:lstStyle/>
          <a:p>
            <a:pPr algn="ctr"/>
            <a:r>
              <a:rPr sz="1100" b="0" i="0">
                <a:solidFill>
                  <a:srgbClr val="5A6673"/>
                </a:solidFill>
              </a:rPr>
              <a:t>one folder</a:t>
            </a:r>
          </a:p>
          <a:p>
            <a:pPr algn="ctr"/>
            <a:r>
              <a:rPr sz="1100" b="0" i="0">
                <a:solidFill>
                  <a:srgbClr val="5A6673"/>
                </a:solidFill>
              </a:rPr>
              <a:t>per city (241)</a:t>
            </a:r>
          </a:p>
        </p:txBody>
      </p:sp>
      <p:sp>
        <p:nvSpPr>
          <p:cNvPr id="28" name="TextBox 27"/>
          <p:cNvSpPr txBox="1"/>
          <p:nvPr/>
        </p:nvSpPr>
        <p:spPr>
          <a:xfrm>
            <a:off x="548640" y="2971800"/>
            <a:ext cx="11064240" cy="274320"/>
          </a:xfrm>
          <a:prstGeom prst="rect">
            <a:avLst/>
          </a:prstGeom>
          <a:noFill/>
        </p:spPr>
        <p:txBody>
          <a:bodyPr wrap="square" anchor="t" lIns="0" rIns="0" tIns="0" bIns="0">
            <a:spAutoFit/>
          </a:bodyPr>
          <a:lstStyle/>
          <a:p>
            <a:r>
              <a:rPr sz="1150" b="0" i="1">
                <a:solidFill>
                  <a:srgbClr val="6B7785"/>
                </a:solidFill>
              </a:rPr>
              <a:t>Orange = shuffle (data moves between machines, a new stage). Blue = runs inside one stage.  Measured: 146.3 M → 128.7 M → 93.2 M rows in 73.5 min.</a:t>
            </a:r>
          </a:p>
        </p:txBody>
      </p:sp>
      <p:sp>
        <p:nvSpPr>
          <p:cNvPr id="29" name="Rectangle 28"/>
          <p:cNvSpPr/>
          <p:nvPr/>
        </p:nvSpPr>
        <p:spPr>
          <a:xfrm>
            <a:off x="548640"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3429000"/>
            <a:ext cx="3611880" cy="45720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429000"/>
            <a:ext cx="3383280" cy="457200"/>
          </a:xfrm>
          <a:prstGeom prst="rect">
            <a:avLst/>
          </a:prstGeom>
          <a:noFill/>
        </p:spPr>
        <p:txBody>
          <a:bodyPr wrap="square" anchor="ctr" lIns="0" rIns="0" tIns="0" bIns="0">
            <a:spAutoFit/>
          </a:bodyPr>
          <a:lstStyle/>
          <a:p>
            <a:r>
              <a:rPr sz="1400" b="1" i="0">
                <a:solidFill>
                  <a:srgbClr val="FFFFFF"/>
                </a:solidFill>
              </a:rPr>
              <a:t>DataFrames, not RDDs</a:t>
            </a:r>
          </a:p>
        </p:txBody>
      </p:sp>
      <p:sp>
        <p:nvSpPr>
          <p:cNvPr id="32" name="TextBox 31"/>
          <p:cNvSpPr txBox="1"/>
          <p:nvPr/>
        </p:nvSpPr>
        <p:spPr>
          <a:xfrm>
            <a:off x="713232" y="4023360"/>
            <a:ext cx="3291840" cy="2286000"/>
          </a:xfrm>
          <a:prstGeom prst="rect">
            <a:avLst/>
          </a:prstGeom>
          <a:noFill/>
        </p:spPr>
        <p:txBody>
          <a:bodyPr wrap="square" lIns="0" rIns="0" tIns="0" bIns="0">
            <a:spAutoFit/>
          </a:bodyPr>
          <a:lstStyle/>
          <a:p>
            <a:pPr>
              <a:spcAft>
                <a:spcPts val="800"/>
              </a:spcAft>
            </a:pPr>
            <a:r>
              <a:rPr sz="1300">
                <a:solidFill>
                  <a:srgbClr val="1A1A1A"/>
                </a:solidFill>
              </a:rPr>
              <a:t>•  We work with DataFrames (tables); Spark turns them into RDDs inside.</a:t>
            </a:r>
          </a:p>
          <a:p>
            <a:pPr>
              <a:spcAft>
                <a:spcPts val="800"/>
              </a:spcAft>
            </a:pPr>
            <a:r>
              <a:rPr sz="1300">
                <a:solidFill>
                  <a:srgbClr val="1A1A1A"/>
                </a:solidFill>
              </a:rPr>
              <a:t>•  Window functions give every station its own history.</a:t>
            </a:r>
          </a:p>
          <a:p>
            <a:pPr>
              <a:spcAft>
                <a:spcPts val="800"/>
              </a:spcAft>
            </a:pPr>
            <a:r>
              <a:rPr sz="1300">
                <a:solidFill>
                  <a:srgbClr val="1A1A1A"/>
                </a:solidFill>
              </a:rPr>
              <a:t>•  Small lookup tables are broadcast to all machines — no shuffle needed.</a:t>
            </a:r>
          </a:p>
        </p:txBody>
      </p:sp>
      <p:sp>
        <p:nvSpPr>
          <p:cNvPr id="33" name="Rectangle 32"/>
          <p:cNvSpPr/>
          <p:nvPr/>
        </p:nvSpPr>
        <p:spPr>
          <a:xfrm>
            <a:off x="4297679"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97679" y="3429000"/>
            <a:ext cx="361188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429000"/>
            <a:ext cx="3383280" cy="457200"/>
          </a:xfrm>
          <a:prstGeom prst="rect">
            <a:avLst/>
          </a:prstGeom>
          <a:noFill/>
        </p:spPr>
        <p:txBody>
          <a:bodyPr wrap="square" anchor="ctr" lIns="0" rIns="0" tIns="0" bIns="0">
            <a:spAutoFit/>
          </a:bodyPr>
          <a:lstStyle/>
          <a:p>
            <a:r>
              <a:rPr sz="1400" b="1" i="0">
                <a:solidFill>
                  <a:srgbClr val="FFFFFF"/>
                </a:solidFill>
              </a:rPr>
              <a:t>Partitioning — how data is cut</a:t>
            </a:r>
          </a:p>
        </p:txBody>
      </p:sp>
      <p:sp>
        <p:nvSpPr>
          <p:cNvPr id="36" name="TextBox 35"/>
          <p:cNvSpPr txBox="1"/>
          <p:nvPr/>
        </p:nvSpPr>
        <p:spPr>
          <a:xfrm>
            <a:off x="4462271" y="4023360"/>
            <a:ext cx="3291840" cy="2286000"/>
          </a:xfrm>
          <a:prstGeom prst="rect">
            <a:avLst/>
          </a:prstGeom>
          <a:noFill/>
        </p:spPr>
        <p:txBody>
          <a:bodyPr wrap="square" lIns="0" rIns="0" tIns="0" bIns="0">
            <a:spAutoFit/>
          </a:bodyPr>
          <a:lstStyle/>
          <a:p>
            <a:pPr>
              <a:spcAft>
                <a:spcPts val="800"/>
              </a:spcAft>
            </a:pPr>
            <a:r>
              <a:rPr sz="1300">
                <a:solidFill>
                  <a:srgbClr val="1A1A1A"/>
                </a:solidFill>
              </a:rPr>
              <a:t>•  HDFS stores 128 MB blocks → 232 tasks read in parallel.</a:t>
            </a:r>
          </a:p>
          <a:p>
            <a:pPr>
              <a:spcAft>
                <a:spcPts val="800"/>
              </a:spcAft>
            </a:pPr>
            <a:r>
              <a:rPr sz="1300">
                <a:solidFill>
                  <a:srgbClr val="1A1A1A"/>
                </a:solidFill>
              </a:rPr>
              <a:t>•  Results are saved one folder per city (241), so one city reads one folder.</a:t>
            </a:r>
          </a:p>
          <a:p>
            <a:pPr>
              <a:spcAft>
                <a:spcPts val="800"/>
              </a:spcAft>
            </a:pPr>
            <a:r>
              <a:rPr sz="1300">
                <a:solidFill>
                  <a:srgbClr val="1A1A1A"/>
                </a:solidFill>
              </a:rPr>
              <a:t>•  Shuffle partitions tuned per job (from 16 up to 400).</a:t>
            </a:r>
          </a:p>
        </p:txBody>
      </p:sp>
      <p:sp>
        <p:nvSpPr>
          <p:cNvPr id="37" name="Rectangle 36"/>
          <p:cNvSpPr/>
          <p:nvPr/>
        </p:nvSpPr>
        <p:spPr>
          <a:xfrm>
            <a:off x="8046719"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46719" y="3429000"/>
            <a:ext cx="3611880" cy="45720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79" y="3429000"/>
            <a:ext cx="3383280" cy="457200"/>
          </a:xfrm>
          <a:prstGeom prst="rect">
            <a:avLst/>
          </a:prstGeom>
          <a:noFill/>
        </p:spPr>
        <p:txBody>
          <a:bodyPr wrap="square" anchor="ctr" lIns="0" rIns="0" tIns="0" bIns="0">
            <a:spAutoFit/>
          </a:bodyPr>
          <a:lstStyle/>
          <a:p>
            <a:r>
              <a:rPr sz="1400" b="1" i="0">
                <a:solidFill>
                  <a:srgbClr val="FFFFFF"/>
                </a:solidFill>
              </a:rPr>
              <a:t>Caching — what we keep in memory</a:t>
            </a:r>
          </a:p>
        </p:txBody>
      </p:sp>
      <p:sp>
        <p:nvSpPr>
          <p:cNvPr id="40" name="TextBox 39"/>
          <p:cNvSpPr txBox="1"/>
          <p:nvPr/>
        </p:nvSpPr>
        <p:spPr>
          <a:xfrm>
            <a:off x="8211311" y="4023360"/>
            <a:ext cx="3291840" cy="2286000"/>
          </a:xfrm>
          <a:prstGeom prst="rect">
            <a:avLst/>
          </a:prstGeom>
          <a:noFill/>
        </p:spPr>
        <p:txBody>
          <a:bodyPr wrap="square" lIns="0" rIns="0" tIns="0" bIns="0">
            <a:spAutoFit/>
          </a:bodyPr>
          <a:lstStyle/>
          <a:p>
            <a:pPr>
              <a:spcAft>
                <a:spcPts val="800"/>
              </a:spcAft>
            </a:pPr>
            <a:r>
              <a:rPr sz="1300">
                <a:solidFill>
                  <a:srgbClr val="1A1A1A"/>
                </a:solidFill>
              </a:rPr>
              <a:t>•  cache() keeps a table in memory when it is used more than once.</a:t>
            </a:r>
          </a:p>
          <a:p>
            <a:pPr>
              <a:spcAft>
                <a:spcPts val="800"/>
              </a:spcAft>
            </a:pPr>
            <a:r>
              <a:rPr sz="1300">
                <a:solidFill>
                  <a:srgbClr val="1A1A1A"/>
                </a:solidFill>
              </a:rPr>
              <a:t>•  We cache: the cleaning table, the training data, the stream predictions.</a:t>
            </a:r>
          </a:p>
          <a:p>
            <a:pPr>
              <a:spcAft>
                <a:spcPts val="800"/>
              </a:spcAft>
            </a:pPr>
            <a:r>
              <a:rPr sz="1300">
                <a:solidFill>
                  <a:srgbClr val="1A1A1A"/>
                </a:solidFill>
              </a:rPr>
              <a:t>•  unpersist() frees the memory when we are done.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88720"/>
            <a:ext cx="1600200"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68879" y="1188720"/>
            <a:ext cx="1600200"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399" y="1188720"/>
            <a:ext cx="1600200"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19" y="1188720"/>
            <a:ext cx="1600200"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1188720"/>
            <a:ext cx="1600200"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0" y="1188720"/>
            <a:ext cx="1600200"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u="sng">
                <a:solidFill>
                  <a:srgbClr val="0B5F8A"/>
                </a:solidFill>
                <a:hlinkClick r:id="rId3"/>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u="sng">
                <a:solidFill>
                  <a:srgbClr val="0B5F8A"/>
                </a:solidFill>
                <a:hlinkClick r:id="rId4"/>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